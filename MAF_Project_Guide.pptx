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Lst>
  <p:notesMasterIdLst>
    <p:notesMasterId r:id="rId9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notesMaster" Target="notesMasters/notesMaster1.xml"/><Relationship Id="rId95" Type="http://schemas.openxmlformats.org/officeDocument/2006/relationships/presProps" Target="presProps.xml"/><Relationship Id="rId96" Type="http://schemas.openxmlformats.org/officeDocument/2006/relationships/viewProps" Target="viewProps.xml"/><Relationship Id="rId97" Type="http://schemas.openxmlformats.org/officeDocument/2006/relationships/theme" Target="theme/theme1.xml"/><Relationship Id="rId9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0F4C81"/>
          </a:solidFill>
          <a:ln/>
        </p:spPr>
      </p:sp>
      <p:sp>
        <p:nvSpPr>
          <p:cNvPr id="3" name="Shape 1"/>
          <p:cNvSpPr/>
          <p:nvPr/>
        </p:nvSpPr>
        <p:spPr>
          <a:xfrm>
            <a:off x="0" y="6035040"/>
            <a:ext cx="4114800" cy="822960"/>
          </a:xfrm>
          <a:prstGeom prst="rect">
            <a:avLst/>
          </a:prstGeom>
          <a:solidFill>
            <a:srgbClr val="0A3B66"/>
          </a:solidFill>
          <a:ln/>
        </p:spPr>
      </p:sp>
      <p:sp>
        <p:nvSpPr>
          <p:cNvPr id="4" name="Text 2"/>
          <p:cNvSpPr/>
          <p:nvPr/>
        </p:nvSpPr>
        <p:spPr>
          <a:xfrm>
            <a:off x="365760" y="457200"/>
            <a:ext cx="1371600" cy="1371600"/>
          </a:xfrm>
          <a:prstGeom prst="rect">
            <a:avLst/>
          </a:prstGeom>
          <a:noFill/>
          <a:ln/>
        </p:spPr>
        <p:txBody>
          <a:bodyPr wrap="square" lIns="0" tIns="0" rIns="0" bIns="0" rtlCol="0" anchor="ctr"/>
          <a:lstStyle/>
          <a:p>
            <a:pPr indent="0" marL="0">
              <a:buNone/>
            </a:pPr>
            <a:r>
              <a:rPr lang="en-US" sz="10000" b="1" dirty="0">
                <a:solidFill>
                  <a:srgbClr val="FFFFFF"/>
                </a:solidFill>
                <a:latin typeface="Calibri" pitchFamily="34" charset="0"/>
                <a:ea typeface="Calibri" pitchFamily="34" charset="-122"/>
                <a:cs typeface="Calibri" pitchFamily="34" charset="-120"/>
              </a:rPr>
              <a:t>M</a:t>
            </a:r>
            <a:endParaRPr lang="en-US" sz="10000" dirty="0"/>
          </a:p>
        </p:txBody>
      </p:sp>
      <p:sp>
        <p:nvSpPr>
          <p:cNvPr id="5" name="Text 3"/>
          <p:cNvSpPr/>
          <p:nvPr/>
        </p:nvSpPr>
        <p:spPr>
          <a:xfrm>
            <a:off x="457200" y="2011680"/>
            <a:ext cx="338328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Microsoft Agent Framework</a:t>
            </a:r>
            <a:endParaRPr lang="en-US" sz="1600" dirty="0"/>
          </a:p>
        </p:txBody>
      </p:sp>
      <p:sp>
        <p:nvSpPr>
          <p:cNvPr id="6" name="Text 4"/>
          <p:cNvSpPr/>
          <p:nvPr/>
        </p:nvSpPr>
        <p:spPr>
          <a:xfrm>
            <a:off x="457200" y="2468880"/>
            <a:ext cx="3383280" cy="457200"/>
          </a:xfrm>
          <a:prstGeom prst="rect">
            <a:avLst/>
          </a:prstGeom>
          <a:noFill/>
          <a:ln/>
        </p:spPr>
        <p:txBody>
          <a:bodyPr wrap="square" lIns="0" tIns="0" rIns="0" bIns="0" rtlCol="0" anchor="ctr"/>
          <a:lstStyle/>
          <a:p>
            <a:pPr indent="0" marL="0">
              <a:buNone/>
            </a:pPr>
            <a:r>
              <a:rPr lang="en-US" sz="1600" dirty="0">
                <a:solidFill>
                  <a:srgbClr val="DDEEFF"/>
                </a:solidFill>
                <a:latin typeface="Calibri" pitchFamily="34" charset="0"/>
                <a:ea typeface="Calibri" pitchFamily="34" charset="-122"/>
                <a:cs typeface="Calibri" pitchFamily="34" charset="-120"/>
              </a:rPr>
              <a:t>실습 프로젝트 가이드 (확장판)</a:t>
            </a:r>
            <a:endParaRPr lang="en-US" sz="1600" dirty="0"/>
          </a:p>
        </p:txBody>
      </p:sp>
      <p:sp>
        <p:nvSpPr>
          <p:cNvPr id="7" name="Text 5"/>
          <p:cNvSpPr/>
          <p:nvPr/>
        </p:nvSpPr>
        <p:spPr>
          <a:xfrm>
            <a:off x="457200" y="6172200"/>
            <a:ext cx="3383280" cy="548640"/>
          </a:xfrm>
          <a:prstGeom prst="rect">
            <a:avLst/>
          </a:prstGeom>
          <a:noFill/>
          <a:ln/>
        </p:spPr>
        <p:txBody>
          <a:bodyPr wrap="square" lIns="0" tIns="0" rIns="0" bIns="0" rtlCol="0" anchor="ctr"/>
          <a:lstStyle/>
          <a:p>
            <a:pPr indent="0" marL="0">
              <a:buNone/>
            </a:pPr>
            <a:r>
              <a:rPr lang="en-US" sz="3000" b="1" spc="1200" kern="0" dirty="0">
                <a:solidFill>
                  <a:srgbClr val="FFFFFF"/>
                </a:solidFill>
                <a:latin typeface="Calibri" pitchFamily="34" charset="0"/>
                <a:ea typeface="Calibri" pitchFamily="34" charset="-122"/>
                <a:cs typeface="Calibri" pitchFamily="34" charset="-120"/>
              </a:rPr>
              <a:t>2026</a:t>
            </a:r>
            <a:endParaRPr lang="en-US" sz="3000" dirty="0"/>
          </a:p>
        </p:txBody>
      </p:sp>
      <p:sp>
        <p:nvSpPr>
          <p:cNvPr id="8" name="Text 6"/>
          <p:cNvSpPr/>
          <p:nvPr/>
        </p:nvSpPr>
        <p:spPr>
          <a:xfrm>
            <a:off x="4572000" y="822960"/>
            <a:ext cx="6858000" cy="365760"/>
          </a:xfrm>
          <a:prstGeom prst="rect">
            <a:avLst/>
          </a:prstGeom>
          <a:noFill/>
          <a:ln/>
        </p:spPr>
        <p:txBody>
          <a:bodyPr wrap="square" lIns="0" tIns="0" rIns="0" bIns="0" rtlCol="0" anchor="ctr"/>
          <a:lstStyle/>
          <a:p>
            <a:pPr indent="0" marL="0">
              <a:buNone/>
            </a:pPr>
            <a:r>
              <a:rPr lang="en-US" sz="1200" b="1" spc="600" kern="0" dirty="0">
                <a:solidFill>
                  <a:srgbClr val="F97316"/>
                </a:solidFill>
                <a:latin typeface="Calibri" pitchFamily="34" charset="0"/>
                <a:ea typeface="Calibri" pitchFamily="34" charset="-122"/>
                <a:cs typeface="Calibri" pitchFamily="34" charset="-120"/>
              </a:rPr>
              <a:t>PROGRAM-BY-PROGRAM EDITION</a:t>
            </a:r>
            <a:endParaRPr lang="en-US" sz="1200" dirty="0"/>
          </a:p>
        </p:txBody>
      </p:sp>
      <p:sp>
        <p:nvSpPr>
          <p:cNvPr id="9" name="Text 7"/>
          <p:cNvSpPr/>
          <p:nvPr/>
        </p:nvSpPr>
        <p:spPr>
          <a:xfrm>
            <a:off x="4572000" y="1188720"/>
            <a:ext cx="7315200" cy="457200"/>
          </a:xfrm>
          <a:prstGeom prst="rect">
            <a:avLst/>
          </a:prstGeom>
          <a:noFill/>
          <a:ln/>
        </p:spPr>
        <p:txBody>
          <a:bodyPr wrap="square" lIns="0" tIns="0" rIns="0" bIns="0" rtlCol="0" anchor="ctr"/>
          <a:lstStyle/>
          <a:p>
            <a:pPr indent="0" marL="0">
              <a:buNone/>
            </a:pPr>
            <a:r>
              <a:rPr lang="en-US" sz="1400" dirty="0">
                <a:solidFill>
                  <a:srgbClr val="64748B"/>
                </a:solidFill>
                <a:latin typeface="Consolas" pitchFamily="34" charset="0"/>
                <a:ea typeface="Consolas" pitchFamily="34" charset="-122"/>
                <a:cs typeface="Consolas" pitchFamily="34" charset="-120"/>
              </a:rPr>
              <a:t>edu_microsoft_agent_framework</a:t>
            </a:r>
            <a:endParaRPr lang="en-US" sz="1400" dirty="0"/>
          </a:p>
        </p:txBody>
      </p:sp>
      <p:sp>
        <p:nvSpPr>
          <p:cNvPr id="10" name="Text 8"/>
          <p:cNvSpPr/>
          <p:nvPr/>
        </p:nvSpPr>
        <p:spPr>
          <a:xfrm>
            <a:off x="4572000" y="1737360"/>
            <a:ext cx="7315200" cy="2377440"/>
          </a:xfrm>
          <a:prstGeom prst="rect">
            <a:avLst/>
          </a:prstGeom>
          <a:noFill/>
          <a:ln/>
        </p:spPr>
        <p:txBody>
          <a:bodyPr wrap="square" lIns="0" tIns="0" rIns="0" bIns="0" rtlCol="0" anchor="ctr"/>
          <a:lstStyle/>
          <a:p>
            <a:pPr indent="0" marL="0">
              <a:buNone/>
            </a:pPr>
            <a:r>
              <a:rPr lang="en-US" sz="3600" b="1" dirty="0">
                <a:solidFill>
                  <a:srgbClr val="0F4C81"/>
                </a:solidFill>
                <a:latin typeface="Calibri" pitchFamily="34" charset="0"/>
                <a:ea typeface="Calibri" pitchFamily="34" charset="-122"/>
                <a:cs typeface="Calibri" pitchFamily="34" charset="-120"/>
              </a:rPr>
              <a:t>60 개 예제 프로그램으로
</a:t>
            </a:r>
            <a:endParaRPr lang="en-US" sz="3600" dirty="0"/>
          </a:p>
          <a:p>
            <a:pPr indent="0" marL="0">
              <a:buNone/>
            </a:pPr>
            <a:r>
              <a:rPr lang="en-US" sz="3600" b="1" dirty="0">
                <a:solidFill>
                  <a:srgbClr val="0F4C81"/>
                </a:solidFill>
                <a:latin typeface="Calibri" pitchFamily="34" charset="0"/>
                <a:ea typeface="Calibri" pitchFamily="34" charset="-122"/>
                <a:cs typeface="Calibri" pitchFamily="34" charset="-120"/>
              </a:rPr>
              <a:t>한 페이지씩
</a:t>
            </a:r>
            <a:endParaRPr lang="en-US" sz="3600" dirty="0"/>
          </a:p>
          <a:p>
            <a:pPr indent="0" marL="0">
              <a:buNone/>
            </a:pPr>
            <a:r>
              <a:rPr lang="en-US" sz="3600" b="1" dirty="0">
                <a:solidFill>
                  <a:srgbClr val="F97316"/>
                </a:solidFill>
                <a:latin typeface="Calibri" pitchFamily="34" charset="0"/>
                <a:ea typeface="Calibri" pitchFamily="34" charset="-122"/>
                <a:cs typeface="Calibri" pitchFamily="34" charset="-120"/>
              </a:rPr>
              <a:t>꼼꼼하게 살펴보다</a:t>
            </a:r>
            <a:endParaRPr lang="en-US" sz="3600" dirty="0"/>
          </a:p>
        </p:txBody>
      </p:sp>
      <p:sp>
        <p:nvSpPr>
          <p:cNvPr id="11" name="Shape 9"/>
          <p:cNvSpPr/>
          <p:nvPr/>
        </p:nvSpPr>
        <p:spPr>
          <a:xfrm>
            <a:off x="4572000" y="4480560"/>
            <a:ext cx="6858000" cy="0"/>
          </a:xfrm>
          <a:prstGeom prst="line">
            <a:avLst/>
          </a:prstGeom>
          <a:noFill/>
          <a:ln w="12700">
            <a:solidFill>
              <a:srgbClr val="CBD5E1"/>
            </a:solidFill>
            <a:prstDash val="solid"/>
          </a:ln>
        </p:spPr>
      </p:sp>
      <p:sp>
        <p:nvSpPr>
          <p:cNvPr id="12" name="Text 10"/>
          <p:cNvSpPr/>
          <p:nvPr/>
        </p:nvSpPr>
        <p:spPr>
          <a:xfrm>
            <a:off x="4572000" y="4617720"/>
            <a:ext cx="7315200" cy="411480"/>
          </a:xfrm>
          <a:prstGeom prst="rect">
            <a:avLst/>
          </a:prstGeom>
          <a:noFill/>
          <a:ln/>
        </p:spPr>
        <p:txBody>
          <a:bodyPr wrap="square" lIns="0" tIns="0" rIns="0" bIns="0"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src 트랙 </a:t>
            </a:r>
            <a:pPr indent="0" marL="0">
              <a:buNone/>
            </a:pPr>
            <a:r>
              <a:rPr lang="en-US" sz="1400" dirty="0">
                <a:solidFill>
                  <a:srgbClr val="1F2937"/>
                </a:solidFill>
                <a:latin typeface="Calibri" pitchFamily="34" charset="0"/>
                <a:ea typeface="Calibri" pitchFamily="34" charset="-122"/>
                <a:cs typeface="Calibri" pitchFamily="34" charset="-120"/>
              </a:rPr>
              <a:t>(15 단계 × 3 = 45) + </a:t>
            </a:r>
            <a:pPr indent="0" marL="0">
              <a:buNone/>
            </a:pPr>
            <a:r>
              <a:rPr lang="en-US" sz="1400" b="1" dirty="0">
                <a:solidFill>
                  <a:srgbClr val="F97316"/>
                </a:solidFill>
                <a:latin typeface="Calibri" pitchFamily="34" charset="0"/>
                <a:ea typeface="Calibri" pitchFamily="34" charset="-122"/>
                <a:cs typeface="Calibri" pitchFamily="34" charset="-120"/>
              </a:rPr>
              <a:t>추가 모듈 </a:t>
            </a:r>
            <a:pPr indent="0" marL="0">
              <a:buNone/>
            </a:pPr>
            <a:r>
              <a:rPr lang="en-US" sz="1400" dirty="0">
                <a:solidFill>
                  <a:srgbClr val="1F2937"/>
                </a:solidFill>
                <a:latin typeface="Calibri" pitchFamily="34" charset="0"/>
                <a:ea typeface="Calibri" pitchFamily="34" charset="-122"/>
                <a:cs typeface="Calibri" pitchFamily="34" charset="-120"/>
              </a:rPr>
              <a:t>(4) + </a:t>
            </a:r>
            <a:pPr indent="0" marL="0">
              <a:buNone/>
            </a:pPr>
            <a:r>
              <a:rPr lang="en-US" sz="1400" b="1" dirty="0">
                <a:solidFill>
                  <a:srgbClr val="F97316"/>
                </a:solidFill>
                <a:latin typeface="Calibri" pitchFamily="34" charset="0"/>
                <a:ea typeface="Calibri" pitchFamily="34" charset="-122"/>
                <a:cs typeface="Calibri" pitchFamily="34" charset="-120"/>
              </a:rPr>
              <a:t>src2 트랙 </a:t>
            </a:r>
            <a:pPr indent="0" marL="0">
              <a:buNone/>
            </a:pPr>
            <a:r>
              <a:rPr lang="en-US" sz="1400" dirty="0">
                <a:solidFill>
                  <a:srgbClr val="1F2937"/>
                </a:solidFill>
                <a:latin typeface="Calibri" pitchFamily="34" charset="0"/>
                <a:ea typeface="Calibri" pitchFamily="34" charset="-122"/>
                <a:cs typeface="Calibri" pitchFamily="34" charset="-120"/>
              </a:rPr>
              <a:t>(11) = 60 개의 프로그램을</a:t>
            </a:r>
            <a:endParaRPr lang="en-US" sz="1400" dirty="0"/>
          </a:p>
        </p:txBody>
      </p:sp>
      <p:sp>
        <p:nvSpPr>
          <p:cNvPr id="13" name="Text 11"/>
          <p:cNvSpPr/>
          <p:nvPr/>
        </p:nvSpPr>
        <p:spPr>
          <a:xfrm>
            <a:off x="4572000" y="5029200"/>
            <a:ext cx="7315200" cy="4114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프로그램 단위로 한 페이지씩 정리해 "어떤 학습이 어디서 이루어지는지" 한눈에 보이도록 했습니다.</a:t>
            </a:r>
            <a:endParaRPr lang="en-US" sz="1400" dirty="0"/>
          </a:p>
        </p:txBody>
      </p:sp>
      <p:sp>
        <p:nvSpPr>
          <p:cNvPr id="14" name="Text 12"/>
          <p:cNvSpPr/>
          <p:nvPr/>
        </p:nvSpPr>
        <p:spPr>
          <a:xfrm>
            <a:off x="4572000" y="5852160"/>
            <a:ext cx="7315200" cy="3657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발표자  |  최흥배 (게임 서버 개발 23년차 / AI Agent 개발자)</a:t>
            </a:r>
            <a:endParaRPr lang="en-US" sz="1200" dirty="0"/>
          </a:p>
        </p:txBody>
      </p:sp>
      <p:sp>
        <p:nvSpPr>
          <p:cNvPr id="15" name="Text 13"/>
          <p:cNvSpPr/>
          <p:nvPr/>
        </p:nvSpPr>
        <p:spPr>
          <a:xfrm>
            <a:off x="4572000" y="6172200"/>
            <a:ext cx="7315200" cy="3657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작성일  |  2026-05-07  ─  Edition 2 (확장판)</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AGENDA</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목차 — 확장판 구성</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Text 4"/>
          <p:cNvSpPr/>
          <p:nvPr/>
        </p:nvSpPr>
        <p:spPr>
          <a:xfrm>
            <a:off x="640080" y="1554480"/>
            <a:ext cx="777240" cy="411480"/>
          </a:xfrm>
          <a:prstGeom prst="rect">
            <a:avLst/>
          </a:prstGeom>
          <a:noFill/>
          <a:ln/>
        </p:spPr>
        <p:txBody>
          <a:bodyPr wrap="square" lIns="0" tIns="0" rIns="0" bIns="0" rtlCol="0" anchor="ctr"/>
          <a:lstStyle/>
          <a:p>
            <a:pPr indent="0" marL="0">
              <a:buNone/>
            </a:pPr>
            <a:r>
              <a:rPr lang="en-US" sz="2200" b="1" dirty="0">
                <a:solidFill>
                  <a:srgbClr val="F97316"/>
                </a:solidFill>
                <a:latin typeface="Calibri" pitchFamily="34" charset="0"/>
                <a:ea typeface="Calibri" pitchFamily="34" charset="-122"/>
                <a:cs typeface="Calibri" pitchFamily="34" charset="-120"/>
              </a:rPr>
              <a:t>01</a:t>
            </a:r>
            <a:endParaRPr lang="en-US" sz="2200" dirty="0"/>
          </a:p>
        </p:txBody>
      </p:sp>
      <p:sp>
        <p:nvSpPr>
          <p:cNvPr id="7" name="Text 5"/>
          <p:cNvSpPr/>
          <p:nvPr/>
        </p:nvSpPr>
        <p:spPr>
          <a:xfrm>
            <a:off x="1508760" y="1554480"/>
            <a:ext cx="6858000" cy="411480"/>
          </a:xfrm>
          <a:prstGeom prst="rect">
            <a:avLst/>
          </a:prstGeom>
          <a:noFill/>
          <a:ln/>
        </p:spPr>
        <p:txBody>
          <a:bodyPr wrap="square" lIns="0" tIns="0" rIns="0" bIns="0" rtlCol="0" anchor="ctr"/>
          <a:lstStyle/>
          <a:p>
            <a:pPr indent="0" marL="0">
              <a:buNone/>
            </a:pPr>
            <a:r>
              <a:rPr lang="en-US" sz="1400" b="1" dirty="0">
                <a:solidFill>
                  <a:srgbClr val="0F4C81"/>
                </a:solidFill>
                <a:latin typeface="Calibri" pitchFamily="34" charset="0"/>
                <a:ea typeface="Calibri" pitchFamily="34" charset="-122"/>
                <a:cs typeface="Calibri" pitchFamily="34" charset="-120"/>
              </a:rPr>
              <a:t>프로젝트 개요와 학습 곡선</a:t>
            </a:r>
            <a:endParaRPr lang="en-US" sz="1400" dirty="0"/>
          </a:p>
        </p:txBody>
      </p:sp>
      <p:sp>
        <p:nvSpPr>
          <p:cNvPr id="8" name="Text 6"/>
          <p:cNvSpPr/>
          <p:nvPr/>
        </p:nvSpPr>
        <p:spPr>
          <a:xfrm>
            <a:off x="8412480" y="1554480"/>
            <a:ext cx="3200400" cy="411480"/>
          </a:xfrm>
          <a:prstGeom prst="rect">
            <a:avLst/>
          </a:prstGeom>
          <a:noFill/>
          <a:ln/>
        </p:spPr>
        <p:txBody>
          <a:bodyPr wrap="square" lIns="0" tIns="0" rIns="0" bIns="0" rtlCol="0" anchor="ctr"/>
          <a:lstStyle/>
          <a:p>
            <a:pPr algn="r" indent="0" marL="0">
              <a:buNone/>
            </a:pPr>
            <a:r>
              <a:rPr lang="en-US" sz="1150" dirty="0">
                <a:solidFill>
                  <a:srgbClr val="64748B"/>
                </a:solidFill>
                <a:latin typeface="Calibri" pitchFamily="34" charset="0"/>
                <a:ea typeface="Calibri" pitchFamily="34" charset="-122"/>
                <a:cs typeface="Calibri" pitchFamily="34" charset="-120"/>
              </a:rPr>
              <a:t>P. 3 ─ 5</a:t>
            </a:r>
            <a:endParaRPr lang="en-US" sz="1150" dirty="0"/>
          </a:p>
        </p:txBody>
      </p:sp>
      <p:sp>
        <p:nvSpPr>
          <p:cNvPr id="9" name="Shape 7"/>
          <p:cNvSpPr/>
          <p:nvPr/>
        </p:nvSpPr>
        <p:spPr>
          <a:xfrm>
            <a:off x="640080" y="1988820"/>
            <a:ext cx="10424160" cy="0"/>
          </a:xfrm>
          <a:prstGeom prst="line">
            <a:avLst/>
          </a:prstGeom>
          <a:noFill/>
          <a:ln w="6350">
            <a:solidFill>
              <a:srgbClr val="CBD5E1"/>
            </a:solidFill>
            <a:prstDash val="solid"/>
          </a:ln>
        </p:spPr>
      </p:sp>
      <p:sp>
        <p:nvSpPr>
          <p:cNvPr id="10" name="Text 8"/>
          <p:cNvSpPr/>
          <p:nvPr/>
        </p:nvSpPr>
        <p:spPr>
          <a:xfrm>
            <a:off x="640080" y="2011680"/>
            <a:ext cx="777240" cy="411480"/>
          </a:xfrm>
          <a:prstGeom prst="rect">
            <a:avLst/>
          </a:prstGeom>
          <a:noFill/>
          <a:ln/>
        </p:spPr>
        <p:txBody>
          <a:bodyPr wrap="square" lIns="0" tIns="0" rIns="0" bIns="0" rtlCol="0" anchor="ctr"/>
          <a:lstStyle/>
          <a:p>
            <a:pPr indent="0" marL="0">
              <a:buNone/>
            </a:pPr>
            <a:r>
              <a:rPr lang="en-US" sz="2200" b="1" dirty="0">
                <a:solidFill>
                  <a:srgbClr val="F97316"/>
                </a:solidFill>
                <a:latin typeface="Calibri" pitchFamily="34" charset="0"/>
                <a:ea typeface="Calibri" pitchFamily="34" charset="-122"/>
                <a:cs typeface="Calibri" pitchFamily="34" charset="-120"/>
              </a:rPr>
              <a:t>02</a:t>
            </a:r>
            <a:endParaRPr lang="en-US" sz="2200" dirty="0"/>
          </a:p>
        </p:txBody>
      </p:sp>
      <p:sp>
        <p:nvSpPr>
          <p:cNvPr id="11" name="Text 9"/>
          <p:cNvSpPr/>
          <p:nvPr/>
        </p:nvSpPr>
        <p:spPr>
          <a:xfrm>
            <a:off x="1508760" y="2011680"/>
            <a:ext cx="6858000" cy="411480"/>
          </a:xfrm>
          <a:prstGeom prst="rect">
            <a:avLst/>
          </a:prstGeom>
          <a:noFill/>
          <a:ln/>
        </p:spPr>
        <p:txBody>
          <a:bodyPr wrap="square" lIns="0" tIns="0" rIns="0" bIns="0" rtlCol="0" anchor="ctr"/>
          <a:lstStyle/>
          <a:p>
            <a:pPr indent="0" marL="0">
              <a:buNone/>
            </a:pPr>
            <a:r>
              <a:rPr lang="en-US" sz="1400" b="1" dirty="0">
                <a:solidFill>
                  <a:srgbClr val="0F4C81"/>
                </a:solidFill>
                <a:latin typeface="Calibri" pitchFamily="34" charset="0"/>
                <a:ea typeface="Calibri" pitchFamily="34" charset="-122"/>
                <a:cs typeface="Calibri" pitchFamily="34" charset="-120"/>
              </a:rPr>
              <a:t>두 트랙 구조와 기술 스택</a:t>
            </a:r>
            <a:endParaRPr lang="en-US" sz="1400" dirty="0"/>
          </a:p>
        </p:txBody>
      </p:sp>
      <p:sp>
        <p:nvSpPr>
          <p:cNvPr id="12" name="Text 10"/>
          <p:cNvSpPr/>
          <p:nvPr/>
        </p:nvSpPr>
        <p:spPr>
          <a:xfrm>
            <a:off x="8412480" y="2011680"/>
            <a:ext cx="3200400" cy="411480"/>
          </a:xfrm>
          <a:prstGeom prst="rect">
            <a:avLst/>
          </a:prstGeom>
          <a:noFill/>
          <a:ln/>
        </p:spPr>
        <p:txBody>
          <a:bodyPr wrap="square" lIns="0" tIns="0" rIns="0" bIns="0" rtlCol="0" anchor="ctr"/>
          <a:lstStyle/>
          <a:p>
            <a:pPr algn="r" indent="0" marL="0">
              <a:buNone/>
            </a:pPr>
            <a:r>
              <a:rPr lang="en-US" sz="1150" dirty="0">
                <a:solidFill>
                  <a:srgbClr val="64748B"/>
                </a:solidFill>
                <a:latin typeface="Calibri" pitchFamily="34" charset="0"/>
                <a:ea typeface="Calibri" pitchFamily="34" charset="-122"/>
                <a:cs typeface="Calibri" pitchFamily="34" charset="-120"/>
              </a:rPr>
              <a:t>P. 6 ─ 7</a:t>
            </a:r>
            <a:endParaRPr lang="en-US" sz="1150" dirty="0"/>
          </a:p>
        </p:txBody>
      </p:sp>
      <p:sp>
        <p:nvSpPr>
          <p:cNvPr id="13" name="Shape 11"/>
          <p:cNvSpPr/>
          <p:nvPr/>
        </p:nvSpPr>
        <p:spPr>
          <a:xfrm>
            <a:off x="640080" y="2446020"/>
            <a:ext cx="10424160" cy="0"/>
          </a:xfrm>
          <a:prstGeom prst="line">
            <a:avLst/>
          </a:prstGeom>
          <a:noFill/>
          <a:ln w="6350">
            <a:solidFill>
              <a:srgbClr val="CBD5E1"/>
            </a:solidFill>
            <a:prstDash val="solid"/>
          </a:ln>
        </p:spPr>
      </p:sp>
      <p:sp>
        <p:nvSpPr>
          <p:cNvPr id="14" name="Text 12"/>
          <p:cNvSpPr/>
          <p:nvPr/>
        </p:nvSpPr>
        <p:spPr>
          <a:xfrm>
            <a:off x="640080" y="2468880"/>
            <a:ext cx="777240" cy="411480"/>
          </a:xfrm>
          <a:prstGeom prst="rect">
            <a:avLst/>
          </a:prstGeom>
          <a:noFill/>
          <a:ln/>
        </p:spPr>
        <p:txBody>
          <a:bodyPr wrap="square" lIns="0" tIns="0" rIns="0" bIns="0" rtlCol="0" anchor="ctr"/>
          <a:lstStyle/>
          <a:p>
            <a:pPr indent="0" marL="0">
              <a:buNone/>
            </a:pPr>
            <a:r>
              <a:rPr lang="en-US" sz="2200" b="1" dirty="0">
                <a:solidFill>
                  <a:srgbClr val="F97316"/>
                </a:solidFill>
                <a:latin typeface="Calibri" pitchFamily="34" charset="0"/>
                <a:ea typeface="Calibri" pitchFamily="34" charset="-122"/>
                <a:cs typeface="Calibri" pitchFamily="34" charset="-120"/>
              </a:rPr>
              <a:t>03</a:t>
            </a:r>
            <a:endParaRPr lang="en-US" sz="2200" dirty="0"/>
          </a:p>
        </p:txBody>
      </p:sp>
      <p:sp>
        <p:nvSpPr>
          <p:cNvPr id="15" name="Text 13"/>
          <p:cNvSpPr/>
          <p:nvPr/>
        </p:nvSpPr>
        <p:spPr>
          <a:xfrm>
            <a:off x="1508760" y="2468880"/>
            <a:ext cx="6858000" cy="411480"/>
          </a:xfrm>
          <a:prstGeom prst="rect">
            <a:avLst/>
          </a:prstGeom>
          <a:noFill/>
          <a:ln/>
        </p:spPr>
        <p:txBody>
          <a:bodyPr wrap="square" lIns="0" tIns="0" rIns="0" bIns="0" rtlCol="0" anchor="ctr"/>
          <a:lstStyle/>
          <a:p>
            <a:pPr indent="0" marL="0">
              <a:buNone/>
            </a:pPr>
            <a:r>
              <a:rPr lang="en-US" sz="1400" b="1" dirty="0">
                <a:solidFill>
                  <a:srgbClr val="0F4C81"/>
                </a:solidFill>
                <a:latin typeface="Calibri" pitchFamily="34" charset="0"/>
                <a:ea typeface="Calibri" pitchFamily="34" charset="-122"/>
                <a:cs typeface="Calibri" pitchFamily="34" charset="-120"/>
              </a:rPr>
              <a:t>src 트랙 ─ 초급 단계 (Stage 01 ~ 03)</a:t>
            </a:r>
            <a:endParaRPr lang="en-US" sz="1400" dirty="0"/>
          </a:p>
        </p:txBody>
      </p:sp>
      <p:sp>
        <p:nvSpPr>
          <p:cNvPr id="16" name="Text 14"/>
          <p:cNvSpPr/>
          <p:nvPr/>
        </p:nvSpPr>
        <p:spPr>
          <a:xfrm>
            <a:off x="8412480" y="2468880"/>
            <a:ext cx="3200400" cy="411480"/>
          </a:xfrm>
          <a:prstGeom prst="rect">
            <a:avLst/>
          </a:prstGeom>
          <a:noFill/>
          <a:ln/>
        </p:spPr>
        <p:txBody>
          <a:bodyPr wrap="square" lIns="0" tIns="0" rIns="0" bIns="0" rtlCol="0" anchor="ctr"/>
          <a:lstStyle/>
          <a:p>
            <a:pPr algn="r" indent="0" marL="0">
              <a:buNone/>
            </a:pPr>
            <a:r>
              <a:rPr lang="en-US" sz="1150" dirty="0">
                <a:solidFill>
                  <a:srgbClr val="64748B"/>
                </a:solidFill>
                <a:latin typeface="Calibri" pitchFamily="34" charset="0"/>
                <a:ea typeface="Calibri" pitchFamily="34" charset="-122"/>
                <a:cs typeface="Calibri" pitchFamily="34" charset="-120"/>
              </a:rPr>
              <a:t>12 페이지</a:t>
            </a:r>
            <a:endParaRPr lang="en-US" sz="1150" dirty="0"/>
          </a:p>
        </p:txBody>
      </p:sp>
      <p:sp>
        <p:nvSpPr>
          <p:cNvPr id="17" name="Shape 15"/>
          <p:cNvSpPr/>
          <p:nvPr/>
        </p:nvSpPr>
        <p:spPr>
          <a:xfrm>
            <a:off x="640080" y="2903220"/>
            <a:ext cx="10424160" cy="0"/>
          </a:xfrm>
          <a:prstGeom prst="line">
            <a:avLst/>
          </a:prstGeom>
          <a:noFill/>
          <a:ln w="6350">
            <a:solidFill>
              <a:srgbClr val="CBD5E1"/>
            </a:solidFill>
            <a:prstDash val="solid"/>
          </a:ln>
        </p:spPr>
      </p:sp>
      <p:sp>
        <p:nvSpPr>
          <p:cNvPr id="18" name="Text 16"/>
          <p:cNvSpPr/>
          <p:nvPr/>
        </p:nvSpPr>
        <p:spPr>
          <a:xfrm>
            <a:off x="640080" y="2926080"/>
            <a:ext cx="777240" cy="411480"/>
          </a:xfrm>
          <a:prstGeom prst="rect">
            <a:avLst/>
          </a:prstGeom>
          <a:noFill/>
          <a:ln/>
        </p:spPr>
        <p:txBody>
          <a:bodyPr wrap="square" lIns="0" tIns="0" rIns="0" bIns="0" rtlCol="0" anchor="ctr"/>
          <a:lstStyle/>
          <a:p>
            <a:pPr indent="0" marL="0">
              <a:buNone/>
            </a:pPr>
            <a:r>
              <a:rPr lang="en-US" sz="2200" b="1" dirty="0">
                <a:solidFill>
                  <a:srgbClr val="F97316"/>
                </a:solidFill>
                <a:latin typeface="Calibri" pitchFamily="34" charset="0"/>
                <a:ea typeface="Calibri" pitchFamily="34" charset="-122"/>
                <a:cs typeface="Calibri" pitchFamily="34" charset="-120"/>
              </a:rPr>
              <a:t>04</a:t>
            </a:r>
            <a:endParaRPr lang="en-US" sz="2200" dirty="0"/>
          </a:p>
        </p:txBody>
      </p:sp>
      <p:sp>
        <p:nvSpPr>
          <p:cNvPr id="19" name="Text 17"/>
          <p:cNvSpPr/>
          <p:nvPr/>
        </p:nvSpPr>
        <p:spPr>
          <a:xfrm>
            <a:off x="1508760" y="2926080"/>
            <a:ext cx="6858000" cy="411480"/>
          </a:xfrm>
          <a:prstGeom prst="rect">
            <a:avLst/>
          </a:prstGeom>
          <a:noFill/>
          <a:ln/>
        </p:spPr>
        <p:txBody>
          <a:bodyPr wrap="square" lIns="0" tIns="0" rIns="0" bIns="0" rtlCol="0" anchor="ctr"/>
          <a:lstStyle/>
          <a:p>
            <a:pPr indent="0" marL="0">
              <a:buNone/>
            </a:pPr>
            <a:r>
              <a:rPr lang="en-US" sz="1400" b="1" dirty="0">
                <a:solidFill>
                  <a:srgbClr val="0F4C81"/>
                </a:solidFill>
                <a:latin typeface="Calibri" pitchFamily="34" charset="0"/>
                <a:ea typeface="Calibri" pitchFamily="34" charset="-122"/>
                <a:cs typeface="Calibri" pitchFamily="34" charset="-120"/>
              </a:rPr>
              <a:t>src 트랙 ─ 중급 단계 (Stage 04 ~ 07)</a:t>
            </a:r>
            <a:endParaRPr lang="en-US" sz="1400" dirty="0"/>
          </a:p>
        </p:txBody>
      </p:sp>
      <p:sp>
        <p:nvSpPr>
          <p:cNvPr id="20" name="Text 18"/>
          <p:cNvSpPr/>
          <p:nvPr/>
        </p:nvSpPr>
        <p:spPr>
          <a:xfrm>
            <a:off x="8412480" y="2926080"/>
            <a:ext cx="3200400" cy="411480"/>
          </a:xfrm>
          <a:prstGeom prst="rect">
            <a:avLst/>
          </a:prstGeom>
          <a:noFill/>
          <a:ln/>
        </p:spPr>
        <p:txBody>
          <a:bodyPr wrap="square" lIns="0" tIns="0" rIns="0" bIns="0" rtlCol="0" anchor="ctr"/>
          <a:lstStyle/>
          <a:p>
            <a:pPr algn="r" indent="0" marL="0">
              <a:buNone/>
            </a:pPr>
            <a:r>
              <a:rPr lang="en-US" sz="1150" dirty="0">
                <a:solidFill>
                  <a:srgbClr val="64748B"/>
                </a:solidFill>
                <a:latin typeface="Calibri" pitchFamily="34" charset="0"/>
                <a:ea typeface="Calibri" pitchFamily="34" charset="-122"/>
                <a:cs typeface="Calibri" pitchFamily="34" charset="-120"/>
              </a:rPr>
              <a:t>16 페이지</a:t>
            </a:r>
            <a:endParaRPr lang="en-US" sz="1150" dirty="0"/>
          </a:p>
        </p:txBody>
      </p:sp>
      <p:sp>
        <p:nvSpPr>
          <p:cNvPr id="21" name="Shape 19"/>
          <p:cNvSpPr/>
          <p:nvPr/>
        </p:nvSpPr>
        <p:spPr>
          <a:xfrm>
            <a:off x="640080" y="3360420"/>
            <a:ext cx="10424160" cy="0"/>
          </a:xfrm>
          <a:prstGeom prst="line">
            <a:avLst/>
          </a:prstGeom>
          <a:noFill/>
          <a:ln w="6350">
            <a:solidFill>
              <a:srgbClr val="CBD5E1"/>
            </a:solidFill>
            <a:prstDash val="solid"/>
          </a:ln>
        </p:spPr>
      </p:sp>
      <p:sp>
        <p:nvSpPr>
          <p:cNvPr id="22" name="Text 20"/>
          <p:cNvSpPr/>
          <p:nvPr/>
        </p:nvSpPr>
        <p:spPr>
          <a:xfrm>
            <a:off x="640080" y="3383280"/>
            <a:ext cx="777240" cy="411480"/>
          </a:xfrm>
          <a:prstGeom prst="rect">
            <a:avLst/>
          </a:prstGeom>
          <a:noFill/>
          <a:ln/>
        </p:spPr>
        <p:txBody>
          <a:bodyPr wrap="square" lIns="0" tIns="0" rIns="0" bIns="0" rtlCol="0" anchor="ctr"/>
          <a:lstStyle/>
          <a:p>
            <a:pPr indent="0" marL="0">
              <a:buNone/>
            </a:pPr>
            <a:r>
              <a:rPr lang="en-US" sz="2200" b="1" dirty="0">
                <a:solidFill>
                  <a:srgbClr val="F97316"/>
                </a:solidFill>
                <a:latin typeface="Calibri" pitchFamily="34" charset="0"/>
                <a:ea typeface="Calibri" pitchFamily="34" charset="-122"/>
                <a:cs typeface="Calibri" pitchFamily="34" charset="-120"/>
              </a:rPr>
              <a:t>05</a:t>
            </a:r>
            <a:endParaRPr lang="en-US" sz="2200" dirty="0"/>
          </a:p>
        </p:txBody>
      </p:sp>
      <p:sp>
        <p:nvSpPr>
          <p:cNvPr id="23" name="Text 21"/>
          <p:cNvSpPr/>
          <p:nvPr/>
        </p:nvSpPr>
        <p:spPr>
          <a:xfrm>
            <a:off x="1508760" y="3383280"/>
            <a:ext cx="6858000" cy="411480"/>
          </a:xfrm>
          <a:prstGeom prst="rect">
            <a:avLst/>
          </a:prstGeom>
          <a:noFill/>
          <a:ln/>
        </p:spPr>
        <p:txBody>
          <a:bodyPr wrap="square" lIns="0" tIns="0" rIns="0" bIns="0" rtlCol="0" anchor="ctr"/>
          <a:lstStyle/>
          <a:p>
            <a:pPr indent="0" marL="0">
              <a:buNone/>
            </a:pPr>
            <a:r>
              <a:rPr lang="en-US" sz="1400" b="1" dirty="0">
                <a:solidFill>
                  <a:srgbClr val="0F4C81"/>
                </a:solidFill>
                <a:latin typeface="Calibri" pitchFamily="34" charset="0"/>
                <a:ea typeface="Calibri" pitchFamily="34" charset="-122"/>
                <a:cs typeface="Calibri" pitchFamily="34" charset="-120"/>
              </a:rPr>
              <a:t>src 트랙 ─ 고급 단계 (Stage 08 ~ 12)</a:t>
            </a:r>
            <a:endParaRPr lang="en-US" sz="1400" dirty="0"/>
          </a:p>
        </p:txBody>
      </p:sp>
      <p:sp>
        <p:nvSpPr>
          <p:cNvPr id="24" name="Text 22"/>
          <p:cNvSpPr/>
          <p:nvPr/>
        </p:nvSpPr>
        <p:spPr>
          <a:xfrm>
            <a:off x="8412480" y="3383280"/>
            <a:ext cx="3200400" cy="411480"/>
          </a:xfrm>
          <a:prstGeom prst="rect">
            <a:avLst/>
          </a:prstGeom>
          <a:noFill/>
          <a:ln/>
        </p:spPr>
        <p:txBody>
          <a:bodyPr wrap="square" lIns="0" tIns="0" rIns="0" bIns="0" rtlCol="0" anchor="ctr"/>
          <a:lstStyle/>
          <a:p>
            <a:pPr algn="r" indent="0" marL="0">
              <a:buNone/>
            </a:pPr>
            <a:r>
              <a:rPr lang="en-US" sz="1150" dirty="0">
                <a:solidFill>
                  <a:srgbClr val="64748B"/>
                </a:solidFill>
                <a:latin typeface="Calibri" pitchFamily="34" charset="0"/>
                <a:ea typeface="Calibri" pitchFamily="34" charset="-122"/>
                <a:cs typeface="Calibri" pitchFamily="34" charset="-120"/>
              </a:rPr>
              <a:t>20 페이지</a:t>
            </a:r>
            <a:endParaRPr lang="en-US" sz="1150" dirty="0"/>
          </a:p>
        </p:txBody>
      </p:sp>
      <p:sp>
        <p:nvSpPr>
          <p:cNvPr id="25" name="Shape 23"/>
          <p:cNvSpPr/>
          <p:nvPr/>
        </p:nvSpPr>
        <p:spPr>
          <a:xfrm>
            <a:off x="640080" y="3817620"/>
            <a:ext cx="10424160" cy="0"/>
          </a:xfrm>
          <a:prstGeom prst="line">
            <a:avLst/>
          </a:prstGeom>
          <a:noFill/>
          <a:ln w="6350">
            <a:solidFill>
              <a:srgbClr val="CBD5E1"/>
            </a:solidFill>
            <a:prstDash val="solid"/>
          </a:ln>
        </p:spPr>
      </p:sp>
      <p:sp>
        <p:nvSpPr>
          <p:cNvPr id="26" name="Text 24"/>
          <p:cNvSpPr/>
          <p:nvPr/>
        </p:nvSpPr>
        <p:spPr>
          <a:xfrm>
            <a:off x="640080" y="3840480"/>
            <a:ext cx="777240" cy="411480"/>
          </a:xfrm>
          <a:prstGeom prst="rect">
            <a:avLst/>
          </a:prstGeom>
          <a:noFill/>
          <a:ln/>
        </p:spPr>
        <p:txBody>
          <a:bodyPr wrap="square" lIns="0" tIns="0" rIns="0" bIns="0" rtlCol="0" anchor="ctr"/>
          <a:lstStyle/>
          <a:p>
            <a:pPr indent="0" marL="0">
              <a:buNone/>
            </a:pPr>
            <a:r>
              <a:rPr lang="en-US" sz="2200" b="1" dirty="0">
                <a:solidFill>
                  <a:srgbClr val="F97316"/>
                </a:solidFill>
                <a:latin typeface="Calibri" pitchFamily="34" charset="0"/>
                <a:ea typeface="Calibri" pitchFamily="34" charset="-122"/>
                <a:cs typeface="Calibri" pitchFamily="34" charset="-120"/>
              </a:rPr>
              <a:t>06</a:t>
            </a:r>
            <a:endParaRPr lang="en-US" sz="2200" dirty="0"/>
          </a:p>
        </p:txBody>
      </p:sp>
      <p:sp>
        <p:nvSpPr>
          <p:cNvPr id="27" name="Text 25"/>
          <p:cNvSpPr/>
          <p:nvPr/>
        </p:nvSpPr>
        <p:spPr>
          <a:xfrm>
            <a:off x="1508760" y="3840480"/>
            <a:ext cx="6858000" cy="411480"/>
          </a:xfrm>
          <a:prstGeom prst="rect">
            <a:avLst/>
          </a:prstGeom>
          <a:noFill/>
          <a:ln/>
        </p:spPr>
        <p:txBody>
          <a:bodyPr wrap="square" lIns="0" tIns="0" rIns="0" bIns="0" rtlCol="0" anchor="ctr"/>
          <a:lstStyle/>
          <a:p>
            <a:pPr indent="0" marL="0">
              <a:buNone/>
            </a:pPr>
            <a:r>
              <a:rPr lang="en-US" sz="1400" b="1" dirty="0">
                <a:solidFill>
                  <a:srgbClr val="0F4C81"/>
                </a:solidFill>
                <a:latin typeface="Calibri" pitchFamily="34" charset="0"/>
                <a:ea typeface="Calibri" pitchFamily="34" charset="-122"/>
                <a:cs typeface="Calibri" pitchFamily="34" charset="-120"/>
              </a:rPr>
              <a:t>src 트랙 ─ 전문가 단계 (Stage 13 ~ 15)</a:t>
            </a:r>
            <a:endParaRPr lang="en-US" sz="1400" dirty="0"/>
          </a:p>
        </p:txBody>
      </p:sp>
      <p:sp>
        <p:nvSpPr>
          <p:cNvPr id="28" name="Text 26"/>
          <p:cNvSpPr/>
          <p:nvPr/>
        </p:nvSpPr>
        <p:spPr>
          <a:xfrm>
            <a:off x="8412480" y="3840480"/>
            <a:ext cx="3200400" cy="411480"/>
          </a:xfrm>
          <a:prstGeom prst="rect">
            <a:avLst/>
          </a:prstGeom>
          <a:noFill/>
          <a:ln/>
        </p:spPr>
        <p:txBody>
          <a:bodyPr wrap="square" lIns="0" tIns="0" rIns="0" bIns="0" rtlCol="0" anchor="ctr"/>
          <a:lstStyle/>
          <a:p>
            <a:pPr algn="r" indent="0" marL="0">
              <a:buNone/>
            </a:pPr>
            <a:r>
              <a:rPr lang="en-US" sz="1150" dirty="0">
                <a:solidFill>
                  <a:srgbClr val="64748B"/>
                </a:solidFill>
                <a:latin typeface="Calibri" pitchFamily="34" charset="0"/>
                <a:ea typeface="Calibri" pitchFamily="34" charset="-122"/>
                <a:cs typeface="Calibri" pitchFamily="34" charset="-120"/>
              </a:rPr>
              <a:t>12 페이지</a:t>
            </a:r>
            <a:endParaRPr lang="en-US" sz="1150" dirty="0"/>
          </a:p>
        </p:txBody>
      </p:sp>
      <p:sp>
        <p:nvSpPr>
          <p:cNvPr id="29" name="Shape 27"/>
          <p:cNvSpPr/>
          <p:nvPr/>
        </p:nvSpPr>
        <p:spPr>
          <a:xfrm>
            <a:off x="640080" y="4274820"/>
            <a:ext cx="10424160" cy="0"/>
          </a:xfrm>
          <a:prstGeom prst="line">
            <a:avLst/>
          </a:prstGeom>
          <a:noFill/>
          <a:ln w="6350">
            <a:solidFill>
              <a:srgbClr val="CBD5E1"/>
            </a:solidFill>
            <a:prstDash val="solid"/>
          </a:ln>
        </p:spPr>
      </p:sp>
      <p:sp>
        <p:nvSpPr>
          <p:cNvPr id="30" name="Text 28"/>
          <p:cNvSpPr/>
          <p:nvPr/>
        </p:nvSpPr>
        <p:spPr>
          <a:xfrm>
            <a:off x="640080" y="4297680"/>
            <a:ext cx="777240" cy="411480"/>
          </a:xfrm>
          <a:prstGeom prst="rect">
            <a:avLst/>
          </a:prstGeom>
          <a:noFill/>
          <a:ln/>
        </p:spPr>
        <p:txBody>
          <a:bodyPr wrap="square" lIns="0" tIns="0" rIns="0" bIns="0" rtlCol="0" anchor="ctr"/>
          <a:lstStyle/>
          <a:p>
            <a:pPr indent="0" marL="0">
              <a:buNone/>
            </a:pPr>
            <a:r>
              <a:rPr lang="en-US" sz="2200" b="1" dirty="0">
                <a:solidFill>
                  <a:srgbClr val="F97316"/>
                </a:solidFill>
                <a:latin typeface="Calibri" pitchFamily="34" charset="0"/>
                <a:ea typeface="Calibri" pitchFamily="34" charset="-122"/>
                <a:cs typeface="Calibri" pitchFamily="34" charset="-120"/>
              </a:rPr>
              <a:t>07</a:t>
            </a:r>
            <a:endParaRPr lang="en-US" sz="2200" dirty="0"/>
          </a:p>
        </p:txBody>
      </p:sp>
      <p:sp>
        <p:nvSpPr>
          <p:cNvPr id="31" name="Text 29"/>
          <p:cNvSpPr/>
          <p:nvPr/>
        </p:nvSpPr>
        <p:spPr>
          <a:xfrm>
            <a:off x="1508760" y="4297680"/>
            <a:ext cx="6858000" cy="411480"/>
          </a:xfrm>
          <a:prstGeom prst="rect">
            <a:avLst/>
          </a:prstGeom>
          <a:noFill/>
          <a:ln/>
        </p:spPr>
        <p:txBody>
          <a:bodyPr wrap="square" lIns="0" tIns="0" rIns="0" bIns="0" rtlCol="0" anchor="ctr"/>
          <a:lstStyle/>
          <a:p>
            <a:pPr indent="0" marL="0">
              <a:buNone/>
            </a:pPr>
            <a:r>
              <a:rPr lang="en-US" sz="1400" b="1" dirty="0">
                <a:solidFill>
                  <a:srgbClr val="0F4C81"/>
                </a:solidFill>
                <a:latin typeface="Calibri" pitchFamily="34" charset="0"/>
                <a:ea typeface="Calibri" pitchFamily="34" charset="-122"/>
                <a:cs typeface="Calibri" pitchFamily="34" charset="-120"/>
              </a:rPr>
              <a:t>추가 모듈 4 종 (SkillSystem, SoulAgent ...)</a:t>
            </a:r>
            <a:endParaRPr lang="en-US" sz="1400" dirty="0"/>
          </a:p>
        </p:txBody>
      </p:sp>
      <p:sp>
        <p:nvSpPr>
          <p:cNvPr id="32" name="Text 30"/>
          <p:cNvSpPr/>
          <p:nvPr/>
        </p:nvSpPr>
        <p:spPr>
          <a:xfrm>
            <a:off x="8412480" y="4297680"/>
            <a:ext cx="3200400" cy="411480"/>
          </a:xfrm>
          <a:prstGeom prst="rect">
            <a:avLst/>
          </a:prstGeom>
          <a:noFill/>
          <a:ln/>
        </p:spPr>
        <p:txBody>
          <a:bodyPr wrap="square" lIns="0" tIns="0" rIns="0" bIns="0" rtlCol="0" anchor="ctr"/>
          <a:lstStyle/>
          <a:p>
            <a:pPr algn="r" indent="0" marL="0">
              <a:buNone/>
            </a:pPr>
            <a:r>
              <a:rPr lang="en-US" sz="1150" dirty="0">
                <a:solidFill>
                  <a:srgbClr val="64748B"/>
                </a:solidFill>
                <a:latin typeface="Calibri" pitchFamily="34" charset="0"/>
                <a:ea typeface="Calibri" pitchFamily="34" charset="-122"/>
                <a:cs typeface="Calibri" pitchFamily="34" charset="-120"/>
              </a:rPr>
              <a:t>5 페이지</a:t>
            </a:r>
            <a:endParaRPr lang="en-US" sz="1150" dirty="0"/>
          </a:p>
        </p:txBody>
      </p:sp>
      <p:sp>
        <p:nvSpPr>
          <p:cNvPr id="33" name="Shape 31"/>
          <p:cNvSpPr/>
          <p:nvPr/>
        </p:nvSpPr>
        <p:spPr>
          <a:xfrm>
            <a:off x="640080" y="4732020"/>
            <a:ext cx="10424160" cy="0"/>
          </a:xfrm>
          <a:prstGeom prst="line">
            <a:avLst/>
          </a:prstGeom>
          <a:noFill/>
          <a:ln w="6350">
            <a:solidFill>
              <a:srgbClr val="CBD5E1"/>
            </a:solidFill>
            <a:prstDash val="solid"/>
          </a:ln>
        </p:spPr>
      </p:sp>
      <p:sp>
        <p:nvSpPr>
          <p:cNvPr id="34" name="Text 32"/>
          <p:cNvSpPr/>
          <p:nvPr/>
        </p:nvSpPr>
        <p:spPr>
          <a:xfrm>
            <a:off x="640080" y="4754880"/>
            <a:ext cx="777240" cy="411480"/>
          </a:xfrm>
          <a:prstGeom prst="rect">
            <a:avLst/>
          </a:prstGeom>
          <a:noFill/>
          <a:ln/>
        </p:spPr>
        <p:txBody>
          <a:bodyPr wrap="square" lIns="0" tIns="0" rIns="0" bIns="0" rtlCol="0" anchor="ctr"/>
          <a:lstStyle/>
          <a:p>
            <a:pPr indent="0" marL="0">
              <a:buNone/>
            </a:pPr>
            <a:r>
              <a:rPr lang="en-US" sz="2200" b="1" dirty="0">
                <a:solidFill>
                  <a:srgbClr val="F97316"/>
                </a:solidFill>
                <a:latin typeface="Calibri" pitchFamily="34" charset="0"/>
                <a:ea typeface="Calibri" pitchFamily="34" charset="-122"/>
                <a:cs typeface="Calibri" pitchFamily="34" charset="-120"/>
              </a:rPr>
              <a:t>08</a:t>
            </a:r>
            <a:endParaRPr lang="en-US" sz="2200" dirty="0"/>
          </a:p>
        </p:txBody>
      </p:sp>
      <p:sp>
        <p:nvSpPr>
          <p:cNvPr id="35" name="Text 33"/>
          <p:cNvSpPr/>
          <p:nvPr/>
        </p:nvSpPr>
        <p:spPr>
          <a:xfrm>
            <a:off x="1508760" y="4754880"/>
            <a:ext cx="6858000" cy="411480"/>
          </a:xfrm>
          <a:prstGeom prst="rect">
            <a:avLst/>
          </a:prstGeom>
          <a:noFill/>
          <a:ln/>
        </p:spPr>
        <p:txBody>
          <a:bodyPr wrap="square" lIns="0" tIns="0" rIns="0" bIns="0" rtlCol="0" anchor="ctr"/>
          <a:lstStyle/>
          <a:p>
            <a:pPr indent="0" marL="0">
              <a:buNone/>
            </a:pPr>
            <a:r>
              <a:rPr lang="en-US" sz="1400" b="1" dirty="0">
                <a:solidFill>
                  <a:srgbClr val="0F4C81"/>
                </a:solidFill>
                <a:latin typeface="Calibri" pitchFamily="34" charset="0"/>
                <a:ea typeface="Calibri" pitchFamily="34" charset="-122"/>
                <a:cs typeface="Calibri" pitchFamily="34" charset="-120"/>
              </a:rPr>
              <a:t>AIContextProvider 핵심 개념</a:t>
            </a:r>
            <a:endParaRPr lang="en-US" sz="1400" dirty="0"/>
          </a:p>
        </p:txBody>
      </p:sp>
      <p:sp>
        <p:nvSpPr>
          <p:cNvPr id="36" name="Text 34"/>
          <p:cNvSpPr/>
          <p:nvPr/>
        </p:nvSpPr>
        <p:spPr>
          <a:xfrm>
            <a:off x="8412480" y="4754880"/>
            <a:ext cx="3200400" cy="411480"/>
          </a:xfrm>
          <a:prstGeom prst="rect">
            <a:avLst/>
          </a:prstGeom>
          <a:noFill/>
          <a:ln/>
        </p:spPr>
        <p:txBody>
          <a:bodyPr wrap="square" lIns="0" tIns="0" rIns="0" bIns="0" rtlCol="0" anchor="ctr"/>
          <a:lstStyle/>
          <a:p>
            <a:pPr algn="r" indent="0" marL="0">
              <a:buNone/>
            </a:pPr>
            <a:r>
              <a:rPr lang="en-US" sz="1150" dirty="0">
                <a:solidFill>
                  <a:srgbClr val="64748B"/>
                </a:solidFill>
                <a:latin typeface="Calibri" pitchFamily="34" charset="0"/>
                <a:ea typeface="Calibri" pitchFamily="34" charset="-122"/>
                <a:cs typeface="Calibri" pitchFamily="34" charset="-120"/>
              </a:rPr>
              <a:t>3 페이지</a:t>
            </a:r>
            <a:endParaRPr lang="en-US" sz="1150" dirty="0"/>
          </a:p>
        </p:txBody>
      </p:sp>
      <p:sp>
        <p:nvSpPr>
          <p:cNvPr id="37" name="Shape 35"/>
          <p:cNvSpPr/>
          <p:nvPr/>
        </p:nvSpPr>
        <p:spPr>
          <a:xfrm>
            <a:off x="640080" y="5189220"/>
            <a:ext cx="10424160" cy="0"/>
          </a:xfrm>
          <a:prstGeom prst="line">
            <a:avLst/>
          </a:prstGeom>
          <a:noFill/>
          <a:ln w="6350">
            <a:solidFill>
              <a:srgbClr val="CBD5E1"/>
            </a:solidFill>
            <a:prstDash val="solid"/>
          </a:ln>
        </p:spPr>
      </p:sp>
      <p:sp>
        <p:nvSpPr>
          <p:cNvPr id="38" name="Text 36"/>
          <p:cNvSpPr/>
          <p:nvPr/>
        </p:nvSpPr>
        <p:spPr>
          <a:xfrm>
            <a:off x="640080" y="5212080"/>
            <a:ext cx="777240" cy="411480"/>
          </a:xfrm>
          <a:prstGeom prst="rect">
            <a:avLst/>
          </a:prstGeom>
          <a:noFill/>
          <a:ln/>
        </p:spPr>
        <p:txBody>
          <a:bodyPr wrap="square" lIns="0" tIns="0" rIns="0" bIns="0" rtlCol="0" anchor="ctr"/>
          <a:lstStyle/>
          <a:p>
            <a:pPr indent="0" marL="0">
              <a:buNone/>
            </a:pPr>
            <a:r>
              <a:rPr lang="en-US" sz="2200" b="1" dirty="0">
                <a:solidFill>
                  <a:srgbClr val="F97316"/>
                </a:solidFill>
                <a:latin typeface="Calibri" pitchFamily="34" charset="0"/>
                <a:ea typeface="Calibri" pitchFamily="34" charset="-122"/>
                <a:cs typeface="Calibri" pitchFamily="34" charset="-120"/>
              </a:rPr>
              <a:t>09</a:t>
            </a:r>
            <a:endParaRPr lang="en-US" sz="2200" dirty="0"/>
          </a:p>
        </p:txBody>
      </p:sp>
      <p:sp>
        <p:nvSpPr>
          <p:cNvPr id="39" name="Text 37"/>
          <p:cNvSpPr/>
          <p:nvPr/>
        </p:nvSpPr>
        <p:spPr>
          <a:xfrm>
            <a:off x="1508760" y="5212080"/>
            <a:ext cx="6858000" cy="411480"/>
          </a:xfrm>
          <a:prstGeom prst="rect">
            <a:avLst/>
          </a:prstGeom>
          <a:noFill/>
          <a:ln/>
        </p:spPr>
        <p:txBody>
          <a:bodyPr wrap="square" lIns="0" tIns="0" rIns="0" bIns="0" rtlCol="0" anchor="ctr"/>
          <a:lstStyle/>
          <a:p>
            <a:pPr indent="0" marL="0">
              <a:buNone/>
            </a:pPr>
            <a:r>
              <a:rPr lang="en-US" sz="1400" b="1" dirty="0">
                <a:solidFill>
                  <a:srgbClr val="0F4C81"/>
                </a:solidFill>
                <a:latin typeface="Calibri" pitchFamily="34" charset="0"/>
                <a:ea typeface="Calibri" pitchFamily="34" charset="-122"/>
                <a:cs typeface="Calibri" pitchFamily="34" charset="-120"/>
              </a:rPr>
              <a:t>src2 트랙 ─ Hello Agent 부터 Gateway 까지</a:t>
            </a:r>
            <a:endParaRPr lang="en-US" sz="1400" dirty="0"/>
          </a:p>
        </p:txBody>
      </p:sp>
      <p:sp>
        <p:nvSpPr>
          <p:cNvPr id="40" name="Text 38"/>
          <p:cNvSpPr/>
          <p:nvPr/>
        </p:nvSpPr>
        <p:spPr>
          <a:xfrm>
            <a:off x="8412480" y="5212080"/>
            <a:ext cx="3200400" cy="411480"/>
          </a:xfrm>
          <a:prstGeom prst="rect">
            <a:avLst/>
          </a:prstGeom>
          <a:noFill/>
          <a:ln/>
        </p:spPr>
        <p:txBody>
          <a:bodyPr wrap="square" lIns="0" tIns="0" rIns="0" bIns="0" rtlCol="0" anchor="ctr"/>
          <a:lstStyle/>
          <a:p>
            <a:pPr algn="r" indent="0" marL="0">
              <a:buNone/>
            </a:pPr>
            <a:r>
              <a:rPr lang="en-US" sz="1150" dirty="0">
                <a:solidFill>
                  <a:srgbClr val="64748B"/>
                </a:solidFill>
                <a:latin typeface="Calibri" pitchFamily="34" charset="0"/>
                <a:ea typeface="Calibri" pitchFamily="34" charset="-122"/>
                <a:cs typeface="Calibri" pitchFamily="34" charset="-120"/>
              </a:rPr>
              <a:t>12 페이지</a:t>
            </a:r>
            <a:endParaRPr lang="en-US" sz="1150" dirty="0"/>
          </a:p>
        </p:txBody>
      </p:sp>
      <p:sp>
        <p:nvSpPr>
          <p:cNvPr id="41" name="Shape 39"/>
          <p:cNvSpPr/>
          <p:nvPr/>
        </p:nvSpPr>
        <p:spPr>
          <a:xfrm>
            <a:off x="640080" y="5646420"/>
            <a:ext cx="10424160" cy="0"/>
          </a:xfrm>
          <a:prstGeom prst="line">
            <a:avLst/>
          </a:prstGeom>
          <a:noFill/>
          <a:ln w="6350">
            <a:solidFill>
              <a:srgbClr val="CBD5E1"/>
            </a:solidFill>
            <a:prstDash val="solid"/>
          </a:ln>
        </p:spPr>
      </p:sp>
      <p:sp>
        <p:nvSpPr>
          <p:cNvPr id="42" name="Text 40"/>
          <p:cNvSpPr/>
          <p:nvPr/>
        </p:nvSpPr>
        <p:spPr>
          <a:xfrm>
            <a:off x="640080" y="5669280"/>
            <a:ext cx="777240" cy="411480"/>
          </a:xfrm>
          <a:prstGeom prst="rect">
            <a:avLst/>
          </a:prstGeom>
          <a:noFill/>
          <a:ln/>
        </p:spPr>
        <p:txBody>
          <a:bodyPr wrap="square" lIns="0" tIns="0" rIns="0" bIns="0" rtlCol="0" anchor="ctr"/>
          <a:lstStyle/>
          <a:p>
            <a:pPr indent="0" marL="0">
              <a:buNone/>
            </a:pPr>
            <a:r>
              <a:rPr lang="en-US" sz="2200" b="1" dirty="0">
                <a:solidFill>
                  <a:srgbClr val="F97316"/>
                </a:solidFill>
                <a:latin typeface="Calibri" pitchFamily="34" charset="0"/>
                <a:ea typeface="Calibri" pitchFamily="34" charset="-122"/>
                <a:cs typeface="Calibri" pitchFamily="34" charset="-120"/>
              </a:rPr>
              <a:t>10</a:t>
            </a:r>
            <a:endParaRPr lang="en-US" sz="2200" dirty="0"/>
          </a:p>
        </p:txBody>
      </p:sp>
      <p:sp>
        <p:nvSpPr>
          <p:cNvPr id="43" name="Text 41"/>
          <p:cNvSpPr/>
          <p:nvPr/>
        </p:nvSpPr>
        <p:spPr>
          <a:xfrm>
            <a:off x="1508760" y="5669280"/>
            <a:ext cx="6858000" cy="411480"/>
          </a:xfrm>
          <a:prstGeom prst="rect">
            <a:avLst/>
          </a:prstGeom>
          <a:noFill/>
          <a:ln/>
        </p:spPr>
        <p:txBody>
          <a:bodyPr wrap="square" lIns="0" tIns="0" rIns="0" bIns="0" rtlCol="0" anchor="ctr"/>
          <a:lstStyle/>
          <a:p>
            <a:pPr indent="0" marL="0">
              <a:buNone/>
            </a:pPr>
            <a:r>
              <a:rPr lang="en-US" sz="1400" b="1" dirty="0">
                <a:solidFill>
                  <a:srgbClr val="0F4C81"/>
                </a:solidFill>
                <a:latin typeface="Calibri" pitchFamily="34" charset="0"/>
                <a:ea typeface="Calibri" pitchFamily="34" charset="-122"/>
                <a:cs typeface="Calibri" pitchFamily="34" charset="-120"/>
              </a:rPr>
              <a:t>비교 / 학습 가이드 / 마무리</a:t>
            </a:r>
            <a:endParaRPr lang="en-US" sz="1400" dirty="0"/>
          </a:p>
        </p:txBody>
      </p:sp>
      <p:sp>
        <p:nvSpPr>
          <p:cNvPr id="44" name="Text 42"/>
          <p:cNvSpPr/>
          <p:nvPr/>
        </p:nvSpPr>
        <p:spPr>
          <a:xfrm>
            <a:off x="8412480" y="5669280"/>
            <a:ext cx="3200400" cy="411480"/>
          </a:xfrm>
          <a:prstGeom prst="rect">
            <a:avLst/>
          </a:prstGeom>
          <a:noFill/>
          <a:ln/>
        </p:spPr>
        <p:txBody>
          <a:bodyPr wrap="square" lIns="0" tIns="0" rIns="0" bIns="0" rtlCol="0" anchor="ctr"/>
          <a:lstStyle/>
          <a:p>
            <a:pPr algn="r" indent="0" marL="0">
              <a:buNone/>
            </a:pPr>
            <a:r>
              <a:rPr lang="en-US" sz="1150" dirty="0">
                <a:solidFill>
                  <a:srgbClr val="64748B"/>
                </a:solidFill>
                <a:latin typeface="Calibri" pitchFamily="34" charset="0"/>
                <a:ea typeface="Calibri" pitchFamily="34" charset="-122"/>
                <a:cs typeface="Calibri" pitchFamily="34" charset="-120"/>
              </a:rPr>
              <a:t>P. 89 ─ 93</a:t>
            </a:r>
            <a:endParaRPr lang="en-US" sz="1150" dirty="0"/>
          </a:p>
        </p:txBody>
      </p:sp>
      <p:sp>
        <p:nvSpPr>
          <p:cNvPr id="45" name="Shape 43"/>
          <p:cNvSpPr/>
          <p:nvPr/>
        </p:nvSpPr>
        <p:spPr>
          <a:xfrm>
            <a:off x="640080" y="6103620"/>
            <a:ext cx="10424160" cy="0"/>
          </a:xfrm>
          <a:prstGeom prst="line">
            <a:avLst/>
          </a:prstGeom>
          <a:noFill/>
          <a:ln w="6350">
            <a:solidFill>
              <a:srgbClr val="CBD5E1"/>
            </a:solidFill>
            <a:prstDash val="solid"/>
          </a:ln>
        </p:spPr>
      </p:sp>
      <p:sp>
        <p:nvSpPr>
          <p:cNvPr id="46" name="Text 44"/>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47" name="Text 45"/>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SECTION 01 · OVERVIEW</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프로젝트 개요</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Text 4"/>
          <p:cNvSpPr/>
          <p:nvPr/>
        </p:nvSpPr>
        <p:spPr>
          <a:xfrm>
            <a:off x="640080" y="1600200"/>
            <a:ext cx="6858000" cy="914400"/>
          </a:xfrm>
          <a:prstGeom prst="rect">
            <a:avLst/>
          </a:prstGeom>
          <a:noFill/>
          <a:ln/>
        </p:spPr>
        <p:txBody>
          <a:bodyPr wrap="square" lIns="0" tIns="0" rIns="0" bIns="0" rtlCol="0" anchor="ctr"/>
          <a:lstStyle/>
          <a:p>
            <a:pPr indent="0" marL="0">
              <a:buNone/>
            </a:pPr>
            <a:r>
              <a:rPr lang="en-US" sz="2200" b="1" dirty="0">
                <a:solidFill>
                  <a:srgbClr val="0F4C81"/>
                </a:solidFill>
                <a:latin typeface="Calibri" pitchFamily="34" charset="0"/>
                <a:ea typeface="Calibri" pitchFamily="34" charset="-122"/>
                <a:cs typeface="Calibri" pitchFamily="34" charset="-120"/>
              </a:rPr>
              <a:t>게임 개발 도메인의 실용 예제로 MAF 를 단계별 학습한다</a:t>
            </a:r>
            <a:endParaRPr lang="en-US" sz="2200" dirty="0"/>
          </a:p>
        </p:txBody>
      </p:sp>
      <p:sp>
        <p:nvSpPr>
          <p:cNvPr id="7" name="Text 5"/>
          <p:cNvSpPr/>
          <p:nvPr/>
        </p:nvSpPr>
        <p:spPr>
          <a:xfrm>
            <a:off x="640080" y="2697480"/>
            <a:ext cx="6858000" cy="2011680"/>
          </a:xfrm>
          <a:prstGeom prst="rect">
            <a:avLst/>
          </a:prstGeom>
          <a:noFill/>
          <a:ln/>
        </p:spPr>
        <p:txBody>
          <a:bodyPr wrap="square" lIns="0" tIns="0" rIns="0" bIns="0" rtlCol="0" anchor="ctr"/>
          <a:lstStyle/>
          <a:p>
            <a:pPr indent="0" marL="0">
              <a:spcAft>
                <a:spcPts val="600"/>
              </a:spcAft>
              <a:buNone/>
            </a:pPr>
            <a:r>
              <a:rPr lang="en-US" sz="1300" dirty="0">
                <a:solidFill>
                  <a:srgbClr val="1F2937"/>
                </a:solidFill>
                <a:latin typeface="Calibri" pitchFamily="34" charset="0"/>
                <a:ea typeface="Calibri" pitchFamily="34" charset="-122"/>
                <a:cs typeface="Calibri" pitchFamily="34" charset="-120"/>
              </a:rPr>
              <a:t>본 프로젝트는 C#/.NET 환경에서 Microsoft Agent Framework(MAF) 를 처음부터 끝까지 익히기 위한 통합 가이드입니다. 단순 API 호출 예제가 아니라, 실제 게임 개발 현장에서 마주치는 작업(밸런싱 계산, 로그 분석, QA 자동화, 리소스 검수, 멀티 에이전트 협업 등)을 소재로 삼아 개념이 실무로 어떻게 이어지는지 자연스럽게 익히도록 설계되었습니다.</a:t>
            </a:r>
            <a:endParaRPr lang="en-US" sz="1300" dirty="0"/>
          </a:p>
        </p:txBody>
      </p:sp>
      <p:sp>
        <p:nvSpPr>
          <p:cNvPr id="8" name="Text 6"/>
          <p:cNvSpPr/>
          <p:nvPr/>
        </p:nvSpPr>
        <p:spPr>
          <a:xfrm>
            <a:off x="640080" y="4754880"/>
            <a:ext cx="6858000" cy="164592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초급(개념) → 중급(실무) → 고급(워크플로우) → 전문가(엔터프라이즈)의 4 단계 곡선으로 구성되며, 각 단계에서 2~3 개의 미니 프로젝트로 같은 개념을 다른 각도로 반복 학습합니다. 이번 확장판에서는 60 개 모든 프로그램에 한 페이지씩의 상세 페이지를 부여해 "무엇을 만들고 무엇을 배우는지" 명확히 보이도록 했습니다.</a:t>
            </a:r>
            <a:endParaRPr lang="en-US" sz="1300" dirty="0"/>
          </a:p>
        </p:txBody>
      </p:sp>
      <p:sp>
        <p:nvSpPr>
          <p:cNvPr id="9" name="Shape 7"/>
          <p:cNvSpPr/>
          <p:nvPr/>
        </p:nvSpPr>
        <p:spPr>
          <a:xfrm>
            <a:off x="8229600" y="1691640"/>
            <a:ext cx="1691640" cy="1691640"/>
          </a:xfrm>
          <a:prstGeom prst="rect">
            <a:avLst/>
          </a:prstGeom>
          <a:solidFill>
            <a:srgbClr val="FFFFFF"/>
          </a:solidFill>
          <a:ln w="9525">
            <a:solidFill>
              <a:srgbClr val="E2E8F0"/>
            </a:solidFill>
            <a:prstDash val="solid"/>
          </a:ln>
        </p:spPr>
      </p:sp>
      <p:sp>
        <p:nvSpPr>
          <p:cNvPr id="10" name="Shape 8"/>
          <p:cNvSpPr/>
          <p:nvPr/>
        </p:nvSpPr>
        <p:spPr>
          <a:xfrm>
            <a:off x="8229600" y="1691640"/>
            <a:ext cx="73152" cy="1691640"/>
          </a:xfrm>
          <a:prstGeom prst="rect">
            <a:avLst/>
          </a:prstGeom>
          <a:solidFill>
            <a:srgbClr val="0F4C81"/>
          </a:solidFill>
          <a:ln/>
        </p:spPr>
      </p:sp>
      <p:sp>
        <p:nvSpPr>
          <p:cNvPr id="11" name="Text 9"/>
          <p:cNvSpPr/>
          <p:nvPr/>
        </p:nvSpPr>
        <p:spPr>
          <a:xfrm>
            <a:off x="8366760" y="1874520"/>
            <a:ext cx="1508760" cy="822960"/>
          </a:xfrm>
          <a:prstGeom prst="rect">
            <a:avLst/>
          </a:prstGeom>
          <a:noFill/>
          <a:ln/>
        </p:spPr>
        <p:txBody>
          <a:bodyPr wrap="square" lIns="0" tIns="0" rIns="0" bIns="0" rtlCol="0" anchor="ctr"/>
          <a:lstStyle/>
          <a:p>
            <a:pPr indent="0" marL="0">
              <a:buNone/>
            </a:pPr>
            <a:r>
              <a:rPr lang="en-US" sz="3800" b="1" dirty="0">
                <a:solidFill>
                  <a:srgbClr val="0F4C81"/>
                </a:solidFill>
                <a:latin typeface="Calibri" pitchFamily="34" charset="0"/>
                <a:ea typeface="Calibri" pitchFamily="34" charset="-122"/>
                <a:cs typeface="Calibri" pitchFamily="34" charset="-120"/>
              </a:rPr>
              <a:t>60</a:t>
            </a:r>
            <a:endParaRPr lang="en-US" sz="3800" dirty="0"/>
          </a:p>
        </p:txBody>
      </p:sp>
      <p:sp>
        <p:nvSpPr>
          <p:cNvPr id="12" name="Text 10"/>
          <p:cNvSpPr/>
          <p:nvPr/>
        </p:nvSpPr>
        <p:spPr>
          <a:xfrm>
            <a:off x="8366760" y="2697480"/>
            <a:ext cx="150876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총 예제 프로그램</a:t>
            </a:r>
            <a:endParaRPr lang="en-US" sz="1100" dirty="0"/>
          </a:p>
        </p:txBody>
      </p:sp>
      <p:sp>
        <p:nvSpPr>
          <p:cNvPr id="13" name="Shape 11"/>
          <p:cNvSpPr/>
          <p:nvPr/>
        </p:nvSpPr>
        <p:spPr>
          <a:xfrm>
            <a:off x="10104120" y="1691640"/>
            <a:ext cx="1691640" cy="1691640"/>
          </a:xfrm>
          <a:prstGeom prst="rect">
            <a:avLst/>
          </a:prstGeom>
          <a:solidFill>
            <a:srgbClr val="FFFFFF"/>
          </a:solidFill>
          <a:ln w="9525">
            <a:solidFill>
              <a:srgbClr val="E2E8F0"/>
            </a:solidFill>
            <a:prstDash val="solid"/>
          </a:ln>
        </p:spPr>
      </p:sp>
      <p:sp>
        <p:nvSpPr>
          <p:cNvPr id="14" name="Shape 12"/>
          <p:cNvSpPr/>
          <p:nvPr/>
        </p:nvSpPr>
        <p:spPr>
          <a:xfrm>
            <a:off x="10104120" y="1691640"/>
            <a:ext cx="73152" cy="1691640"/>
          </a:xfrm>
          <a:prstGeom prst="rect">
            <a:avLst/>
          </a:prstGeom>
          <a:solidFill>
            <a:srgbClr val="F97316"/>
          </a:solidFill>
          <a:ln/>
        </p:spPr>
      </p:sp>
      <p:sp>
        <p:nvSpPr>
          <p:cNvPr id="15" name="Text 13"/>
          <p:cNvSpPr/>
          <p:nvPr/>
        </p:nvSpPr>
        <p:spPr>
          <a:xfrm>
            <a:off x="10241280" y="1874520"/>
            <a:ext cx="1508760" cy="822960"/>
          </a:xfrm>
          <a:prstGeom prst="rect">
            <a:avLst/>
          </a:prstGeom>
          <a:noFill/>
          <a:ln/>
        </p:spPr>
        <p:txBody>
          <a:bodyPr wrap="square" lIns="0" tIns="0" rIns="0" bIns="0" rtlCol="0" anchor="ctr"/>
          <a:lstStyle/>
          <a:p>
            <a:pPr indent="0" marL="0">
              <a:buNone/>
            </a:pPr>
            <a:r>
              <a:rPr lang="en-US" sz="3800" b="1" dirty="0">
                <a:solidFill>
                  <a:srgbClr val="F97316"/>
                </a:solidFill>
                <a:latin typeface="Calibri" pitchFamily="34" charset="0"/>
                <a:ea typeface="Calibri" pitchFamily="34" charset="-122"/>
                <a:cs typeface="Calibri" pitchFamily="34" charset="-120"/>
              </a:rPr>
              <a:t>15</a:t>
            </a:r>
            <a:endParaRPr lang="en-US" sz="3800" dirty="0"/>
          </a:p>
        </p:txBody>
      </p:sp>
      <p:sp>
        <p:nvSpPr>
          <p:cNvPr id="16" name="Text 14"/>
          <p:cNvSpPr/>
          <p:nvPr/>
        </p:nvSpPr>
        <p:spPr>
          <a:xfrm>
            <a:off x="10241280" y="2697480"/>
            <a:ext cx="150876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src 정규 단계</a:t>
            </a:r>
            <a:endParaRPr lang="en-US" sz="1100" dirty="0"/>
          </a:p>
        </p:txBody>
      </p:sp>
      <p:sp>
        <p:nvSpPr>
          <p:cNvPr id="17" name="Shape 15"/>
          <p:cNvSpPr/>
          <p:nvPr/>
        </p:nvSpPr>
        <p:spPr>
          <a:xfrm>
            <a:off x="8229600" y="3611880"/>
            <a:ext cx="1691640" cy="1691640"/>
          </a:xfrm>
          <a:prstGeom prst="rect">
            <a:avLst/>
          </a:prstGeom>
          <a:solidFill>
            <a:srgbClr val="FFFFFF"/>
          </a:solidFill>
          <a:ln w="9525">
            <a:solidFill>
              <a:srgbClr val="E2E8F0"/>
            </a:solidFill>
            <a:prstDash val="solid"/>
          </a:ln>
        </p:spPr>
      </p:sp>
      <p:sp>
        <p:nvSpPr>
          <p:cNvPr id="18" name="Shape 16"/>
          <p:cNvSpPr/>
          <p:nvPr/>
        </p:nvSpPr>
        <p:spPr>
          <a:xfrm>
            <a:off x="8229600" y="3611880"/>
            <a:ext cx="73152" cy="1691640"/>
          </a:xfrm>
          <a:prstGeom prst="rect">
            <a:avLst/>
          </a:prstGeom>
          <a:solidFill>
            <a:srgbClr val="0078D4"/>
          </a:solidFill>
          <a:ln/>
        </p:spPr>
      </p:sp>
      <p:sp>
        <p:nvSpPr>
          <p:cNvPr id="19" name="Text 17"/>
          <p:cNvSpPr/>
          <p:nvPr/>
        </p:nvSpPr>
        <p:spPr>
          <a:xfrm>
            <a:off x="8366760" y="3794760"/>
            <a:ext cx="1508760" cy="822960"/>
          </a:xfrm>
          <a:prstGeom prst="rect">
            <a:avLst/>
          </a:prstGeom>
          <a:noFill/>
          <a:ln/>
        </p:spPr>
        <p:txBody>
          <a:bodyPr wrap="square" lIns="0" tIns="0" rIns="0" bIns="0" rtlCol="0" anchor="ctr"/>
          <a:lstStyle/>
          <a:p>
            <a:pPr indent="0" marL="0">
              <a:buNone/>
            </a:pPr>
            <a:r>
              <a:rPr lang="en-US" sz="3800" b="1" dirty="0">
                <a:solidFill>
                  <a:srgbClr val="0078D4"/>
                </a:solidFill>
                <a:latin typeface="Calibri" pitchFamily="34" charset="0"/>
                <a:ea typeface="Calibri" pitchFamily="34" charset="-122"/>
                <a:cs typeface="Calibri" pitchFamily="34" charset="-120"/>
              </a:rPr>
              <a:t>11</a:t>
            </a:r>
            <a:endParaRPr lang="en-US" sz="3800" dirty="0"/>
          </a:p>
        </p:txBody>
      </p:sp>
      <p:sp>
        <p:nvSpPr>
          <p:cNvPr id="20" name="Text 18"/>
          <p:cNvSpPr/>
          <p:nvPr/>
        </p:nvSpPr>
        <p:spPr>
          <a:xfrm>
            <a:off x="8366760" y="4617720"/>
            <a:ext cx="150876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src2 채널 확장</a:t>
            </a:r>
            <a:endParaRPr lang="en-US" sz="1100" dirty="0"/>
          </a:p>
        </p:txBody>
      </p:sp>
      <p:sp>
        <p:nvSpPr>
          <p:cNvPr id="21" name="Shape 19"/>
          <p:cNvSpPr/>
          <p:nvPr/>
        </p:nvSpPr>
        <p:spPr>
          <a:xfrm>
            <a:off x="10104120" y="3611880"/>
            <a:ext cx="1691640" cy="1691640"/>
          </a:xfrm>
          <a:prstGeom prst="rect">
            <a:avLst/>
          </a:prstGeom>
          <a:solidFill>
            <a:srgbClr val="FFFFFF"/>
          </a:solidFill>
          <a:ln w="9525">
            <a:solidFill>
              <a:srgbClr val="E2E8F0"/>
            </a:solidFill>
            <a:prstDash val="solid"/>
          </a:ln>
        </p:spPr>
      </p:sp>
      <p:sp>
        <p:nvSpPr>
          <p:cNvPr id="22" name="Shape 20"/>
          <p:cNvSpPr/>
          <p:nvPr/>
        </p:nvSpPr>
        <p:spPr>
          <a:xfrm>
            <a:off x="10104120" y="3611880"/>
            <a:ext cx="73152" cy="1691640"/>
          </a:xfrm>
          <a:prstGeom prst="rect">
            <a:avLst/>
          </a:prstGeom>
          <a:solidFill>
            <a:srgbClr val="059669"/>
          </a:solidFill>
          <a:ln/>
        </p:spPr>
      </p:sp>
      <p:sp>
        <p:nvSpPr>
          <p:cNvPr id="23" name="Text 21"/>
          <p:cNvSpPr/>
          <p:nvPr/>
        </p:nvSpPr>
        <p:spPr>
          <a:xfrm>
            <a:off x="10241280" y="3794760"/>
            <a:ext cx="1508760" cy="822960"/>
          </a:xfrm>
          <a:prstGeom prst="rect">
            <a:avLst/>
          </a:prstGeom>
          <a:noFill/>
          <a:ln/>
        </p:spPr>
        <p:txBody>
          <a:bodyPr wrap="square" lIns="0" tIns="0" rIns="0" bIns="0" rtlCol="0" anchor="ctr"/>
          <a:lstStyle/>
          <a:p>
            <a:pPr indent="0" marL="0">
              <a:buNone/>
            </a:pPr>
            <a:r>
              <a:rPr lang="en-US" sz="3800" b="1" dirty="0">
                <a:solidFill>
                  <a:srgbClr val="059669"/>
                </a:solidFill>
                <a:latin typeface="Calibri" pitchFamily="34" charset="0"/>
                <a:ea typeface="Calibri" pitchFamily="34" charset="-122"/>
                <a:cs typeface="Calibri" pitchFamily="34" charset="-120"/>
              </a:rPr>
              <a:t>4</a:t>
            </a:r>
            <a:endParaRPr lang="en-US" sz="3800" dirty="0"/>
          </a:p>
        </p:txBody>
      </p:sp>
      <p:sp>
        <p:nvSpPr>
          <p:cNvPr id="24" name="Text 22"/>
          <p:cNvSpPr/>
          <p:nvPr/>
        </p:nvSpPr>
        <p:spPr>
          <a:xfrm>
            <a:off x="10241280" y="4617720"/>
            <a:ext cx="150876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보너스 모듈</a:t>
            </a:r>
            <a:endParaRPr lang="en-US" sz="1100" dirty="0"/>
          </a:p>
        </p:txBody>
      </p:sp>
      <p:sp>
        <p:nvSpPr>
          <p:cNvPr id="25" name="Text 23"/>
          <p:cNvSpPr/>
          <p:nvPr/>
        </p:nvSpPr>
        <p:spPr>
          <a:xfrm>
            <a:off x="8229600" y="5532120"/>
            <a:ext cx="3657600" cy="365760"/>
          </a:xfrm>
          <a:prstGeom prst="rect">
            <a:avLst/>
          </a:prstGeom>
          <a:noFill/>
          <a:ln/>
        </p:spPr>
        <p:txBody>
          <a:bodyPr wrap="square" lIns="0" tIns="0" rIns="0" bIns="0" rtlCol="0" anchor="ctr"/>
          <a:lstStyle/>
          <a:p>
            <a:pPr indent="0" marL="0">
              <a:buNone/>
            </a:pPr>
            <a:r>
              <a:rPr lang="en-US" sz="1100" b="1" dirty="0">
                <a:solidFill>
                  <a:srgbClr val="0F4C81"/>
                </a:solidFill>
                <a:latin typeface="Calibri" pitchFamily="34" charset="0"/>
                <a:ea typeface="Calibri" pitchFamily="34" charset="-122"/>
                <a:cs typeface="Calibri" pitchFamily="34" charset="-120"/>
              </a:rPr>
              <a:t>✦  학습 목표:  C#/.NET 으로 MAF 의 15 단계 + 보너스 모듈 + 채널 확장 마스터</a:t>
            </a:r>
            <a:endParaRPr lang="en-US" sz="1100" dirty="0"/>
          </a:p>
        </p:txBody>
      </p:sp>
      <p:sp>
        <p:nvSpPr>
          <p:cNvPr id="26" name="Text 24"/>
          <p:cNvSpPr/>
          <p:nvPr/>
        </p:nvSpPr>
        <p:spPr>
          <a:xfrm>
            <a:off x="8229600" y="5897880"/>
            <a:ext cx="3657600" cy="365760"/>
          </a:xfrm>
          <a:prstGeom prst="rect">
            <a:avLst/>
          </a:prstGeom>
          <a:noFill/>
          <a:ln/>
        </p:spPr>
        <p:txBody>
          <a:bodyPr wrap="square" lIns="0" tIns="0" rIns="0" bIns="0" rtlCol="0" anchor="ctr"/>
          <a:lstStyle/>
          <a:p>
            <a:pPr indent="0" marL="0">
              <a:buNone/>
            </a:pPr>
            <a:r>
              <a:rPr lang="en-US" sz="1100" b="1" dirty="0">
                <a:solidFill>
                  <a:srgbClr val="0F4C81"/>
                </a:solidFill>
                <a:latin typeface="Calibri" pitchFamily="34" charset="0"/>
                <a:ea typeface="Calibri" pitchFamily="34" charset="-122"/>
                <a:cs typeface="Calibri" pitchFamily="34" charset="-120"/>
              </a:rPr>
              <a:t>✦  방향성:  각 프로그램별 "무엇/왜/어떻게" 를 한 장에 정리</a:t>
            </a:r>
            <a:endParaRPr lang="en-US" sz="1100" dirty="0"/>
          </a:p>
        </p:txBody>
      </p:sp>
      <p:sp>
        <p:nvSpPr>
          <p:cNvPr id="27" name="Text 25"/>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8" name="Text 26"/>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SECTION 01 · CURRICULUM</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단계별 학습 곡선</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783080"/>
            <a:ext cx="2697480" cy="420624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783080"/>
            <a:ext cx="2697480" cy="164592"/>
          </a:xfrm>
          <a:prstGeom prst="rect">
            <a:avLst/>
          </a:prstGeom>
          <a:solidFill>
            <a:srgbClr val="059669"/>
          </a:solidFill>
          <a:ln/>
        </p:spPr>
      </p:sp>
      <p:sp>
        <p:nvSpPr>
          <p:cNvPr id="8" name="Text 6"/>
          <p:cNvSpPr/>
          <p:nvPr/>
        </p:nvSpPr>
        <p:spPr>
          <a:xfrm>
            <a:off x="685800" y="2057400"/>
            <a:ext cx="2331720" cy="365760"/>
          </a:xfrm>
          <a:prstGeom prst="rect">
            <a:avLst/>
          </a:prstGeom>
          <a:noFill/>
          <a:ln/>
        </p:spPr>
        <p:txBody>
          <a:bodyPr wrap="square" lIns="0" tIns="0" rIns="0" bIns="0" rtlCol="0" anchor="ctr"/>
          <a:lstStyle/>
          <a:p>
            <a:pPr indent="0" marL="0">
              <a:buNone/>
            </a:pPr>
            <a:r>
              <a:rPr lang="en-US" sz="1400" b="1" dirty="0">
                <a:solidFill>
                  <a:srgbClr val="059669"/>
                </a:solidFill>
                <a:latin typeface="Calibri" pitchFamily="34" charset="0"/>
                <a:ea typeface="Calibri" pitchFamily="34" charset="-122"/>
                <a:cs typeface="Calibri" pitchFamily="34" charset="-120"/>
              </a:rPr>
              <a:t>📘 초급</a:t>
            </a:r>
            <a:endParaRPr lang="en-US" sz="1400" dirty="0"/>
          </a:p>
        </p:txBody>
      </p:sp>
      <p:sp>
        <p:nvSpPr>
          <p:cNvPr id="9" name="Text 7"/>
          <p:cNvSpPr/>
          <p:nvPr/>
        </p:nvSpPr>
        <p:spPr>
          <a:xfrm>
            <a:off x="685800" y="2423160"/>
            <a:ext cx="2331720" cy="640080"/>
          </a:xfrm>
          <a:prstGeom prst="rect">
            <a:avLst/>
          </a:prstGeom>
          <a:noFill/>
          <a:ln/>
        </p:spPr>
        <p:txBody>
          <a:bodyPr wrap="square" lIns="0" tIns="0" rIns="0" bIns="0" rtlCol="0" anchor="ctr"/>
          <a:lstStyle/>
          <a:p>
            <a:pPr indent="0" marL="0">
              <a:buNone/>
            </a:pPr>
            <a:r>
              <a:rPr lang="en-US" sz="1800" b="1" dirty="0">
                <a:solidFill>
                  <a:srgbClr val="0F4C81"/>
                </a:solidFill>
                <a:latin typeface="Calibri" pitchFamily="34" charset="0"/>
                <a:ea typeface="Calibri" pitchFamily="34" charset="-122"/>
                <a:cs typeface="Calibri" pitchFamily="34" charset="-120"/>
              </a:rPr>
              <a:t>기본 개념</a:t>
            </a:r>
            <a:endParaRPr lang="en-US" sz="1800" dirty="0"/>
          </a:p>
        </p:txBody>
      </p:sp>
      <p:sp>
        <p:nvSpPr>
          <p:cNvPr id="10" name="Text 8"/>
          <p:cNvSpPr/>
          <p:nvPr/>
        </p:nvSpPr>
        <p:spPr>
          <a:xfrm>
            <a:off x="685800" y="3063240"/>
            <a:ext cx="2331720" cy="320040"/>
          </a:xfrm>
          <a:prstGeom prst="rect">
            <a:avLst/>
          </a:prstGeom>
          <a:noFill/>
          <a:ln/>
        </p:spPr>
        <p:txBody>
          <a:bodyPr wrap="square" lIns="0" tIns="0" rIns="0" bIns="0" rtlCol="0" anchor="ctr"/>
          <a:lstStyle/>
          <a:p>
            <a:pPr indent="0" marL="0">
              <a:buNone/>
            </a:pPr>
            <a:r>
              <a:rPr lang="en-US" sz="1100" dirty="0">
                <a:solidFill>
                  <a:srgbClr val="64748B"/>
                </a:solidFill>
                <a:latin typeface="Consolas" pitchFamily="34" charset="0"/>
                <a:ea typeface="Consolas" pitchFamily="34" charset="-122"/>
                <a:cs typeface="Consolas" pitchFamily="34" charset="-120"/>
              </a:rPr>
              <a:t>Stage 01 ─ 03</a:t>
            </a:r>
            <a:endParaRPr lang="en-US" sz="1100" dirty="0"/>
          </a:p>
        </p:txBody>
      </p:sp>
      <p:sp>
        <p:nvSpPr>
          <p:cNvPr id="11" name="Shape 9"/>
          <p:cNvSpPr/>
          <p:nvPr/>
        </p:nvSpPr>
        <p:spPr>
          <a:xfrm>
            <a:off x="685800" y="3474720"/>
            <a:ext cx="2331720" cy="0"/>
          </a:xfrm>
          <a:prstGeom prst="line">
            <a:avLst/>
          </a:prstGeom>
          <a:noFill/>
          <a:ln w="9525">
            <a:solidFill>
              <a:srgbClr val="CBD5E1"/>
            </a:solidFill>
            <a:prstDash val="solid"/>
          </a:ln>
        </p:spPr>
      </p:sp>
      <p:sp>
        <p:nvSpPr>
          <p:cNvPr id="12" name="Text 10"/>
          <p:cNvSpPr/>
          <p:nvPr/>
        </p:nvSpPr>
        <p:spPr>
          <a:xfrm>
            <a:off x="685800" y="3611880"/>
            <a:ext cx="2331720" cy="2194560"/>
          </a:xfrm>
          <a:prstGeom prst="rect">
            <a:avLst/>
          </a:prstGeom>
          <a:noFill/>
          <a:ln/>
        </p:spPr>
        <p:txBody>
          <a:bodyPr wrap="square" lIns="0" tIns="0" rIns="0" bIns="0" rtlCol="0" anchor="ctr"/>
          <a:lstStyle/>
          <a:p>
            <a:pPr indent="0" marL="0">
              <a:spcAft>
                <a:spcPts val="400"/>
              </a:spcAft>
              <a:buNone/>
            </a:pPr>
            <a:r>
              <a:rPr lang="en-US" sz="1150" dirty="0">
                <a:solidFill>
                  <a:srgbClr val="1F2937"/>
                </a:solidFill>
                <a:latin typeface="Calibri" pitchFamily="34" charset="0"/>
                <a:ea typeface="Calibri" pitchFamily="34" charset="-122"/>
                <a:cs typeface="Calibri" pitchFamily="34" charset="-120"/>
              </a:rPr>
              <a:t>에이전트 초기화, 단일 Tool, 파일 시스템 연동 같은 가장 기본 개념을 익힙니다. 작은 콘솔 앱으로 결과를 즉시 확인하면서 MAF 의 기본 사용법에 손에 익도록 돕습니다.</a:t>
            </a:r>
            <a:endParaRPr lang="en-US" sz="1150" dirty="0"/>
          </a:p>
        </p:txBody>
      </p:sp>
      <p:sp>
        <p:nvSpPr>
          <p:cNvPr id="13" name="Shape 11"/>
          <p:cNvSpPr/>
          <p:nvPr/>
        </p:nvSpPr>
        <p:spPr>
          <a:xfrm>
            <a:off x="3364992" y="1783080"/>
            <a:ext cx="2697480" cy="420624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4" name="Shape 12"/>
          <p:cNvSpPr/>
          <p:nvPr/>
        </p:nvSpPr>
        <p:spPr>
          <a:xfrm>
            <a:off x="3364992" y="1783080"/>
            <a:ext cx="2697480" cy="164592"/>
          </a:xfrm>
          <a:prstGeom prst="rect">
            <a:avLst/>
          </a:prstGeom>
          <a:solidFill>
            <a:srgbClr val="0078D4"/>
          </a:solidFill>
          <a:ln/>
        </p:spPr>
      </p:sp>
      <p:sp>
        <p:nvSpPr>
          <p:cNvPr id="15" name="Text 13"/>
          <p:cNvSpPr/>
          <p:nvPr/>
        </p:nvSpPr>
        <p:spPr>
          <a:xfrm>
            <a:off x="3547872" y="2057400"/>
            <a:ext cx="2331720" cy="365760"/>
          </a:xfrm>
          <a:prstGeom prst="rect">
            <a:avLst/>
          </a:prstGeom>
          <a:noFill/>
          <a:ln/>
        </p:spPr>
        <p:txBody>
          <a:bodyPr wrap="square" lIns="0" tIns="0" rIns="0" bIns="0" rtlCol="0" anchor="ctr"/>
          <a:lstStyle/>
          <a:p>
            <a:pPr indent="0" marL="0">
              <a:buNone/>
            </a:pPr>
            <a:r>
              <a:rPr lang="en-US" sz="1400" b="1" dirty="0">
                <a:solidFill>
                  <a:srgbClr val="0078D4"/>
                </a:solidFill>
                <a:latin typeface="Calibri" pitchFamily="34" charset="0"/>
                <a:ea typeface="Calibri" pitchFamily="34" charset="-122"/>
                <a:cs typeface="Calibri" pitchFamily="34" charset="-120"/>
              </a:rPr>
              <a:t>📗 중급</a:t>
            </a:r>
            <a:endParaRPr lang="en-US" sz="1400" dirty="0"/>
          </a:p>
        </p:txBody>
      </p:sp>
      <p:sp>
        <p:nvSpPr>
          <p:cNvPr id="16" name="Text 14"/>
          <p:cNvSpPr/>
          <p:nvPr/>
        </p:nvSpPr>
        <p:spPr>
          <a:xfrm>
            <a:off x="3547872" y="2423160"/>
            <a:ext cx="2331720" cy="640080"/>
          </a:xfrm>
          <a:prstGeom prst="rect">
            <a:avLst/>
          </a:prstGeom>
          <a:noFill/>
          <a:ln/>
        </p:spPr>
        <p:txBody>
          <a:bodyPr wrap="square" lIns="0" tIns="0" rIns="0" bIns="0" rtlCol="0" anchor="ctr"/>
          <a:lstStyle/>
          <a:p>
            <a:pPr indent="0" marL="0">
              <a:buNone/>
            </a:pPr>
            <a:r>
              <a:rPr lang="en-US" sz="1800" b="1" dirty="0">
                <a:solidFill>
                  <a:srgbClr val="0F4C81"/>
                </a:solidFill>
                <a:latin typeface="Calibri" pitchFamily="34" charset="0"/>
                <a:ea typeface="Calibri" pitchFamily="34" charset="-122"/>
                <a:cs typeface="Calibri" pitchFamily="34" charset="-120"/>
              </a:rPr>
              <a:t>실무 활용</a:t>
            </a:r>
            <a:endParaRPr lang="en-US" sz="1800" dirty="0"/>
          </a:p>
        </p:txBody>
      </p:sp>
      <p:sp>
        <p:nvSpPr>
          <p:cNvPr id="17" name="Text 15"/>
          <p:cNvSpPr/>
          <p:nvPr/>
        </p:nvSpPr>
        <p:spPr>
          <a:xfrm>
            <a:off x="3547872" y="3063240"/>
            <a:ext cx="2331720" cy="320040"/>
          </a:xfrm>
          <a:prstGeom prst="rect">
            <a:avLst/>
          </a:prstGeom>
          <a:noFill/>
          <a:ln/>
        </p:spPr>
        <p:txBody>
          <a:bodyPr wrap="square" lIns="0" tIns="0" rIns="0" bIns="0" rtlCol="0" anchor="ctr"/>
          <a:lstStyle/>
          <a:p>
            <a:pPr indent="0" marL="0">
              <a:buNone/>
            </a:pPr>
            <a:r>
              <a:rPr lang="en-US" sz="1100" dirty="0">
                <a:solidFill>
                  <a:srgbClr val="64748B"/>
                </a:solidFill>
                <a:latin typeface="Consolas" pitchFamily="34" charset="0"/>
                <a:ea typeface="Consolas" pitchFamily="34" charset="-122"/>
                <a:cs typeface="Consolas" pitchFamily="34" charset="-120"/>
              </a:rPr>
              <a:t>Stage 04 ─ 07</a:t>
            </a:r>
            <a:endParaRPr lang="en-US" sz="1100" dirty="0"/>
          </a:p>
        </p:txBody>
      </p:sp>
      <p:sp>
        <p:nvSpPr>
          <p:cNvPr id="18" name="Shape 16"/>
          <p:cNvSpPr/>
          <p:nvPr/>
        </p:nvSpPr>
        <p:spPr>
          <a:xfrm>
            <a:off x="3547872" y="3474720"/>
            <a:ext cx="2331720" cy="0"/>
          </a:xfrm>
          <a:prstGeom prst="line">
            <a:avLst/>
          </a:prstGeom>
          <a:noFill/>
          <a:ln w="9525">
            <a:solidFill>
              <a:srgbClr val="CBD5E1"/>
            </a:solidFill>
            <a:prstDash val="solid"/>
          </a:ln>
        </p:spPr>
      </p:sp>
      <p:sp>
        <p:nvSpPr>
          <p:cNvPr id="19" name="Text 17"/>
          <p:cNvSpPr/>
          <p:nvPr/>
        </p:nvSpPr>
        <p:spPr>
          <a:xfrm>
            <a:off x="3547872" y="3611880"/>
            <a:ext cx="2331720" cy="2194560"/>
          </a:xfrm>
          <a:prstGeom prst="rect">
            <a:avLst/>
          </a:prstGeom>
          <a:noFill/>
          <a:ln/>
        </p:spPr>
        <p:txBody>
          <a:bodyPr wrap="square" lIns="0" tIns="0" rIns="0" bIns="0" rtlCol="0" anchor="ctr"/>
          <a:lstStyle/>
          <a:p>
            <a:pPr indent="0" marL="0">
              <a:spcAft>
                <a:spcPts val="400"/>
              </a:spcAft>
              <a:buNone/>
            </a:pPr>
            <a:r>
              <a:rPr lang="en-US" sz="1150" dirty="0">
                <a:solidFill>
                  <a:srgbClr val="1F2937"/>
                </a:solidFill>
                <a:latin typeface="Calibri" pitchFamily="34" charset="0"/>
                <a:ea typeface="Calibri" pitchFamily="34" charset="-122"/>
                <a:cs typeface="Calibri" pitchFamily="34" charset="-120"/>
              </a:rPr>
              <a:t>복수 Tool 조합, REST API 연동, 데이터베이스 안전 쿼리, RAG 와 Vector Store 까지 학습합니다. 이 단계부터는 실무에 바로 응용 가능한 패턴들이 등장합니다.</a:t>
            </a:r>
            <a:endParaRPr lang="en-US" sz="1150" dirty="0"/>
          </a:p>
        </p:txBody>
      </p:sp>
      <p:sp>
        <p:nvSpPr>
          <p:cNvPr id="20" name="Shape 18"/>
          <p:cNvSpPr/>
          <p:nvPr/>
        </p:nvSpPr>
        <p:spPr>
          <a:xfrm>
            <a:off x="6227064" y="1783080"/>
            <a:ext cx="2697480" cy="420624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1" name="Shape 19"/>
          <p:cNvSpPr/>
          <p:nvPr/>
        </p:nvSpPr>
        <p:spPr>
          <a:xfrm>
            <a:off x="6227064" y="1783080"/>
            <a:ext cx="2697480" cy="164592"/>
          </a:xfrm>
          <a:prstGeom prst="rect">
            <a:avLst/>
          </a:prstGeom>
          <a:solidFill>
            <a:srgbClr val="F97316"/>
          </a:solidFill>
          <a:ln/>
        </p:spPr>
      </p:sp>
      <p:sp>
        <p:nvSpPr>
          <p:cNvPr id="22" name="Text 20"/>
          <p:cNvSpPr/>
          <p:nvPr/>
        </p:nvSpPr>
        <p:spPr>
          <a:xfrm>
            <a:off x="6409944" y="2057400"/>
            <a:ext cx="2331720" cy="365760"/>
          </a:xfrm>
          <a:prstGeom prst="rect">
            <a:avLst/>
          </a:prstGeom>
          <a:noFill/>
          <a:ln/>
        </p:spPr>
        <p:txBody>
          <a:bodyPr wrap="square" lIns="0" tIns="0" rIns="0" bIns="0"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 고급</a:t>
            </a:r>
            <a:endParaRPr lang="en-US" sz="1400" dirty="0"/>
          </a:p>
        </p:txBody>
      </p:sp>
      <p:sp>
        <p:nvSpPr>
          <p:cNvPr id="23" name="Text 21"/>
          <p:cNvSpPr/>
          <p:nvPr/>
        </p:nvSpPr>
        <p:spPr>
          <a:xfrm>
            <a:off x="6409944" y="2423160"/>
            <a:ext cx="2331720" cy="640080"/>
          </a:xfrm>
          <a:prstGeom prst="rect">
            <a:avLst/>
          </a:prstGeom>
          <a:noFill/>
          <a:ln/>
        </p:spPr>
        <p:txBody>
          <a:bodyPr wrap="square" lIns="0" tIns="0" rIns="0" bIns="0" rtlCol="0" anchor="ctr"/>
          <a:lstStyle/>
          <a:p>
            <a:pPr indent="0" marL="0">
              <a:buNone/>
            </a:pPr>
            <a:r>
              <a:rPr lang="en-US" sz="1800" b="1" dirty="0">
                <a:solidFill>
                  <a:srgbClr val="0F4C81"/>
                </a:solidFill>
                <a:latin typeface="Calibri" pitchFamily="34" charset="0"/>
                <a:ea typeface="Calibri" pitchFamily="34" charset="-122"/>
                <a:cs typeface="Calibri" pitchFamily="34" charset="-120"/>
              </a:rPr>
              <a:t>복잡한 워크플로우</a:t>
            </a:r>
            <a:endParaRPr lang="en-US" sz="1800" dirty="0"/>
          </a:p>
        </p:txBody>
      </p:sp>
      <p:sp>
        <p:nvSpPr>
          <p:cNvPr id="24" name="Text 22"/>
          <p:cNvSpPr/>
          <p:nvPr/>
        </p:nvSpPr>
        <p:spPr>
          <a:xfrm>
            <a:off x="6409944" y="3063240"/>
            <a:ext cx="2331720" cy="320040"/>
          </a:xfrm>
          <a:prstGeom prst="rect">
            <a:avLst/>
          </a:prstGeom>
          <a:noFill/>
          <a:ln/>
        </p:spPr>
        <p:txBody>
          <a:bodyPr wrap="square" lIns="0" tIns="0" rIns="0" bIns="0" rtlCol="0" anchor="ctr"/>
          <a:lstStyle/>
          <a:p>
            <a:pPr indent="0" marL="0">
              <a:buNone/>
            </a:pPr>
            <a:r>
              <a:rPr lang="en-US" sz="1100" dirty="0">
                <a:solidFill>
                  <a:srgbClr val="64748B"/>
                </a:solidFill>
                <a:latin typeface="Consolas" pitchFamily="34" charset="0"/>
                <a:ea typeface="Consolas" pitchFamily="34" charset="-122"/>
                <a:cs typeface="Consolas" pitchFamily="34" charset="-120"/>
              </a:rPr>
              <a:t>Stage 08 ─ 12</a:t>
            </a:r>
            <a:endParaRPr lang="en-US" sz="1100" dirty="0"/>
          </a:p>
        </p:txBody>
      </p:sp>
      <p:sp>
        <p:nvSpPr>
          <p:cNvPr id="25" name="Shape 23"/>
          <p:cNvSpPr/>
          <p:nvPr/>
        </p:nvSpPr>
        <p:spPr>
          <a:xfrm>
            <a:off x="6409944" y="3474720"/>
            <a:ext cx="2331720" cy="0"/>
          </a:xfrm>
          <a:prstGeom prst="line">
            <a:avLst/>
          </a:prstGeom>
          <a:noFill/>
          <a:ln w="9525">
            <a:solidFill>
              <a:srgbClr val="CBD5E1"/>
            </a:solidFill>
            <a:prstDash val="solid"/>
          </a:ln>
        </p:spPr>
      </p:sp>
      <p:sp>
        <p:nvSpPr>
          <p:cNvPr id="26" name="Text 24"/>
          <p:cNvSpPr/>
          <p:nvPr/>
        </p:nvSpPr>
        <p:spPr>
          <a:xfrm>
            <a:off x="6409944" y="3611880"/>
            <a:ext cx="2331720" cy="2194560"/>
          </a:xfrm>
          <a:prstGeom prst="rect">
            <a:avLst/>
          </a:prstGeom>
          <a:noFill/>
          <a:ln/>
        </p:spPr>
        <p:txBody>
          <a:bodyPr wrap="square" lIns="0" tIns="0" rIns="0" bIns="0" rtlCol="0" anchor="ctr"/>
          <a:lstStyle/>
          <a:p>
            <a:pPr indent="0" marL="0">
              <a:spcAft>
                <a:spcPts val="400"/>
              </a:spcAft>
              <a:buNone/>
            </a:pPr>
            <a:r>
              <a:rPr lang="en-US" sz="1150" dirty="0">
                <a:solidFill>
                  <a:srgbClr val="1F2937"/>
                </a:solidFill>
                <a:latin typeface="Calibri" pitchFamily="34" charset="0"/>
                <a:ea typeface="Calibri" pitchFamily="34" charset="-122"/>
                <a:cs typeface="Calibri" pitchFamily="34" charset="-120"/>
              </a:rPr>
              <a:t>Sequential / Graph 워크플로우, Human-in-the-Loop 의 Checkpointing, 실시간 스트리밍, 멀티모달 처리까지. 시스템 단위로 사고하는 능력이 길러집니다.</a:t>
            </a:r>
            <a:endParaRPr lang="en-US" sz="1150" dirty="0"/>
          </a:p>
        </p:txBody>
      </p:sp>
      <p:sp>
        <p:nvSpPr>
          <p:cNvPr id="27" name="Shape 25"/>
          <p:cNvSpPr/>
          <p:nvPr/>
        </p:nvSpPr>
        <p:spPr>
          <a:xfrm>
            <a:off x="9089136" y="1783080"/>
            <a:ext cx="2697480" cy="420624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8" name="Shape 26"/>
          <p:cNvSpPr/>
          <p:nvPr/>
        </p:nvSpPr>
        <p:spPr>
          <a:xfrm>
            <a:off x="9089136" y="1783080"/>
            <a:ext cx="2697480" cy="164592"/>
          </a:xfrm>
          <a:prstGeom prst="rect">
            <a:avLst/>
          </a:prstGeom>
          <a:solidFill>
            <a:srgbClr val="0F4C81"/>
          </a:solidFill>
          <a:ln/>
        </p:spPr>
      </p:sp>
      <p:sp>
        <p:nvSpPr>
          <p:cNvPr id="29" name="Text 27"/>
          <p:cNvSpPr/>
          <p:nvPr/>
        </p:nvSpPr>
        <p:spPr>
          <a:xfrm>
            <a:off x="9272016" y="2057400"/>
            <a:ext cx="2331720" cy="365760"/>
          </a:xfrm>
          <a:prstGeom prst="rect">
            <a:avLst/>
          </a:prstGeom>
          <a:noFill/>
          <a:ln/>
        </p:spPr>
        <p:txBody>
          <a:bodyPr wrap="square" lIns="0" tIns="0" rIns="0" bIns="0" rtlCol="0" anchor="ctr"/>
          <a:lstStyle/>
          <a:p>
            <a:pPr indent="0" marL="0">
              <a:buNone/>
            </a:pPr>
            <a:r>
              <a:rPr lang="en-US" sz="1400" b="1" dirty="0">
                <a:solidFill>
                  <a:srgbClr val="0F4C81"/>
                </a:solidFill>
                <a:latin typeface="Calibri" pitchFamily="34" charset="0"/>
                <a:ea typeface="Calibri" pitchFamily="34" charset="-122"/>
                <a:cs typeface="Calibri" pitchFamily="34" charset="-120"/>
              </a:rPr>
              <a:t>📕 전문가</a:t>
            </a:r>
            <a:endParaRPr lang="en-US" sz="1400" dirty="0"/>
          </a:p>
        </p:txBody>
      </p:sp>
      <p:sp>
        <p:nvSpPr>
          <p:cNvPr id="30" name="Text 28"/>
          <p:cNvSpPr/>
          <p:nvPr/>
        </p:nvSpPr>
        <p:spPr>
          <a:xfrm>
            <a:off x="9272016" y="2423160"/>
            <a:ext cx="2331720" cy="640080"/>
          </a:xfrm>
          <a:prstGeom prst="rect">
            <a:avLst/>
          </a:prstGeom>
          <a:noFill/>
          <a:ln/>
        </p:spPr>
        <p:txBody>
          <a:bodyPr wrap="square" lIns="0" tIns="0" rIns="0" bIns="0" rtlCol="0" anchor="ctr"/>
          <a:lstStyle/>
          <a:p>
            <a:pPr indent="0" marL="0">
              <a:buNone/>
            </a:pPr>
            <a:r>
              <a:rPr lang="en-US" sz="1800" b="1" dirty="0">
                <a:solidFill>
                  <a:srgbClr val="0F4C81"/>
                </a:solidFill>
                <a:latin typeface="Calibri" pitchFamily="34" charset="0"/>
                <a:ea typeface="Calibri" pitchFamily="34" charset="-122"/>
                <a:cs typeface="Calibri" pitchFamily="34" charset="-120"/>
              </a:rPr>
              <a:t>엔터프라이즈급</a:t>
            </a:r>
            <a:endParaRPr lang="en-US" sz="1800" dirty="0"/>
          </a:p>
        </p:txBody>
      </p:sp>
      <p:sp>
        <p:nvSpPr>
          <p:cNvPr id="31" name="Text 29"/>
          <p:cNvSpPr/>
          <p:nvPr/>
        </p:nvSpPr>
        <p:spPr>
          <a:xfrm>
            <a:off x="9272016" y="3063240"/>
            <a:ext cx="2331720" cy="320040"/>
          </a:xfrm>
          <a:prstGeom prst="rect">
            <a:avLst/>
          </a:prstGeom>
          <a:noFill/>
          <a:ln/>
        </p:spPr>
        <p:txBody>
          <a:bodyPr wrap="square" lIns="0" tIns="0" rIns="0" bIns="0" rtlCol="0" anchor="ctr"/>
          <a:lstStyle/>
          <a:p>
            <a:pPr indent="0" marL="0">
              <a:buNone/>
            </a:pPr>
            <a:r>
              <a:rPr lang="en-US" sz="1100" dirty="0">
                <a:solidFill>
                  <a:srgbClr val="64748B"/>
                </a:solidFill>
                <a:latin typeface="Consolas" pitchFamily="34" charset="0"/>
                <a:ea typeface="Consolas" pitchFamily="34" charset="-122"/>
                <a:cs typeface="Consolas" pitchFamily="34" charset="-120"/>
              </a:rPr>
              <a:t>Stage 13 ─ 15</a:t>
            </a:r>
            <a:endParaRPr lang="en-US" sz="1100" dirty="0"/>
          </a:p>
        </p:txBody>
      </p:sp>
      <p:sp>
        <p:nvSpPr>
          <p:cNvPr id="32" name="Shape 30"/>
          <p:cNvSpPr/>
          <p:nvPr/>
        </p:nvSpPr>
        <p:spPr>
          <a:xfrm>
            <a:off x="9272016" y="3474720"/>
            <a:ext cx="2331720" cy="0"/>
          </a:xfrm>
          <a:prstGeom prst="line">
            <a:avLst/>
          </a:prstGeom>
          <a:noFill/>
          <a:ln w="9525">
            <a:solidFill>
              <a:srgbClr val="CBD5E1"/>
            </a:solidFill>
            <a:prstDash val="solid"/>
          </a:ln>
        </p:spPr>
      </p:sp>
      <p:sp>
        <p:nvSpPr>
          <p:cNvPr id="33" name="Text 31"/>
          <p:cNvSpPr/>
          <p:nvPr/>
        </p:nvSpPr>
        <p:spPr>
          <a:xfrm>
            <a:off x="9272016" y="3611880"/>
            <a:ext cx="2331720" cy="2194560"/>
          </a:xfrm>
          <a:prstGeom prst="rect">
            <a:avLst/>
          </a:prstGeom>
          <a:noFill/>
          <a:ln/>
        </p:spPr>
        <p:txBody>
          <a:bodyPr wrap="square" lIns="0" tIns="0" rIns="0" bIns="0" rtlCol="0" anchor="ctr"/>
          <a:lstStyle/>
          <a:p>
            <a:pPr indent="0" marL="0">
              <a:spcAft>
                <a:spcPts val="400"/>
              </a:spcAft>
              <a:buNone/>
            </a:pPr>
            <a:r>
              <a:rPr lang="en-US" sz="1150" dirty="0">
                <a:solidFill>
                  <a:srgbClr val="1F2937"/>
                </a:solidFill>
                <a:latin typeface="Calibri" pitchFamily="34" charset="0"/>
                <a:ea typeface="Calibri" pitchFamily="34" charset="-122"/>
                <a:cs typeface="Calibri" pitchFamily="34" charset="-120"/>
              </a:rPr>
              <a:t>다중 데이터 소스 통합, 시뮬레이션·최적화, 프로덕션 배포와 Observability 까지. 실서비스에 가까운 통합 시스템을 직접 구축합니다.</a:t>
            </a:r>
            <a:endParaRPr lang="en-US" sz="1150" dirty="0"/>
          </a:p>
        </p:txBody>
      </p:sp>
      <p:sp>
        <p:nvSpPr>
          <p:cNvPr id="34" name="Text 32"/>
          <p:cNvSpPr/>
          <p:nvPr/>
        </p:nvSpPr>
        <p:spPr>
          <a:xfrm>
            <a:off x="548640" y="6035040"/>
            <a:ext cx="11064240" cy="32004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각 단계는 독립적으로 실행 가능하지만, 이전 단계의 개념을 자연스럽게 누적하므로 순서대로 따라가는 것을 권장합니다.</a:t>
            </a:r>
            <a:endParaRPr lang="en-US" sz="1200" dirty="0"/>
          </a:p>
        </p:txBody>
      </p:sp>
      <p:sp>
        <p:nvSpPr>
          <p:cNvPr id="35" name="Text 33"/>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36" name="Text 34"/>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SECTION 02 · TECH STACK</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기술 스택</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11155680" cy="4572000"/>
        </p:xfrm>
        <a:graphic>
          <a:graphicData uri="http://schemas.openxmlformats.org/drawingml/2006/table">
            <a:tbl>
              <a:tblPr/>
              <a:tblGrid>
                <a:gridCol w="1554480"/>
                <a:gridCol w="3931920"/>
                <a:gridCol w="5669280"/>
              </a:tblGrid>
              <a:tr h="5715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언어</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4C81"/>
                    </a:solidFill>
                  </a:tcPr>
                </a:tc>
                <a:tc>
                  <a:txBody>
                    <a:bodyPr/>
                    <a:lstStyle/>
                    <a:p>
                      <a:pPr indent="0" marL="0">
                        <a:buNone/>
                      </a:pPr>
                      <a:r>
                        <a:rPr lang="en-US" sz="1100" b="1" dirty="0">
                          <a:solidFill>
                            <a:srgbClr val="0F4C81"/>
                          </a:solidFill>
                          <a:latin typeface="Calibri" pitchFamily="34" charset="0"/>
                          <a:ea typeface="Calibri" pitchFamily="34" charset="-122"/>
                          <a:cs typeface="Calibri" pitchFamily="34" charset="-120"/>
                        </a:rPr>
                        <a:t>C# 12 / .NET 10 (src2) · .NET 8 (src)</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최신 C# 문법(Primary Constructor, Required Member, Collection Expression)과 .NET 의 비동기/스트리밍 기능을 적극 활용합니다.</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715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Agent Framework</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4C81"/>
                    </a:solidFill>
                  </a:tcPr>
                </a:tc>
                <a:tc>
                  <a:txBody>
                    <a:bodyPr/>
                    <a:lstStyle/>
                    <a:p>
                      <a:pPr indent="0" marL="0">
                        <a:buNone/>
                      </a:pPr>
                      <a:r>
                        <a:rPr lang="en-US" sz="1100" b="1" dirty="0">
                          <a:solidFill>
                            <a:srgbClr val="0F4C81"/>
                          </a:solidFill>
                          <a:latin typeface="Calibri" pitchFamily="34" charset="0"/>
                          <a:ea typeface="Calibri" pitchFamily="34" charset="-122"/>
                          <a:cs typeface="Calibri" pitchFamily="34" charset="-120"/>
                        </a:rPr>
                        <a:t>Microsoft Agent Framework (Microsoft.Agents.AI.OpenAI)</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AsAIAgent(), ChatClientAgentOptions, AIContextProvider, Workflow 등 MAF 의 모든 핵심 추상화를 단계적으로 다룹니다.</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715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LLM 제공자</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4C81"/>
                    </a:solidFill>
                  </a:tcPr>
                </a:tc>
                <a:tc>
                  <a:txBody>
                    <a:bodyPr/>
                    <a:lstStyle/>
                    <a:p>
                      <a:pPr indent="0" marL="0">
                        <a:buNone/>
                      </a:pPr>
                      <a:r>
                        <a:rPr lang="en-US" sz="1100" b="1" dirty="0">
                          <a:solidFill>
                            <a:srgbClr val="0F4C81"/>
                          </a:solidFill>
                          <a:latin typeface="Calibri" pitchFamily="34" charset="0"/>
                          <a:ea typeface="Calibri" pitchFamily="34" charset="-122"/>
                          <a:cs typeface="Calibri" pitchFamily="34" charset="-120"/>
                        </a:rPr>
                        <a:t>Azure OpenAI · OpenAI · Anthropic</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OPENAI_BASE_URL 환경변수로 호환 엔드포인트(Azure, 로컬 LM Studio 등) 자유롭게 전환.</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715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Vector Store</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4C81"/>
                    </a:solidFill>
                  </a:tcPr>
                </a:tc>
                <a:tc>
                  <a:txBody>
                    <a:bodyPr/>
                    <a:lstStyle/>
                    <a:p>
                      <a:pPr indent="0" marL="0">
                        <a:buNone/>
                      </a:pPr>
                      <a:r>
                        <a:rPr lang="en-US" sz="1100" b="1" dirty="0">
                          <a:solidFill>
                            <a:srgbClr val="0F4C81"/>
                          </a:solidFill>
                          <a:latin typeface="Calibri" pitchFamily="34" charset="0"/>
                          <a:ea typeface="Calibri" pitchFamily="34" charset="-122"/>
                          <a:cs typeface="Calibri" pitchFamily="34" charset="-120"/>
                        </a:rPr>
                        <a:t>Azure AI Search · Chroma · InMemoryVectorStore</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Stage 07 RAG 와 ContextualFunctionProvider 패턴 학습에 활용.</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715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데이터베이스</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4C81"/>
                    </a:solidFill>
                  </a:tcPr>
                </a:tc>
                <a:tc>
                  <a:txBody>
                    <a:bodyPr/>
                    <a:lstStyle/>
                    <a:p>
                      <a:pPr indent="0" marL="0">
                        <a:buNone/>
                      </a:pPr>
                      <a:r>
                        <a:rPr lang="en-US" sz="1100" b="1" dirty="0">
                          <a:solidFill>
                            <a:srgbClr val="0F4C81"/>
                          </a:solidFill>
                          <a:latin typeface="Calibri" pitchFamily="34" charset="0"/>
                          <a:ea typeface="Calibri" pitchFamily="34" charset="-122"/>
                          <a:cs typeface="Calibri" pitchFamily="34" charset="-120"/>
                        </a:rPr>
                        <a:t>SQLite · PostgreSQL</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Stage 06 에서 SQL 인젝션 방지, NL-to-SQL 패턴 학습.</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715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테스트</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4C81"/>
                    </a:solidFill>
                  </a:tcPr>
                </a:tc>
                <a:tc>
                  <a:txBody>
                    <a:bodyPr/>
                    <a:lstStyle/>
                    <a:p>
                      <a:pPr indent="0" marL="0">
                        <a:buNone/>
                      </a:pPr>
                      <a:r>
                        <a:rPr lang="en-US" sz="1100" b="1" dirty="0">
                          <a:solidFill>
                            <a:srgbClr val="0F4C81"/>
                          </a:solidFill>
                          <a:latin typeface="Calibri" pitchFamily="34" charset="0"/>
                          <a:ea typeface="Calibri" pitchFamily="34" charset="-122"/>
                          <a:cs typeface="Calibri" pitchFamily="34" charset="-120"/>
                        </a:rPr>
                        <a:t>xUnit · Moq</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src 트랙 tests/ 디렉토리에 단위 테스트 포함 (src2 는 교육 집중을 위해 생략).</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715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CI / CD</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4C81"/>
                    </a:solidFill>
                  </a:tcPr>
                </a:tc>
                <a:tc>
                  <a:txBody>
                    <a:bodyPr/>
                    <a:lstStyle/>
                    <a:p>
                      <a:pPr indent="0" marL="0">
                        <a:buNone/>
                      </a:pPr>
                      <a:r>
                        <a:rPr lang="en-US" sz="1100" b="1" dirty="0">
                          <a:solidFill>
                            <a:srgbClr val="0F4C81"/>
                          </a:solidFill>
                          <a:latin typeface="Calibri" pitchFamily="34" charset="0"/>
                          <a:ea typeface="Calibri" pitchFamily="34" charset="-122"/>
                          <a:cs typeface="Calibri" pitchFamily="34" charset="-120"/>
                        </a:rPr>
                        <a:t>GitHub Actions</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전문가 단계에서 자동 빌드·테스트·배포 파이프라인 학습.</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715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관측 / 배포</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4C81"/>
                    </a:solidFill>
                  </a:tcPr>
                </a:tc>
                <a:tc>
                  <a:txBody>
                    <a:bodyPr/>
                    <a:lstStyle/>
                    <a:p>
                      <a:pPr indent="0" marL="0">
                        <a:buNone/>
                      </a:pPr>
                      <a:r>
                        <a:rPr lang="en-US" sz="1100" b="1" dirty="0">
                          <a:solidFill>
                            <a:srgbClr val="0F4C81"/>
                          </a:solidFill>
                          <a:latin typeface="Calibri" pitchFamily="34" charset="0"/>
                          <a:ea typeface="Calibri" pitchFamily="34" charset="-122"/>
                          <a:cs typeface="Calibri" pitchFamily="34" charset="-120"/>
                        </a:rPr>
                        <a:t>OpenTelemetry · Docker · Serilog</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Stage 11 Gateway, Stage 15 Copilot 단계에서 프로덕션 운영 패턴 다룸.</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7" name="Text 4"/>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8" name="Text 5"/>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SECTION 02 · LAYOUT</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두 트랙 구조: src 와 src2</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Text 4"/>
          <p:cNvSpPr/>
          <p:nvPr/>
        </p:nvSpPr>
        <p:spPr>
          <a:xfrm>
            <a:off x="548640" y="1554480"/>
            <a:ext cx="11064240" cy="45720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프로젝트는 서로 보완적인 두 트랙으로 구성됩니다. 동일한 MAF 를 다른 각도에서 다루며, 각자의 강점이 명확합니다.</a:t>
            </a:r>
            <a:endParaRPr lang="en-US" sz="1300" dirty="0"/>
          </a:p>
        </p:txBody>
      </p:sp>
      <p:sp>
        <p:nvSpPr>
          <p:cNvPr id="7" name="Shape 5"/>
          <p:cNvSpPr/>
          <p:nvPr/>
        </p:nvSpPr>
        <p:spPr>
          <a:xfrm>
            <a:off x="502920" y="2103120"/>
            <a:ext cx="5532120" cy="411480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8" name="Shape 6"/>
          <p:cNvSpPr/>
          <p:nvPr/>
        </p:nvSpPr>
        <p:spPr>
          <a:xfrm>
            <a:off x="502920" y="2103120"/>
            <a:ext cx="5532120" cy="502920"/>
          </a:xfrm>
          <a:prstGeom prst="rect">
            <a:avLst/>
          </a:prstGeom>
          <a:solidFill>
            <a:srgbClr val="0F4C81"/>
          </a:solidFill>
          <a:ln/>
        </p:spPr>
      </p:sp>
      <p:sp>
        <p:nvSpPr>
          <p:cNvPr id="9" name="Text 7"/>
          <p:cNvSpPr/>
          <p:nvPr/>
        </p:nvSpPr>
        <p:spPr>
          <a:xfrm>
            <a:off x="640080" y="2121408"/>
            <a:ext cx="5303520" cy="457200"/>
          </a:xfrm>
          <a:prstGeom prst="rect">
            <a:avLst/>
          </a:prstGeom>
          <a:noFill/>
          <a:ln/>
        </p:spPr>
        <p:txBody>
          <a:bodyPr wrap="square" lIns="0" tIns="0" rIns="0" bIns="0" rtlCol="0" anchor="ctr"/>
          <a:lstStyle/>
          <a:p>
            <a:pPr indent="0" marL="0">
              <a:buNone/>
            </a:pPr>
            <a:r>
              <a:rPr lang="en-US" sz="1200" b="1" dirty="0">
                <a:solidFill>
                  <a:srgbClr val="FFFFFF"/>
                </a:solidFill>
                <a:latin typeface="Consolas" pitchFamily="34" charset="0"/>
                <a:ea typeface="Consolas" pitchFamily="34" charset="-122"/>
                <a:cs typeface="Consolas" pitchFamily="34" charset="-120"/>
              </a:rPr>
              <a:t>src/   ─   게임 도메인 학습 트랙 (15 단계 × 3 + 보너스 4 = 49 개)</a:t>
            </a:r>
            <a:endParaRPr lang="en-US" sz="1200" dirty="0"/>
          </a:p>
        </p:txBody>
      </p:sp>
      <p:sp>
        <p:nvSpPr>
          <p:cNvPr id="10" name="Text 8"/>
          <p:cNvSpPr/>
          <p:nvPr/>
        </p:nvSpPr>
        <p:spPr>
          <a:xfrm>
            <a:off x="640080" y="2743200"/>
            <a:ext cx="5257800" cy="2286000"/>
          </a:xfrm>
          <a:prstGeom prst="rect">
            <a:avLst/>
          </a:prstGeom>
          <a:noFill/>
          <a:ln/>
        </p:spPr>
        <p:txBody>
          <a:bodyPr wrap="square" lIns="0" tIns="0" rIns="0" bIns="0" rtlCol="0" anchor="ctr"/>
          <a:lstStyle/>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Stage01_TextAgent / Stage02_SingleTool / Stage03_FileSystem
</a:t>
            </a:r>
            <a:endParaRPr lang="en-US" sz="1100" dirty="0"/>
          </a:p>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Stage04_MultiTool / Stage05_ExternalAPI / Stage06_Database
</a:t>
            </a:r>
            <a:endParaRPr lang="en-US" sz="1100" dirty="0"/>
          </a:p>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Stage07_RAG / Stage08_MultiAgent / Stage09_WorkflowQA
</a:t>
            </a:r>
            <a:endParaRPr lang="en-US" sz="1100" dirty="0"/>
          </a:p>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Stage10_HumanInTheLoop / Stage11_RealtimeAnalysis
</a:t>
            </a:r>
            <a:endParaRPr lang="en-US" sz="1100" dirty="0"/>
          </a:p>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Stage12_Multimodal / Stage13_PMAssistant
</a:t>
            </a:r>
            <a:endParaRPr lang="en-US" sz="1100" dirty="0"/>
          </a:p>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Stage14_BalanceSimulator / Stage15_Copilot
</a:t>
            </a:r>
            <a:endParaRPr lang="en-US" sz="1100" dirty="0"/>
          </a:p>
          <a:p>
            <a:pPr indent="0" marL="0">
              <a:spcAft>
                <a:spcPts val="400"/>
              </a:spcAft>
              <a:buNone/>
            </a:pPr>
            <a:r>
              <a:rPr lang="en-US" sz="1100" b="1" dirty="0">
                <a:solidFill>
                  <a:srgbClr val="F97316"/>
                </a:solidFill>
                <a:latin typeface="Consolas" pitchFamily="34" charset="0"/>
                <a:ea typeface="Consolas" pitchFamily="34" charset="-122"/>
                <a:cs typeface="Consolas" pitchFamily="34" charset="-120"/>
              </a:rPr>
              <a:t>+ SkillSystem / SkillSystem2 / SoulAgent / StageMemoryAgent</a:t>
            </a:r>
            <a:endParaRPr lang="en-US" sz="1100" dirty="0"/>
          </a:p>
        </p:txBody>
      </p:sp>
      <p:sp>
        <p:nvSpPr>
          <p:cNvPr id="11" name="Shape 9"/>
          <p:cNvSpPr/>
          <p:nvPr/>
        </p:nvSpPr>
        <p:spPr>
          <a:xfrm>
            <a:off x="640080" y="5074920"/>
            <a:ext cx="5257800" cy="0"/>
          </a:xfrm>
          <a:prstGeom prst="line">
            <a:avLst/>
          </a:prstGeom>
          <a:noFill/>
          <a:ln w="9525">
            <a:solidFill>
              <a:srgbClr val="CBD5E1"/>
            </a:solidFill>
            <a:prstDash val="solid"/>
          </a:ln>
        </p:spPr>
      </p:sp>
      <p:sp>
        <p:nvSpPr>
          <p:cNvPr id="12" name="Text 10"/>
          <p:cNvSpPr/>
          <p:nvPr/>
        </p:nvSpPr>
        <p:spPr>
          <a:xfrm>
            <a:off x="640080" y="5166360"/>
            <a:ext cx="5257800" cy="91440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 게임 도메인의 실제 시나리오 중심. AIContextProvider, Workflow, RAG 등 MAF 의 핵심 추상화를 깊이 있게 다룹니다.</a:t>
            </a:r>
            <a:endParaRPr lang="en-US" sz="1100" dirty="0"/>
          </a:p>
        </p:txBody>
      </p:sp>
      <p:sp>
        <p:nvSpPr>
          <p:cNvPr id="13" name="Shape 11"/>
          <p:cNvSpPr/>
          <p:nvPr/>
        </p:nvSpPr>
        <p:spPr>
          <a:xfrm>
            <a:off x="6126480" y="2103120"/>
            <a:ext cx="5532120" cy="411480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4" name="Shape 12"/>
          <p:cNvSpPr/>
          <p:nvPr/>
        </p:nvSpPr>
        <p:spPr>
          <a:xfrm>
            <a:off x="6126480" y="2103120"/>
            <a:ext cx="5532120" cy="502920"/>
          </a:xfrm>
          <a:prstGeom prst="rect">
            <a:avLst/>
          </a:prstGeom>
          <a:solidFill>
            <a:srgbClr val="0078D4"/>
          </a:solidFill>
          <a:ln/>
        </p:spPr>
      </p:sp>
      <p:sp>
        <p:nvSpPr>
          <p:cNvPr id="15" name="Text 13"/>
          <p:cNvSpPr/>
          <p:nvPr/>
        </p:nvSpPr>
        <p:spPr>
          <a:xfrm>
            <a:off x="6263640" y="2121408"/>
            <a:ext cx="5303520" cy="457200"/>
          </a:xfrm>
          <a:prstGeom prst="rect">
            <a:avLst/>
          </a:prstGeom>
          <a:noFill/>
          <a:ln/>
        </p:spPr>
        <p:txBody>
          <a:bodyPr wrap="square" lIns="0" tIns="0" rIns="0" bIns="0" rtlCol="0" anchor="ctr"/>
          <a:lstStyle/>
          <a:p>
            <a:pPr indent="0" marL="0">
              <a:buNone/>
            </a:pPr>
            <a:r>
              <a:rPr lang="en-US" sz="1200" b="1" dirty="0">
                <a:solidFill>
                  <a:srgbClr val="FFFFFF"/>
                </a:solidFill>
                <a:latin typeface="Consolas" pitchFamily="34" charset="0"/>
                <a:ea typeface="Consolas" pitchFamily="34" charset="-122"/>
                <a:cs typeface="Consolas" pitchFamily="34" charset="-120"/>
              </a:rPr>
              <a:t>src2/   ─   OpenClaw 점진적 확장 트랙 (11 개)</a:t>
            </a:r>
            <a:endParaRPr lang="en-US" sz="1200" dirty="0"/>
          </a:p>
        </p:txBody>
      </p:sp>
      <p:sp>
        <p:nvSpPr>
          <p:cNvPr id="16" name="Text 14"/>
          <p:cNvSpPr/>
          <p:nvPr/>
        </p:nvSpPr>
        <p:spPr>
          <a:xfrm>
            <a:off x="6263640" y="2743200"/>
            <a:ext cx="5257800" cy="2286000"/>
          </a:xfrm>
          <a:prstGeom prst="rect">
            <a:avLst/>
          </a:prstGeom>
          <a:noFill/>
          <a:ln/>
        </p:spPr>
        <p:txBody>
          <a:bodyPr wrap="square" lIns="0" tIns="0" rIns="0" bIns="0" rtlCol="0" anchor="ctr"/>
          <a:lstStyle/>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Stage01_TextAgent  ─  Hello Agent
</a:t>
            </a:r>
            <a:endParaRPr lang="en-US" sz="1100" dirty="0"/>
          </a:p>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Stage02_SingleTool / Stage03_MultiTool
</a:t>
            </a:r>
            <a:endParaRPr lang="en-US" sz="1100" dirty="0"/>
          </a:p>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Stage04_WebChat  (ASP.NET Core + WebSocket)
</a:t>
            </a:r>
            <a:endParaRPr lang="en-US" sz="1100" dirty="0"/>
          </a:p>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Stage05_Telegram  (실제 메신저 연동)
</a:t>
            </a:r>
            <a:endParaRPr lang="en-US" sz="1100" dirty="0"/>
          </a:p>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Stage06_Memory / Stage07_MultiAgent
</a:t>
            </a:r>
            <a:endParaRPr lang="en-US" sz="1100" dirty="0"/>
          </a:p>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Stage08_Browser / Stage09_Canvas
</a:t>
            </a:r>
            <a:endParaRPr lang="en-US" sz="1100" dirty="0"/>
          </a:p>
          <a:p>
            <a:pPr indent="0" marL="0">
              <a:spcAft>
                <a:spcPts val="400"/>
              </a:spcAft>
              <a:buNone/>
            </a:pPr>
            <a:r>
              <a:rPr lang="en-US" sz="1100" b="1" dirty="0">
                <a:solidFill>
                  <a:srgbClr val="F97316"/>
                </a:solidFill>
                <a:latin typeface="Consolas" pitchFamily="34" charset="0"/>
                <a:ea typeface="Consolas" pitchFamily="34" charset="-122"/>
                <a:cs typeface="Consolas" pitchFamily="34" charset="-120"/>
              </a:rPr>
              <a:t>Stage10_Voice (STT/TTS) / Stage11_Gateway (Docker)</a:t>
            </a:r>
            <a:endParaRPr lang="en-US" sz="1100" dirty="0"/>
          </a:p>
        </p:txBody>
      </p:sp>
      <p:sp>
        <p:nvSpPr>
          <p:cNvPr id="17" name="Shape 15"/>
          <p:cNvSpPr/>
          <p:nvPr/>
        </p:nvSpPr>
        <p:spPr>
          <a:xfrm>
            <a:off x="6263640" y="5074920"/>
            <a:ext cx="5257800" cy="0"/>
          </a:xfrm>
          <a:prstGeom prst="line">
            <a:avLst/>
          </a:prstGeom>
          <a:noFill/>
          <a:ln w="9525">
            <a:solidFill>
              <a:srgbClr val="CBD5E1"/>
            </a:solidFill>
            <a:prstDash val="solid"/>
          </a:ln>
        </p:spPr>
      </p:sp>
      <p:sp>
        <p:nvSpPr>
          <p:cNvPr id="18" name="Text 16"/>
          <p:cNvSpPr/>
          <p:nvPr/>
        </p:nvSpPr>
        <p:spPr>
          <a:xfrm>
            <a:off x="6263640" y="5166360"/>
            <a:ext cx="5257800" cy="91440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 작은 코드에서 큰 코드로 진화. 콘솔 → 웹 → 메신저 → 음성 → 게이트웨이까지 채널과 배포 형태가 점차 확장.</a:t>
            </a:r>
            <a:endParaRPr lang="en-US" sz="1100" dirty="0"/>
          </a:p>
        </p:txBody>
      </p:sp>
      <p:sp>
        <p:nvSpPr>
          <p:cNvPr id="19" name="Text 17"/>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0" name="Text 18"/>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463040"/>
            <a:ext cx="3657600" cy="2926080"/>
          </a:xfrm>
          <a:prstGeom prst="rect">
            <a:avLst/>
          </a:prstGeom>
          <a:noFill/>
          <a:ln/>
        </p:spPr>
        <p:txBody>
          <a:bodyPr wrap="square" lIns="0" tIns="0" rIns="0" bIns="0" rtlCol="0" anchor="ctr"/>
          <a:lstStyle/>
          <a:p>
            <a:pPr indent="0" marL="0">
              <a:buNone/>
            </a:pPr>
            <a:r>
              <a:rPr lang="en-US" sz="22000" b="1" dirty="0">
                <a:solidFill>
                  <a:srgbClr val="FED7AA"/>
                </a:solidFill>
                <a:latin typeface="Calibri" pitchFamily="34" charset="0"/>
                <a:ea typeface="Calibri" pitchFamily="34" charset="-122"/>
                <a:cs typeface="Calibri" pitchFamily="34" charset="-120"/>
              </a:rPr>
              <a:t>03</a:t>
            </a:r>
            <a:endParaRPr lang="en-US" sz="22000" dirty="0"/>
          </a:p>
        </p:txBody>
      </p:sp>
      <p:sp>
        <p:nvSpPr>
          <p:cNvPr id="3" name="Text 1"/>
          <p:cNvSpPr/>
          <p:nvPr/>
        </p:nvSpPr>
        <p:spPr>
          <a:xfrm>
            <a:off x="4389120" y="2560320"/>
            <a:ext cx="7315200" cy="365760"/>
          </a:xfrm>
          <a:prstGeom prst="rect">
            <a:avLst/>
          </a:prstGeom>
          <a:noFill/>
          <a:ln/>
        </p:spPr>
        <p:txBody>
          <a:bodyPr wrap="square" lIns="0" tIns="0" rIns="0" bIns="0" rtlCol="0" anchor="ctr"/>
          <a:lstStyle/>
          <a:p>
            <a:pPr indent="0" marL="0">
              <a:buNone/>
            </a:pPr>
            <a:r>
              <a:rPr lang="en-US" sz="1300" b="1" spc="600" kern="0" dirty="0">
                <a:solidFill>
                  <a:srgbClr val="F97316"/>
                </a:solidFill>
                <a:latin typeface="Calibri" pitchFamily="34" charset="0"/>
                <a:ea typeface="Calibri" pitchFamily="34" charset="-122"/>
                <a:cs typeface="Calibri" pitchFamily="34" charset="-120"/>
              </a:rPr>
              <a:t>SRC TRACK · 15 STAGES × 3 PROGRAMS</a:t>
            </a:r>
            <a:endParaRPr lang="en-US" sz="1300" dirty="0"/>
          </a:p>
        </p:txBody>
      </p:sp>
      <p:sp>
        <p:nvSpPr>
          <p:cNvPr id="4" name="Text 2"/>
          <p:cNvSpPr/>
          <p:nvPr/>
        </p:nvSpPr>
        <p:spPr>
          <a:xfrm>
            <a:off x="4389120" y="2926080"/>
            <a:ext cx="7315200" cy="914400"/>
          </a:xfrm>
          <a:prstGeom prst="rect">
            <a:avLst/>
          </a:prstGeom>
          <a:noFill/>
          <a:ln/>
        </p:spPr>
        <p:txBody>
          <a:bodyPr wrap="square" lIns="0" tIns="0" rIns="0" bIns="0" rtlCol="0" anchor="ctr"/>
          <a:lstStyle/>
          <a:p>
            <a:pPr indent="0" marL="0">
              <a:buNone/>
            </a:pPr>
            <a:r>
              <a:rPr lang="en-US" sz="3800" b="1" dirty="0">
                <a:solidFill>
                  <a:srgbClr val="0F4C81"/>
                </a:solidFill>
                <a:latin typeface="Calibri" pitchFamily="34" charset="0"/>
                <a:ea typeface="Calibri" pitchFamily="34" charset="-122"/>
                <a:cs typeface="Calibri" pitchFamily="34" charset="-120"/>
              </a:rPr>
              <a:t>src 트랙: 게임 도메인 49 개 프로그램</a:t>
            </a:r>
            <a:endParaRPr lang="en-US" sz="3800" dirty="0"/>
          </a:p>
        </p:txBody>
      </p:sp>
      <p:sp>
        <p:nvSpPr>
          <p:cNvPr id="5" name="Text 3"/>
          <p:cNvSpPr/>
          <p:nvPr/>
        </p:nvSpPr>
        <p:spPr>
          <a:xfrm>
            <a:off x="4389120" y="3931920"/>
            <a:ext cx="7315200" cy="137160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초급 개념 학습부터 엔터프라이즈급 통합 시스템까지, 게임 개발 현장의 시나리오를 통해 MAF 의 모든 핵심 기능을 단계적으로 익힙니다.</a:t>
            </a:r>
            <a:endParaRPr lang="en-US" sz="1400" dirty="0"/>
          </a:p>
        </p:txBody>
      </p:sp>
      <p:sp>
        <p:nvSpPr>
          <p:cNvPr id="6" name="Shape 4"/>
          <p:cNvSpPr/>
          <p:nvPr/>
        </p:nvSpPr>
        <p:spPr>
          <a:xfrm>
            <a:off x="640080" y="4754880"/>
            <a:ext cx="1371600" cy="54864"/>
          </a:xfrm>
          <a:prstGeom prst="rect">
            <a:avLst/>
          </a:prstGeom>
          <a:solidFill>
            <a:srgbClr val="F97316"/>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초급 · STAGE 01</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텍스트 응답 에이전트</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Text 4"/>
          <p:cNvSpPr/>
          <p:nvPr/>
        </p:nvSpPr>
        <p:spPr>
          <a:xfrm>
            <a:off x="548640" y="1554480"/>
            <a:ext cx="6858000" cy="457200"/>
          </a:xfrm>
          <a:prstGeom prst="rect">
            <a:avLst/>
          </a:prstGeom>
          <a:noFill/>
          <a:ln/>
        </p:spPr>
        <p:txBody>
          <a:bodyPr wrap="square" lIns="0" tIns="0" rIns="0" bIns="0" rtlCol="0" anchor="ctr"/>
          <a:lstStyle/>
          <a:p>
            <a:pPr indent="0" marL="0">
              <a:buNone/>
            </a:pPr>
            <a:r>
              <a:rPr lang="en-US" sz="1800" b="1" dirty="0">
                <a:solidFill>
                  <a:srgbClr val="059669"/>
                </a:solidFill>
                <a:latin typeface="Calibri" pitchFamily="34" charset="0"/>
                <a:ea typeface="Calibri" pitchFamily="34" charset="-122"/>
                <a:cs typeface="Calibri" pitchFamily="34" charset="-120"/>
              </a:rPr>
              <a:t>JSON/YAML 게임 데이터를 자연어로 질의응답</a:t>
            </a:r>
            <a:endParaRPr lang="en-US" sz="1800" dirty="0"/>
          </a:p>
        </p:txBody>
      </p:sp>
      <p:sp>
        <p:nvSpPr>
          <p:cNvPr id="7" name="Text 5"/>
          <p:cNvSpPr/>
          <p:nvPr/>
        </p:nvSpPr>
        <p:spPr>
          <a:xfrm>
            <a:off x="548640" y="2103120"/>
            <a:ext cx="6858000" cy="1828800"/>
          </a:xfrm>
          <a:prstGeom prst="rect">
            <a:avLst/>
          </a:prstGeom>
          <a:noFill/>
          <a:ln/>
        </p:spPr>
        <p:txBody>
          <a:bodyPr wrap="square" lIns="0" tIns="0" rIns="0" bIns="0" rtlCol="0" anchor="ctr"/>
          <a:lstStyle/>
          <a:p>
            <a:pPr indent="0" marL="0">
              <a:spcAft>
                <a:spcPts val="600"/>
              </a:spcAft>
              <a:buNone/>
            </a:pPr>
            <a:r>
              <a:rPr lang="en-US" sz="1250" dirty="0">
                <a:solidFill>
                  <a:srgbClr val="1F2937"/>
                </a:solidFill>
                <a:latin typeface="Calibri" pitchFamily="34" charset="0"/>
                <a:ea typeface="Calibri" pitchFamily="34" charset="-122"/>
                <a:cs typeface="Calibri" pitchFamily="34" charset="-120"/>
              </a:rPr>
              <a:t>MAF 의 가장 기본 형태인 "입력 → LLM → 출력" 루프를 구현한다. AsAIAgent() 로 에이전트를 만들고, AIContextProvider 로 외부 데이터를 LLM 에 주입하는 패턴을 익힌다.</a:t>
            </a:r>
            <a:endParaRPr lang="en-US" sz="1250" dirty="0"/>
          </a:p>
        </p:txBody>
      </p:sp>
      <p:sp>
        <p:nvSpPr>
          <p:cNvPr id="8" name="Text 6"/>
          <p:cNvSpPr/>
          <p:nvPr/>
        </p:nvSpPr>
        <p:spPr>
          <a:xfrm>
            <a:off x="365760" y="4023360"/>
            <a:ext cx="3657600" cy="2286000"/>
          </a:xfrm>
          <a:prstGeom prst="rect">
            <a:avLst/>
          </a:prstGeom>
          <a:noFill/>
          <a:ln/>
        </p:spPr>
        <p:txBody>
          <a:bodyPr wrap="square" lIns="0" tIns="0" rIns="0" bIns="0" rtlCol="0" anchor="ctr"/>
          <a:lstStyle/>
          <a:p>
            <a:pPr indent="0" marL="0">
              <a:buNone/>
            </a:pPr>
            <a:r>
              <a:rPr lang="en-US" sz="18000" b="1" dirty="0">
                <a:solidFill>
                  <a:srgbClr val="FED7AA"/>
                </a:solidFill>
                <a:latin typeface="Calibri" pitchFamily="34" charset="0"/>
                <a:ea typeface="Calibri" pitchFamily="34" charset="-122"/>
                <a:cs typeface="Calibri" pitchFamily="34" charset="-120"/>
              </a:rPr>
              <a:t>01</a:t>
            </a:r>
            <a:endParaRPr lang="en-US" sz="18000" dirty="0"/>
          </a:p>
        </p:txBody>
      </p:sp>
      <p:sp>
        <p:nvSpPr>
          <p:cNvPr id="9" name="Text 7"/>
          <p:cNvSpPr/>
          <p:nvPr/>
        </p:nvSpPr>
        <p:spPr>
          <a:xfrm>
            <a:off x="640080" y="4114800"/>
            <a:ext cx="2743200" cy="365760"/>
          </a:xfrm>
          <a:prstGeom prst="rect">
            <a:avLst/>
          </a:prstGeom>
          <a:noFill/>
          <a:ln/>
        </p:spPr>
        <p:txBody>
          <a:bodyPr wrap="square" lIns="0" tIns="0" rIns="0" bIns="0" rtlCol="0" anchor="ctr"/>
          <a:lstStyle/>
          <a:p>
            <a:pPr indent="0" marL="0">
              <a:buNone/>
            </a:pPr>
            <a:r>
              <a:rPr lang="en-US" sz="1400" b="1" spc="400" kern="0" dirty="0">
                <a:solidFill>
                  <a:srgbClr val="F97316"/>
                </a:solidFill>
                <a:latin typeface="Calibri" pitchFamily="34" charset="0"/>
                <a:ea typeface="Calibri" pitchFamily="34" charset="-122"/>
                <a:cs typeface="Calibri" pitchFamily="34" charset="-120"/>
              </a:rPr>
              <a:t>STAGE</a:t>
            </a:r>
            <a:endParaRPr lang="en-US" sz="1400" dirty="0"/>
          </a:p>
        </p:txBody>
      </p:sp>
      <p:sp>
        <p:nvSpPr>
          <p:cNvPr id="10" name="Shape 8"/>
          <p:cNvSpPr/>
          <p:nvPr/>
        </p:nvSpPr>
        <p:spPr>
          <a:xfrm>
            <a:off x="7680960" y="1554480"/>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1" name="Shape 9"/>
          <p:cNvSpPr/>
          <p:nvPr/>
        </p:nvSpPr>
        <p:spPr>
          <a:xfrm>
            <a:off x="7680960" y="1554480"/>
            <a:ext cx="109728" cy="1554480"/>
          </a:xfrm>
          <a:prstGeom prst="rect">
            <a:avLst/>
          </a:prstGeom>
          <a:solidFill>
            <a:srgbClr val="059669"/>
          </a:solidFill>
          <a:ln/>
        </p:spPr>
      </p:sp>
      <p:sp>
        <p:nvSpPr>
          <p:cNvPr id="12" name="Text 10"/>
          <p:cNvSpPr/>
          <p:nvPr/>
        </p:nvSpPr>
        <p:spPr>
          <a:xfrm>
            <a:off x="7863840" y="1645920"/>
            <a:ext cx="10972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01A</a:t>
            </a:r>
            <a:endParaRPr lang="en-US" sz="1300" dirty="0"/>
          </a:p>
        </p:txBody>
      </p:sp>
      <p:sp>
        <p:nvSpPr>
          <p:cNvPr id="13" name="Text 11"/>
          <p:cNvSpPr/>
          <p:nvPr/>
        </p:nvSpPr>
        <p:spPr>
          <a:xfrm>
            <a:off x="8869680" y="1645920"/>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게임 설정 조회 봇</a:t>
            </a:r>
            <a:endParaRPr lang="en-US" sz="1300" dirty="0"/>
          </a:p>
        </p:txBody>
      </p:sp>
      <p:sp>
        <p:nvSpPr>
          <p:cNvPr id="14" name="Text 12"/>
          <p:cNvSpPr/>
          <p:nvPr/>
        </p:nvSpPr>
        <p:spPr>
          <a:xfrm>
            <a:off x="7863840" y="1965960"/>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GameConfigBot</a:t>
            </a:r>
            <a:endParaRPr lang="en-US" sz="1000" dirty="0"/>
          </a:p>
        </p:txBody>
      </p:sp>
      <p:sp>
        <p:nvSpPr>
          <p:cNvPr id="15" name="Text 13"/>
          <p:cNvSpPr/>
          <p:nvPr/>
        </p:nvSpPr>
        <p:spPr>
          <a:xfrm>
            <a:off x="7863840" y="2267712"/>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JSON 형식의 게임 설정 파일에서 특정 값을 자연어 질문으로 조회하는 봇이다.</a:t>
            </a:r>
            <a:endParaRPr lang="en-US" sz="1050" dirty="0"/>
          </a:p>
        </p:txBody>
      </p:sp>
      <p:sp>
        <p:nvSpPr>
          <p:cNvPr id="16" name="Shape 14"/>
          <p:cNvSpPr/>
          <p:nvPr/>
        </p:nvSpPr>
        <p:spPr>
          <a:xfrm>
            <a:off x="7680960" y="3218688"/>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7" name="Shape 15"/>
          <p:cNvSpPr/>
          <p:nvPr/>
        </p:nvSpPr>
        <p:spPr>
          <a:xfrm>
            <a:off x="7680960" y="3218688"/>
            <a:ext cx="109728" cy="1554480"/>
          </a:xfrm>
          <a:prstGeom prst="rect">
            <a:avLst/>
          </a:prstGeom>
          <a:solidFill>
            <a:srgbClr val="059669"/>
          </a:solidFill>
          <a:ln/>
        </p:spPr>
      </p:sp>
      <p:sp>
        <p:nvSpPr>
          <p:cNvPr id="18" name="Text 16"/>
          <p:cNvSpPr/>
          <p:nvPr/>
        </p:nvSpPr>
        <p:spPr>
          <a:xfrm>
            <a:off x="7863840" y="3310128"/>
            <a:ext cx="10972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01B</a:t>
            </a:r>
            <a:endParaRPr lang="en-US" sz="1300" dirty="0"/>
          </a:p>
        </p:txBody>
      </p:sp>
      <p:sp>
        <p:nvSpPr>
          <p:cNvPr id="19" name="Text 17"/>
          <p:cNvSpPr/>
          <p:nvPr/>
        </p:nvSpPr>
        <p:spPr>
          <a:xfrm>
            <a:off x="8869680" y="3310128"/>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캐릭터 정보 문답 봇</a:t>
            </a:r>
            <a:endParaRPr lang="en-US" sz="1300" dirty="0"/>
          </a:p>
        </p:txBody>
      </p:sp>
      <p:sp>
        <p:nvSpPr>
          <p:cNvPr id="20" name="Text 18"/>
          <p:cNvSpPr/>
          <p:nvPr/>
        </p:nvSpPr>
        <p:spPr>
          <a:xfrm>
            <a:off x="7863840" y="3630168"/>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CharacterInfoBot</a:t>
            </a:r>
            <a:endParaRPr lang="en-US" sz="1000" dirty="0"/>
          </a:p>
        </p:txBody>
      </p:sp>
      <p:sp>
        <p:nvSpPr>
          <p:cNvPr id="21" name="Text 19"/>
          <p:cNvSpPr/>
          <p:nvPr/>
        </p:nvSpPr>
        <p:spPr>
          <a:xfrm>
            <a:off x="7863840" y="3931920"/>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캐릭터 스탯이 담긴 JSON/YAML 파일을 읽어 캐릭터별 능력치, 스킬, 성장 곡선 등을 답변해 주는 에이전트이다.</a:t>
            </a:r>
            <a:endParaRPr lang="en-US" sz="1050" dirty="0"/>
          </a:p>
        </p:txBody>
      </p:sp>
      <p:sp>
        <p:nvSpPr>
          <p:cNvPr id="22" name="Shape 20"/>
          <p:cNvSpPr/>
          <p:nvPr/>
        </p:nvSpPr>
        <p:spPr>
          <a:xfrm>
            <a:off x="7680960" y="4882896"/>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3" name="Shape 21"/>
          <p:cNvSpPr/>
          <p:nvPr/>
        </p:nvSpPr>
        <p:spPr>
          <a:xfrm>
            <a:off x="7680960" y="4882896"/>
            <a:ext cx="109728" cy="1554480"/>
          </a:xfrm>
          <a:prstGeom prst="rect">
            <a:avLst/>
          </a:prstGeom>
          <a:solidFill>
            <a:srgbClr val="059669"/>
          </a:solidFill>
          <a:ln/>
        </p:spPr>
      </p:sp>
      <p:sp>
        <p:nvSpPr>
          <p:cNvPr id="24" name="Text 22"/>
          <p:cNvSpPr/>
          <p:nvPr/>
        </p:nvSpPr>
        <p:spPr>
          <a:xfrm>
            <a:off x="7863840" y="4974336"/>
            <a:ext cx="10972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01C</a:t>
            </a:r>
            <a:endParaRPr lang="en-US" sz="1300" dirty="0"/>
          </a:p>
        </p:txBody>
      </p:sp>
      <p:sp>
        <p:nvSpPr>
          <p:cNvPr id="25" name="Text 23"/>
          <p:cNvSpPr/>
          <p:nvPr/>
        </p:nvSpPr>
        <p:spPr>
          <a:xfrm>
            <a:off x="8869680" y="4974336"/>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대화형 FAQ 봇</a:t>
            </a:r>
            <a:endParaRPr lang="en-US" sz="1300" dirty="0"/>
          </a:p>
        </p:txBody>
      </p:sp>
      <p:sp>
        <p:nvSpPr>
          <p:cNvPr id="26" name="Text 24"/>
          <p:cNvSpPr/>
          <p:nvPr/>
        </p:nvSpPr>
        <p:spPr>
          <a:xfrm>
            <a:off x="7863840" y="5294376"/>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FAQBot</a:t>
            </a:r>
            <a:endParaRPr lang="en-US" sz="1000" dirty="0"/>
          </a:p>
        </p:txBody>
      </p:sp>
      <p:sp>
        <p:nvSpPr>
          <p:cNvPr id="27" name="Text 25"/>
          <p:cNvSpPr/>
          <p:nvPr/>
        </p:nvSpPr>
        <p:spPr>
          <a:xfrm>
            <a:off x="7863840" y="5596128"/>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자주 묻는 질문 데이터베이스(JSON)를 기반으로 사용자의 질문 의도를 파악해 답변하는 FAQ 봇이다.</a:t>
            </a:r>
            <a:endParaRPr lang="en-US" sz="1050" dirty="0"/>
          </a:p>
        </p:txBody>
      </p:sp>
      <p:sp>
        <p:nvSpPr>
          <p:cNvPr id="28" name="Text 26"/>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9" name="Text 27"/>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01 · 01A  ─  텍스트 응답 에이전트</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게임 설정 조회 봇</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59669"/>
          </a:solidFill>
          <a:ln/>
        </p:spPr>
      </p:sp>
      <p:sp>
        <p:nvSpPr>
          <p:cNvPr id="8" name="Shape 6"/>
          <p:cNvSpPr/>
          <p:nvPr/>
        </p:nvSpPr>
        <p:spPr>
          <a:xfrm>
            <a:off x="777240" y="1691640"/>
            <a:ext cx="914400" cy="365760"/>
          </a:xfrm>
          <a:prstGeom prst="roundRect">
            <a:avLst>
              <a:gd name="adj" fmla="val 12500"/>
            </a:avLst>
          </a:prstGeom>
          <a:solidFill>
            <a:srgbClr val="059669"/>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GameConfigBot</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JSON 형식의 게임 설정 파일에서 특정 값을 자연어 질문으로 조회하는 봇이다. "전사 캐릭터의 기본 HP 는 얼마야?" 같은 질문을 던지면 game_config.json 의 해당 값을 찾아 자연스러운 문장으로 답변해 준다.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Agent 초기화의 가장 기본 골격, AIContextProvider 로 외부 데이터를 컨텍스트에 주입하는 첫 경험.</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Agents/ConfigAgent.cs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Agents/ConfigContextProvider.cs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data/game_config.json</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사용자: "전사의 HP 는?"</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에이전트: "전사 클래스의 기본 HP 는 1500 입니다."</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01 · 01B  ─  텍스트 응답 에이전트</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캐릭터 정보 문답 봇</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59669"/>
          </a:solidFill>
          <a:ln/>
        </p:spPr>
      </p:sp>
      <p:sp>
        <p:nvSpPr>
          <p:cNvPr id="8" name="Shape 6"/>
          <p:cNvSpPr/>
          <p:nvPr/>
        </p:nvSpPr>
        <p:spPr>
          <a:xfrm>
            <a:off x="777240" y="1691640"/>
            <a:ext cx="914400" cy="365760"/>
          </a:xfrm>
          <a:prstGeom prst="roundRect">
            <a:avLst>
              <a:gd name="adj" fmla="val 12500"/>
            </a:avLst>
          </a:prstGeom>
          <a:solidFill>
            <a:srgbClr val="059669"/>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01B</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CharacterInfoBot</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캐릭터 스탯이 담긴 JSON/YAML 파일을 읽어 캐릭터별 능력치, 스킬, 성장 곡선 등을 답변해 주는 에이전트이다. 한 데이터를 여러 포맷으로 다루는 패턴을 학습한다.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다양한 데이터 포맷(JSON/YAML) 파싱 + 컨텍스트 주입을 통한 도메인 지식 응답.</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Agents/CharacterAgent.cs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data/characters.json</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사용자: "마법사의 레벨 50 마나는?"</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에이전트: "마법사 레벨 50 의 기본 마나는 850, 지능 보너스 포함 시 약 1100 입니다."</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01 · 01C  ─  텍스트 응답 에이전트</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대화형 FAQ 봇</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59669"/>
          </a:solidFill>
          <a:ln/>
        </p:spPr>
      </p:sp>
      <p:sp>
        <p:nvSpPr>
          <p:cNvPr id="8" name="Shape 6"/>
          <p:cNvSpPr/>
          <p:nvPr/>
        </p:nvSpPr>
        <p:spPr>
          <a:xfrm>
            <a:off x="777240" y="1691640"/>
            <a:ext cx="914400" cy="365760"/>
          </a:xfrm>
          <a:prstGeom prst="roundRect">
            <a:avLst>
              <a:gd name="adj" fmla="val 12500"/>
            </a:avLst>
          </a:prstGeom>
          <a:solidFill>
            <a:srgbClr val="059669"/>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01C</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FAQBot</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자주 묻는 질문 데이터베이스(JSON)를 기반으로 사용자의 질문 의도를 파악해 답변하는 FAQ 봇이다. 단발성이 아닌 여러 턴에 걸친 대화 컨텍스트 유지를 학습한다.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대화 히스토리 관리, 의도 파악, 후속 질문(follow-up) 응대.</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Agents/FAQAgent.cs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data/faq_database.json</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사용자: "길드 가입은 어떻게 해?"</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에이전트: "길드 메뉴에서 신청할 수 있어요."</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사용자: "레벨 제한은?"</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에이전트: "방금 설명한 길드 가입의 경우, 레벨 20 부터 가능합니다."</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초급 · STAGE 02</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단일 Tool 사용</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Text 4"/>
          <p:cNvSpPr/>
          <p:nvPr/>
        </p:nvSpPr>
        <p:spPr>
          <a:xfrm>
            <a:off x="548640" y="1554480"/>
            <a:ext cx="6858000" cy="457200"/>
          </a:xfrm>
          <a:prstGeom prst="rect">
            <a:avLst/>
          </a:prstGeom>
          <a:noFill/>
          <a:ln/>
        </p:spPr>
        <p:txBody>
          <a:bodyPr wrap="square" lIns="0" tIns="0" rIns="0" bIns="0" rtlCol="0" anchor="ctr"/>
          <a:lstStyle/>
          <a:p>
            <a:pPr indent="0" marL="0">
              <a:buNone/>
            </a:pPr>
            <a:r>
              <a:rPr lang="en-US" sz="1800" b="1" dirty="0">
                <a:solidFill>
                  <a:srgbClr val="0078D4"/>
                </a:solidFill>
                <a:latin typeface="Calibri" pitchFamily="34" charset="0"/>
                <a:ea typeface="Calibri" pitchFamily="34" charset="-122"/>
                <a:cs typeface="Calibri" pitchFamily="34" charset="-120"/>
              </a:rPr>
              <a:t>Function Calling 의 첫 걸음</a:t>
            </a:r>
            <a:endParaRPr lang="en-US" sz="1800" dirty="0"/>
          </a:p>
        </p:txBody>
      </p:sp>
      <p:sp>
        <p:nvSpPr>
          <p:cNvPr id="7" name="Text 5"/>
          <p:cNvSpPr/>
          <p:nvPr/>
        </p:nvSpPr>
        <p:spPr>
          <a:xfrm>
            <a:off x="548640" y="2103120"/>
            <a:ext cx="6858000" cy="1828800"/>
          </a:xfrm>
          <a:prstGeom prst="rect">
            <a:avLst/>
          </a:prstGeom>
          <a:noFill/>
          <a:ln/>
        </p:spPr>
        <p:txBody>
          <a:bodyPr wrap="square" lIns="0" tIns="0" rIns="0" bIns="0" rtlCol="0" anchor="ctr"/>
          <a:lstStyle/>
          <a:p>
            <a:pPr indent="0" marL="0">
              <a:spcAft>
                <a:spcPts val="600"/>
              </a:spcAft>
              <a:buNone/>
            </a:pPr>
            <a:r>
              <a:rPr lang="en-US" sz="1250" dirty="0">
                <a:solidFill>
                  <a:srgbClr val="1F2937"/>
                </a:solidFill>
                <a:latin typeface="Calibri" pitchFamily="34" charset="0"/>
                <a:ea typeface="Calibri" pitchFamily="34" charset="-122"/>
                <a:cs typeface="Calibri" pitchFamily="34" charset="-120"/>
              </a:rPr>
              <a:t>함수 시그니처와 [Description] 만 보고 LLM 이 자동으로 도구를 호출하는 핵심 메커니즘을 익힌다. AIFunctionFactory.Create() 로 C# 함수를 LLM 이 부를 수 있는 Tool 로 변환하는 패턴이 중심이다.</a:t>
            </a:r>
            <a:endParaRPr lang="en-US" sz="1250" dirty="0"/>
          </a:p>
        </p:txBody>
      </p:sp>
      <p:sp>
        <p:nvSpPr>
          <p:cNvPr id="8" name="Text 6"/>
          <p:cNvSpPr/>
          <p:nvPr/>
        </p:nvSpPr>
        <p:spPr>
          <a:xfrm>
            <a:off x="365760" y="4023360"/>
            <a:ext cx="3657600" cy="2286000"/>
          </a:xfrm>
          <a:prstGeom prst="rect">
            <a:avLst/>
          </a:prstGeom>
          <a:noFill/>
          <a:ln/>
        </p:spPr>
        <p:txBody>
          <a:bodyPr wrap="square" lIns="0" tIns="0" rIns="0" bIns="0" rtlCol="0" anchor="ctr"/>
          <a:lstStyle/>
          <a:p>
            <a:pPr indent="0" marL="0">
              <a:buNone/>
            </a:pPr>
            <a:r>
              <a:rPr lang="en-US" sz="18000" b="1" dirty="0">
                <a:solidFill>
                  <a:srgbClr val="FED7AA"/>
                </a:solidFill>
                <a:latin typeface="Calibri" pitchFamily="34" charset="0"/>
                <a:ea typeface="Calibri" pitchFamily="34" charset="-122"/>
                <a:cs typeface="Calibri" pitchFamily="34" charset="-120"/>
              </a:rPr>
              <a:t>02</a:t>
            </a:r>
            <a:endParaRPr lang="en-US" sz="18000" dirty="0"/>
          </a:p>
        </p:txBody>
      </p:sp>
      <p:sp>
        <p:nvSpPr>
          <p:cNvPr id="9" name="Text 7"/>
          <p:cNvSpPr/>
          <p:nvPr/>
        </p:nvSpPr>
        <p:spPr>
          <a:xfrm>
            <a:off x="640080" y="4114800"/>
            <a:ext cx="2743200" cy="365760"/>
          </a:xfrm>
          <a:prstGeom prst="rect">
            <a:avLst/>
          </a:prstGeom>
          <a:noFill/>
          <a:ln/>
        </p:spPr>
        <p:txBody>
          <a:bodyPr wrap="square" lIns="0" tIns="0" rIns="0" bIns="0" rtlCol="0" anchor="ctr"/>
          <a:lstStyle/>
          <a:p>
            <a:pPr indent="0" marL="0">
              <a:buNone/>
            </a:pPr>
            <a:r>
              <a:rPr lang="en-US" sz="1400" b="1" spc="400" kern="0" dirty="0">
                <a:solidFill>
                  <a:srgbClr val="F97316"/>
                </a:solidFill>
                <a:latin typeface="Calibri" pitchFamily="34" charset="0"/>
                <a:ea typeface="Calibri" pitchFamily="34" charset="-122"/>
                <a:cs typeface="Calibri" pitchFamily="34" charset="-120"/>
              </a:rPr>
              <a:t>STAGE</a:t>
            </a:r>
            <a:endParaRPr lang="en-US" sz="1400" dirty="0"/>
          </a:p>
        </p:txBody>
      </p:sp>
      <p:sp>
        <p:nvSpPr>
          <p:cNvPr id="10" name="Shape 8"/>
          <p:cNvSpPr/>
          <p:nvPr/>
        </p:nvSpPr>
        <p:spPr>
          <a:xfrm>
            <a:off x="7680960" y="1554480"/>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1" name="Shape 9"/>
          <p:cNvSpPr/>
          <p:nvPr/>
        </p:nvSpPr>
        <p:spPr>
          <a:xfrm>
            <a:off x="7680960" y="1554480"/>
            <a:ext cx="109728" cy="1554480"/>
          </a:xfrm>
          <a:prstGeom prst="rect">
            <a:avLst/>
          </a:prstGeom>
          <a:solidFill>
            <a:srgbClr val="0078D4"/>
          </a:solidFill>
          <a:ln/>
        </p:spPr>
      </p:sp>
      <p:sp>
        <p:nvSpPr>
          <p:cNvPr id="12" name="Text 10"/>
          <p:cNvSpPr/>
          <p:nvPr/>
        </p:nvSpPr>
        <p:spPr>
          <a:xfrm>
            <a:off x="7863840" y="1645920"/>
            <a:ext cx="1097280" cy="320040"/>
          </a:xfrm>
          <a:prstGeom prst="rect">
            <a:avLst/>
          </a:prstGeom>
          <a:noFill/>
          <a:ln/>
        </p:spPr>
        <p:txBody>
          <a:bodyPr wrap="square" lIns="0" tIns="0" rIns="0" bIns="0" rtlCol="0" anchor="ctr"/>
          <a:lstStyle/>
          <a:p>
            <a:pPr indent="0" marL="0">
              <a:buNone/>
            </a:pPr>
            <a:r>
              <a:rPr lang="en-US" sz="1300" b="1" dirty="0">
                <a:solidFill>
                  <a:srgbClr val="0078D4"/>
                </a:solidFill>
                <a:latin typeface="Calibri" pitchFamily="34" charset="0"/>
                <a:ea typeface="Calibri" pitchFamily="34" charset="-122"/>
                <a:cs typeface="Calibri" pitchFamily="34" charset="-120"/>
              </a:rPr>
              <a:t>02A</a:t>
            </a:r>
            <a:endParaRPr lang="en-US" sz="1300" dirty="0"/>
          </a:p>
        </p:txBody>
      </p:sp>
      <p:sp>
        <p:nvSpPr>
          <p:cNvPr id="13" name="Text 11"/>
          <p:cNvSpPr/>
          <p:nvPr/>
        </p:nvSpPr>
        <p:spPr>
          <a:xfrm>
            <a:off x="8869680" y="1645920"/>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DPS 계산기</a:t>
            </a:r>
            <a:endParaRPr lang="en-US" sz="1300" dirty="0"/>
          </a:p>
        </p:txBody>
      </p:sp>
      <p:sp>
        <p:nvSpPr>
          <p:cNvPr id="14" name="Text 12"/>
          <p:cNvSpPr/>
          <p:nvPr/>
        </p:nvSpPr>
        <p:spPr>
          <a:xfrm>
            <a:off x="7863840" y="1965960"/>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DpsCalculator</a:t>
            </a:r>
            <a:endParaRPr lang="en-US" sz="1000" dirty="0"/>
          </a:p>
        </p:txBody>
      </p:sp>
      <p:sp>
        <p:nvSpPr>
          <p:cNvPr id="15" name="Text 13"/>
          <p:cNvSpPr/>
          <p:nvPr/>
        </p:nvSpPr>
        <p:spPr>
          <a:xfrm>
            <a:off x="7863840" y="2267712"/>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무기의 공격력과 공격 속도를 받아 초당 데미지(DPS)를 계산하는 함수를 Tool 로 등록한다.</a:t>
            </a:r>
            <a:endParaRPr lang="en-US" sz="1050" dirty="0"/>
          </a:p>
        </p:txBody>
      </p:sp>
      <p:sp>
        <p:nvSpPr>
          <p:cNvPr id="16" name="Shape 14"/>
          <p:cNvSpPr/>
          <p:nvPr/>
        </p:nvSpPr>
        <p:spPr>
          <a:xfrm>
            <a:off x="7680960" y="3218688"/>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7" name="Shape 15"/>
          <p:cNvSpPr/>
          <p:nvPr/>
        </p:nvSpPr>
        <p:spPr>
          <a:xfrm>
            <a:off x="7680960" y="3218688"/>
            <a:ext cx="109728" cy="1554480"/>
          </a:xfrm>
          <a:prstGeom prst="rect">
            <a:avLst/>
          </a:prstGeom>
          <a:solidFill>
            <a:srgbClr val="0078D4"/>
          </a:solidFill>
          <a:ln/>
        </p:spPr>
      </p:sp>
      <p:sp>
        <p:nvSpPr>
          <p:cNvPr id="18" name="Text 16"/>
          <p:cNvSpPr/>
          <p:nvPr/>
        </p:nvSpPr>
        <p:spPr>
          <a:xfrm>
            <a:off x="7863840" y="3310128"/>
            <a:ext cx="1097280" cy="320040"/>
          </a:xfrm>
          <a:prstGeom prst="rect">
            <a:avLst/>
          </a:prstGeom>
          <a:noFill/>
          <a:ln/>
        </p:spPr>
        <p:txBody>
          <a:bodyPr wrap="square" lIns="0" tIns="0" rIns="0" bIns="0" rtlCol="0" anchor="ctr"/>
          <a:lstStyle/>
          <a:p>
            <a:pPr indent="0" marL="0">
              <a:buNone/>
            </a:pPr>
            <a:r>
              <a:rPr lang="en-US" sz="1300" b="1" dirty="0">
                <a:solidFill>
                  <a:srgbClr val="0078D4"/>
                </a:solidFill>
                <a:latin typeface="Calibri" pitchFamily="34" charset="0"/>
                <a:ea typeface="Calibri" pitchFamily="34" charset="-122"/>
                <a:cs typeface="Calibri" pitchFamily="34" charset="-120"/>
              </a:rPr>
              <a:t>02B</a:t>
            </a:r>
            <a:endParaRPr lang="en-US" sz="1300" dirty="0"/>
          </a:p>
        </p:txBody>
      </p:sp>
      <p:sp>
        <p:nvSpPr>
          <p:cNvPr id="19" name="Text 17"/>
          <p:cNvSpPr/>
          <p:nvPr/>
        </p:nvSpPr>
        <p:spPr>
          <a:xfrm>
            <a:off x="8869680" y="3310128"/>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CMD 명령어 실행기</a:t>
            </a:r>
            <a:endParaRPr lang="en-US" sz="1300" dirty="0"/>
          </a:p>
        </p:txBody>
      </p:sp>
      <p:sp>
        <p:nvSpPr>
          <p:cNvPr id="20" name="Text 18"/>
          <p:cNvSpPr/>
          <p:nvPr/>
        </p:nvSpPr>
        <p:spPr>
          <a:xfrm>
            <a:off x="7863840" y="3630168"/>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CmdExecutor</a:t>
            </a:r>
            <a:endParaRPr lang="en-US" sz="1000" dirty="0"/>
          </a:p>
        </p:txBody>
      </p:sp>
      <p:sp>
        <p:nvSpPr>
          <p:cNvPr id="21" name="Text 19"/>
          <p:cNvSpPr/>
          <p:nvPr/>
        </p:nvSpPr>
        <p:spPr>
          <a:xfrm>
            <a:off x="7863840" y="3931920"/>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Windows CMD 명령어를 실행하고 결과를 받아오는 Tool 을 만든다.</a:t>
            </a:r>
            <a:endParaRPr lang="en-US" sz="1050" dirty="0"/>
          </a:p>
        </p:txBody>
      </p:sp>
      <p:sp>
        <p:nvSpPr>
          <p:cNvPr id="22" name="Shape 20"/>
          <p:cNvSpPr/>
          <p:nvPr/>
        </p:nvSpPr>
        <p:spPr>
          <a:xfrm>
            <a:off x="7680960" y="4882896"/>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3" name="Shape 21"/>
          <p:cNvSpPr/>
          <p:nvPr/>
        </p:nvSpPr>
        <p:spPr>
          <a:xfrm>
            <a:off x="7680960" y="4882896"/>
            <a:ext cx="109728" cy="1554480"/>
          </a:xfrm>
          <a:prstGeom prst="rect">
            <a:avLst/>
          </a:prstGeom>
          <a:solidFill>
            <a:srgbClr val="0078D4"/>
          </a:solidFill>
          <a:ln/>
        </p:spPr>
      </p:sp>
      <p:sp>
        <p:nvSpPr>
          <p:cNvPr id="24" name="Text 22"/>
          <p:cNvSpPr/>
          <p:nvPr/>
        </p:nvSpPr>
        <p:spPr>
          <a:xfrm>
            <a:off x="7863840" y="4974336"/>
            <a:ext cx="1097280" cy="320040"/>
          </a:xfrm>
          <a:prstGeom prst="rect">
            <a:avLst/>
          </a:prstGeom>
          <a:noFill/>
          <a:ln/>
        </p:spPr>
        <p:txBody>
          <a:bodyPr wrap="square" lIns="0" tIns="0" rIns="0" bIns="0" rtlCol="0" anchor="ctr"/>
          <a:lstStyle/>
          <a:p>
            <a:pPr indent="0" marL="0">
              <a:buNone/>
            </a:pPr>
            <a:r>
              <a:rPr lang="en-US" sz="1300" b="1" dirty="0">
                <a:solidFill>
                  <a:srgbClr val="0078D4"/>
                </a:solidFill>
                <a:latin typeface="Calibri" pitchFamily="34" charset="0"/>
                <a:ea typeface="Calibri" pitchFamily="34" charset="-122"/>
                <a:cs typeface="Calibri" pitchFamily="34" charset="-120"/>
              </a:rPr>
              <a:t>02C</a:t>
            </a:r>
            <a:endParaRPr lang="en-US" sz="1300" dirty="0"/>
          </a:p>
        </p:txBody>
      </p:sp>
      <p:sp>
        <p:nvSpPr>
          <p:cNvPr id="25" name="Text 23"/>
          <p:cNvSpPr/>
          <p:nvPr/>
        </p:nvSpPr>
        <p:spPr>
          <a:xfrm>
            <a:off x="8869680" y="4974336"/>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파일 매니저</a:t>
            </a:r>
            <a:endParaRPr lang="en-US" sz="1300" dirty="0"/>
          </a:p>
        </p:txBody>
      </p:sp>
      <p:sp>
        <p:nvSpPr>
          <p:cNvPr id="26" name="Text 24"/>
          <p:cNvSpPr/>
          <p:nvPr/>
        </p:nvSpPr>
        <p:spPr>
          <a:xfrm>
            <a:off x="7863840" y="5294376"/>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FileManager</a:t>
            </a:r>
            <a:endParaRPr lang="en-US" sz="1000" dirty="0"/>
          </a:p>
        </p:txBody>
      </p:sp>
      <p:sp>
        <p:nvSpPr>
          <p:cNvPr id="27" name="Text 25"/>
          <p:cNvSpPr/>
          <p:nvPr/>
        </p:nvSpPr>
        <p:spPr>
          <a:xfrm>
            <a:off x="7863840" y="5596128"/>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파일 읽기·쓰기·삭제 같은 CRUD 연산을 Tool 로 제공한다.</a:t>
            </a:r>
            <a:endParaRPr lang="en-US" sz="1050" dirty="0"/>
          </a:p>
        </p:txBody>
      </p:sp>
      <p:sp>
        <p:nvSpPr>
          <p:cNvPr id="28" name="Text 26"/>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9" name="Text 27"/>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02 · 02A  ─  단일 TOOL 사용</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DPS 계산기</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078D4"/>
          </a:solidFill>
          <a:ln/>
        </p:spPr>
      </p:sp>
      <p:sp>
        <p:nvSpPr>
          <p:cNvPr id="8" name="Shape 6"/>
          <p:cNvSpPr/>
          <p:nvPr/>
        </p:nvSpPr>
        <p:spPr>
          <a:xfrm>
            <a:off x="777240" y="1691640"/>
            <a:ext cx="914400" cy="365760"/>
          </a:xfrm>
          <a:prstGeom prst="roundRect">
            <a:avLst>
              <a:gd name="adj" fmla="val 12500"/>
            </a:avLst>
          </a:prstGeom>
          <a:solidFill>
            <a:srgbClr val="0078D4"/>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DpsCalculator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078D4"/>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무기의 공격력과 공격 속도를 받아 초당 데미지(DPS)를 계산하는 함수를 Tool 로 등록한다. "공격력 100, 공격 속도 1.5인 무기의 DPS는?" 같은 자연어 질문에 LLM 이 자동으로 함수를 호출한다.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078D4"/>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Function Calling 의 정석 패턴 (시그니처 + Description + 자동 바인딩).</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Tools/DpsCalculationTool.cs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Models/WeaponStats.cs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사용자: "공격력 200, 속도 0.8 무기의 DPS?"</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에이전트: "DPS 는 160 입니다 (200 × 0.8)."</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02 · 02B  ─  단일 TOOL 사용</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CMD 명령어 실행기</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078D4"/>
          </a:solidFill>
          <a:ln/>
        </p:spPr>
      </p:sp>
      <p:sp>
        <p:nvSpPr>
          <p:cNvPr id="8" name="Shape 6"/>
          <p:cNvSpPr/>
          <p:nvPr/>
        </p:nvSpPr>
        <p:spPr>
          <a:xfrm>
            <a:off x="777240" y="1691640"/>
            <a:ext cx="914400" cy="365760"/>
          </a:xfrm>
          <a:prstGeom prst="roundRect">
            <a:avLst>
              <a:gd name="adj" fmla="val 12500"/>
            </a:avLst>
          </a:prstGeom>
          <a:solidFill>
            <a:srgbClr val="0078D4"/>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02B</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CmdExecutor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078D4"/>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Windows CMD 명령어를 실행하고 결과를 받아오는 Tool 을 만든다. del · format · shutdown 같은 위험한 명령어는 화이트리스트로 차단하는 안전 장치가 함께 포함된다.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078D4"/>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외부 프로세스 실행 Tool 의 구현, 보안 가드 패턴.</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Tools/CommandExecutionTool.cs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사용자: "현재 디렉토리 목록 보여줘"</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에이전트: dir 명령 실행 → 파일/폴더 목록 출력</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02 · 02C  ─  단일 TOOL 사용</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파일 매니저</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078D4"/>
          </a:solidFill>
          <a:ln/>
        </p:spPr>
      </p:sp>
      <p:sp>
        <p:nvSpPr>
          <p:cNvPr id="8" name="Shape 6"/>
          <p:cNvSpPr/>
          <p:nvPr/>
        </p:nvSpPr>
        <p:spPr>
          <a:xfrm>
            <a:off x="777240" y="1691640"/>
            <a:ext cx="914400" cy="365760"/>
          </a:xfrm>
          <a:prstGeom prst="roundRect">
            <a:avLst>
              <a:gd name="adj" fmla="val 12500"/>
            </a:avLst>
          </a:prstGeom>
          <a:solidFill>
            <a:srgbClr val="0078D4"/>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02C</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FileManager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078D4"/>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파일 읽기·쓰기·삭제 같은 CRUD 연산을 Tool 로 제공한다. 자연어로 파일 조작을 지시할 수 있어, 비개발자도 LLM 을 통해 파일 시스템을 다룰 수 있다.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078D4"/>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복수의 관련 Tool 묶음 정의, LLM 이 적절한 도구를 골라 쓰도록 유도.</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Tools/FileManagerTool.cs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사용자: "test.txt 에 'Hello' 라고 써줘"</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에이전트: ✅ 파일 작성 완료 (5 bytes)</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초급 · STAGE 03</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파일 시스템 연동</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Text 4"/>
          <p:cNvSpPr/>
          <p:nvPr/>
        </p:nvSpPr>
        <p:spPr>
          <a:xfrm>
            <a:off x="548640" y="1554480"/>
            <a:ext cx="6858000" cy="457200"/>
          </a:xfrm>
          <a:prstGeom prst="rect">
            <a:avLst/>
          </a:prstGeom>
          <a:noFill/>
          <a:ln/>
        </p:spPr>
        <p:txBody>
          <a:bodyPr wrap="square" lIns="0" tIns="0" rIns="0" bIns="0" rtlCol="0" anchor="ctr"/>
          <a:lstStyle/>
          <a:p>
            <a:pPr indent="0" marL="0">
              <a:buNone/>
            </a:pPr>
            <a:r>
              <a:rPr lang="en-US" sz="1800" b="1" dirty="0">
                <a:solidFill>
                  <a:srgbClr val="F97316"/>
                </a:solidFill>
                <a:latin typeface="Calibri" pitchFamily="34" charset="0"/>
                <a:ea typeface="Calibri" pitchFamily="34" charset="-122"/>
                <a:cs typeface="Calibri" pitchFamily="34" charset="-120"/>
              </a:rPr>
              <a:t>로그·리포트와 친해지기</a:t>
            </a:r>
            <a:endParaRPr lang="en-US" sz="1800" dirty="0"/>
          </a:p>
        </p:txBody>
      </p:sp>
      <p:sp>
        <p:nvSpPr>
          <p:cNvPr id="7" name="Text 5"/>
          <p:cNvSpPr/>
          <p:nvPr/>
        </p:nvSpPr>
        <p:spPr>
          <a:xfrm>
            <a:off x="548640" y="2103120"/>
            <a:ext cx="6858000" cy="1828800"/>
          </a:xfrm>
          <a:prstGeom prst="rect">
            <a:avLst/>
          </a:prstGeom>
          <a:noFill/>
          <a:ln/>
        </p:spPr>
        <p:txBody>
          <a:bodyPr wrap="square" lIns="0" tIns="0" rIns="0" bIns="0" rtlCol="0" anchor="ctr"/>
          <a:lstStyle/>
          <a:p>
            <a:pPr indent="0" marL="0">
              <a:spcAft>
                <a:spcPts val="600"/>
              </a:spcAft>
              <a:buNone/>
            </a:pPr>
            <a:r>
              <a:rPr lang="en-US" sz="1250" dirty="0">
                <a:solidFill>
                  <a:srgbClr val="1F2937"/>
                </a:solidFill>
                <a:latin typeface="Calibri" pitchFamily="34" charset="0"/>
                <a:ea typeface="Calibri" pitchFamily="34" charset="-122"/>
                <a:cs typeface="Calibri" pitchFamily="34" charset="-120"/>
              </a:rPr>
              <a:t>큰 텍스트 파일을 LLM 으로 다루는 노하우를 배운다. 토큰 한계를 넘는 입력을 청크로 나누고 요약하는 전략, 그리고 분석 결과를 다시 파일에 저장하는 흐름까지 학습한다.</a:t>
            </a:r>
            <a:endParaRPr lang="en-US" sz="1250" dirty="0"/>
          </a:p>
        </p:txBody>
      </p:sp>
      <p:sp>
        <p:nvSpPr>
          <p:cNvPr id="8" name="Text 6"/>
          <p:cNvSpPr/>
          <p:nvPr/>
        </p:nvSpPr>
        <p:spPr>
          <a:xfrm>
            <a:off x="365760" y="4023360"/>
            <a:ext cx="3657600" cy="2286000"/>
          </a:xfrm>
          <a:prstGeom prst="rect">
            <a:avLst/>
          </a:prstGeom>
          <a:noFill/>
          <a:ln/>
        </p:spPr>
        <p:txBody>
          <a:bodyPr wrap="square" lIns="0" tIns="0" rIns="0" bIns="0" rtlCol="0" anchor="ctr"/>
          <a:lstStyle/>
          <a:p>
            <a:pPr indent="0" marL="0">
              <a:buNone/>
            </a:pPr>
            <a:r>
              <a:rPr lang="en-US" sz="18000" b="1" dirty="0">
                <a:solidFill>
                  <a:srgbClr val="FED7AA"/>
                </a:solidFill>
                <a:latin typeface="Calibri" pitchFamily="34" charset="0"/>
                <a:ea typeface="Calibri" pitchFamily="34" charset="-122"/>
                <a:cs typeface="Calibri" pitchFamily="34" charset="-120"/>
              </a:rPr>
              <a:t>03</a:t>
            </a:r>
            <a:endParaRPr lang="en-US" sz="18000" dirty="0"/>
          </a:p>
        </p:txBody>
      </p:sp>
      <p:sp>
        <p:nvSpPr>
          <p:cNvPr id="9" name="Text 7"/>
          <p:cNvSpPr/>
          <p:nvPr/>
        </p:nvSpPr>
        <p:spPr>
          <a:xfrm>
            <a:off x="640080" y="4114800"/>
            <a:ext cx="2743200" cy="365760"/>
          </a:xfrm>
          <a:prstGeom prst="rect">
            <a:avLst/>
          </a:prstGeom>
          <a:noFill/>
          <a:ln/>
        </p:spPr>
        <p:txBody>
          <a:bodyPr wrap="square" lIns="0" tIns="0" rIns="0" bIns="0" rtlCol="0" anchor="ctr"/>
          <a:lstStyle/>
          <a:p>
            <a:pPr indent="0" marL="0">
              <a:buNone/>
            </a:pPr>
            <a:r>
              <a:rPr lang="en-US" sz="1400" b="1" spc="400" kern="0" dirty="0">
                <a:solidFill>
                  <a:srgbClr val="F97316"/>
                </a:solidFill>
                <a:latin typeface="Calibri" pitchFamily="34" charset="0"/>
                <a:ea typeface="Calibri" pitchFamily="34" charset="-122"/>
                <a:cs typeface="Calibri" pitchFamily="34" charset="-120"/>
              </a:rPr>
              <a:t>STAGE</a:t>
            </a:r>
            <a:endParaRPr lang="en-US" sz="1400" dirty="0"/>
          </a:p>
        </p:txBody>
      </p:sp>
      <p:sp>
        <p:nvSpPr>
          <p:cNvPr id="10" name="Shape 8"/>
          <p:cNvSpPr/>
          <p:nvPr/>
        </p:nvSpPr>
        <p:spPr>
          <a:xfrm>
            <a:off x="7680960" y="1554480"/>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1" name="Shape 9"/>
          <p:cNvSpPr/>
          <p:nvPr/>
        </p:nvSpPr>
        <p:spPr>
          <a:xfrm>
            <a:off x="7680960" y="1554480"/>
            <a:ext cx="109728" cy="1554480"/>
          </a:xfrm>
          <a:prstGeom prst="rect">
            <a:avLst/>
          </a:prstGeom>
          <a:solidFill>
            <a:srgbClr val="F97316"/>
          </a:solidFill>
          <a:ln/>
        </p:spPr>
      </p:sp>
      <p:sp>
        <p:nvSpPr>
          <p:cNvPr id="12" name="Text 10"/>
          <p:cNvSpPr/>
          <p:nvPr/>
        </p:nvSpPr>
        <p:spPr>
          <a:xfrm>
            <a:off x="7863840" y="1645920"/>
            <a:ext cx="10972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03A</a:t>
            </a:r>
            <a:endParaRPr lang="en-US" sz="1300" dirty="0"/>
          </a:p>
        </p:txBody>
      </p:sp>
      <p:sp>
        <p:nvSpPr>
          <p:cNvPr id="13" name="Text 11"/>
          <p:cNvSpPr/>
          <p:nvPr/>
        </p:nvSpPr>
        <p:spPr>
          <a:xfrm>
            <a:off x="8869680" y="1645920"/>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로그 파일 요약기</a:t>
            </a:r>
            <a:endParaRPr lang="en-US" sz="1300" dirty="0"/>
          </a:p>
        </p:txBody>
      </p:sp>
      <p:sp>
        <p:nvSpPr>
          <p:cNvPr id="14" name="Text 12"/>
          <p:cNvSpPr/>
          <p:nvPr/>
        </p:nvSpPr>
        <p:spPr>
          <a:xfrm>
            <a:off x="7863840" y="1965960"/>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LogSummarizer</a:t>
            </a:r>
            <a:endParaRPr lang="en-US" sz="1000" dirty="0"/>
          </a:p>
        </p:txBody>
      </p:sp>
      <p:sp>
        <p:nvSpPr>
          <p:cNvPr id="15" name="Text 13"/>
          <p:cNvSpPr/>
          <p:nvPr/>
        </p:nvSpPr>
        <p:spPr>
          <a:xfrm>
            <a:off x="7863840" y="2267712"/>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게임 플레이 로그(game_log.</a:t>
            </a:r>
            <a:endParaRPr lang="en-US" sz="1050" dirty="0"/>
          </a:p>
        </p:txBody>
      </p:sp>
      <p:sp>
        <p:nvSpPr>
          <p:cNvPr id="16" name="Shape 14"/>
          <p:cNvSpPr/>
          <p:nvPr/>
        </p:nvSpPr>
        <p:spPr>
          <a:xfrm>
            <a:off x="7680960" y="3218688"/>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7" name="Shape 15"/>
          <p:cNvSpPr/>
          <p:nvPr/>
        </p:nvSpPr>
        <p:spPr>
          <a:xfrm>
            <a:off x="7680960" y="3218688"/>
            <a:ext cx="109728" cy="1554480"/>
          </a:xfrm>
          <a:prstGeom prst="rect">
            <a:avLst/>
          </a:prstGeom>
          <a:solidFill>
            <a:srgbClr val="F97316"/>
          </a:solidFill>
          <a:ln/>
        </p:spPr>
      </p:sp>
      <p:sp>
        <p:nvSpPr>
          <p:cNvPr id="18" name="Text 16"/>
          <p:cNvSpPr/>
          <p:nvPr/>
        </p:nvSpPr>
        <p:spPr>
          <a:xfrm>
            <a:off x="7863840" y="3310128"/>
            <a:ext cx="10972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03B</a:t>
            </a:r>
            <a:endParaRPr lang="en-US" sz="1300" dirty="0"/>
          </a:p>
        </p:txBody>
      </p:sp>
      <p:sp>
        <p:nvSpPr>
          <p:cNvPr id="19" name="Text 17"/>
          <p:cNvSpPr/>
          <p:nvPr/>
        </p:nvSpPr>
        <p:spPr>
          <a:xfrm>
            <a:off x="8869680" y="3310128"/>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에러 패턴 분석기</a:t>
            </a:r>
            <a:endParaRPr lang="en-US" sz="1300" dirty="0"/>
          </a:p>
        </p:txBody>
      </p:sp>
      <p:sp>
        <p:nvSpPr>
          <p:cNvPr id="20" name="Text 18"/>
          <p:cNvSpPr/>
          <p:nvPr/>
        </p:nvSpPr>
        <p:spPr>
          <a:xfrm>
            <a:off x="7863840" y="3630168"/>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ErrorPatternAnalyzer</a:t>
            </a:r>
            <a:endParaRPr lang="en-US" sz="1000" dirty="0"/>
          </a:p>
        </p:txBody>
      </p:sp>
      <p:sp>
        <p:nvSpPr>
          <p:cNvPr id="21" name="Text 19"/>
          <p:cNvSpPr/>
          <p:nvPr/>
        </p:nvSpPr>
        <p:spPr>
          <a:xfrm>
            <a:off x="7863840" y="3931920"/>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여러 크래시 리포트를 읽어 공통 패턴을 찾아내는 분석기이다.</a:t>
            </a:r>
            <a:endParaRPr lang="en-US" sz="1050" dirty="0"/>
          </a:p>
        </p:txBody>
      </p:sp>
      <p:sp>
        <p:nvSpPr>
          <p:cNvPr id="22" name="Shape 20"/>
          <p:cNvSpPr/>
          <p:nvPr/>
        </p:nvSpPr>
        <p:spPr>
          <a:xfrm>
            <a:off x="7680960" y="4882896"/>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3" name="Shape 21"/>
          <p:cNvSpPr/>
          <p:nvPr/>
        </p:nvSpPr>
        <p:spPr>
          <a:xfrm>
            <a:off x="7680960" y="4882896"/>
            <a:ext cx="109728" cy="1554480"/>
          </a:xfrm>
          <a:prstGeom prst="rect">
            <a:avLst/>
          </a:prstGeom>
          <a:solidFill>
            <a:srgbClr val="F97316"/>
          </a:solidFill>
          <a:ln/>
        </p:spPr>
      </p:sp>
      <p:sp>
        <p:nvSpPr>
          <p:cNvPr id="24" name="Text 22"/>
          <p:cNvSpPr/>
          <p:nvPr/>
        </p:nvSpPr>
        <p:spPr>
          <a:xfrm>
            <a:off x="7863840" y="4974336"/>
            <a:ext cx="10972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03C</a:t>
            </a:r>
            <a:endParaRPr lang="en-US" sz="1300" dirty="0"/>
          </a:p>
        </p:txBody>
      </p:sp>
      <p:sp>
        <p:nvSpPr>
          <p:cNvPr id="25" name="Text 23"/>
          <p:cNvSpPr/>
          <p:nvPr/>
        </p:nvSpPr>
        <p:spPr>
          <a:xfrm>
            <a:off x="8869680" y="4974336"/>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세이브 파일 검증기</a:t>
            </a:r>
            <a:endParaRPr lang="en-US" sz="1300" dirty="0"/>
          </a:p>
        </p:txBody>
      </p:sp>
      <p:sp>
        <p:nvSpPr>
          <p:cNvPr id="26" name="Text 24"/>
          <p:cNvSpPr/>
          <p:nvPr/>
        </p:nvSpPr>
        <p:spPr>
          <a:xfrm>
            <a:off x="7863840" y="5294376"/>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SaveFileValidator</a:t>
            </a:r>
            <a:endParaRPr lang="en-US" sz="1000" dirty="0"/>
          </a:p>
        </p:txBody>
      </p:sp>
      <p:sp>
        <p:nvSpPr>
          <p:cNvPr id="27" name="Text 25"/>
          <p:cNvSpPr/>
          <p:nvPr/>
        </p:nvSpPr>
        <p:spPr>
          <a:xfrm>
            <a:off x="7863840" y="5596128"/>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JSON 형식의 게임 세이브 파일이 무결한지 확인하고, 손상된 필드를 발견하면 자동 보정 또는 백업본 복원을 제안한다.</a:t>
            </a:r>
            <a:endParaRPr lang="en-US" sz="1050" dirty="0"/>
          </a:p>
        </p:txBody>
      </p:sp>
      <p:sp>
        <p:nvSpPr>
          <p:cNvPr id="28" name="Text 26"/>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9" name="Text 27"/>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03 · 03A  ─  파일 시스템 연동</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로그 파일 요약기</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F97316"/>
          </a:solidFill>
          <a:ln/>
        </p:spPr>
      </p:sp>
      <p:sp>
        <p:nvSpPr>
          <p:cNvPr id="8" name="Shape 6"/>
          <p:cNvSpPr/>
          <p:nvPr/>
        </p:nvSpPr>
        <p:spPr>
          <a:xfrm>
            <a:off x="777240" y="1691640"/>
            <a:ext cx="914400" cy="365760"/>
          </a:xfrm>
          <a:prstGeom prst="roundRect">
            <a:avLst>
              <a:gd name="adj" fmla="val 12500"/>
            </a:avLst>
          </a:prstGeom>
          <a:solidFill>
            <a:srgbClr val="F97316"/>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LogSummarizer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게임 플레이 로그(game_log.txt)를 읽어 주요 이벤트만 발췌하고 요약 리포트를 생성한다. 시간대별 플레이어 행동, 에러 발생 빈도 같은 인사이트를 자동으로 정리한다.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파일 읽기 Tool 구현, 대용량 텍스트의 청킹과 요약.</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Tools/FileReadTool.cs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data/game_log.txt</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입력: 10MB 게임 로그</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출력: "플레이어 A 가 14:32 에 보스를 격파했고, NullReferenceException 이 3 회 발생했습니다."</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03 · 03B  ─  파일 시스템 연동</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에러 패턴 분석기</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F97316"/>
          </a:solidFill>
          <a:ln/>
        </p:spPr>
      </p:sp>
      <p:sp>
        <p:nvSpPr>
          <p:cNvPr id="8" name="Shape 6"/>
          <p:cNvSpPr/>
          <p:nvPr/>
        </p:nvSpPr>
        <p:spPr>
          <a:xfrm>
            <a:off x="777240" y="1691640"/>
            <a:ext cx="914400" cy="365760"/>
          </a:xfrm>
          <a:prstGeom prst="roundRect">
            <a:avLst>
              <a:gd name="adj" fmla="val 12500"/>
            </a:avLst>
          </a:prstGeom>
          <a:solidFill>
            <a:srgbClr val="F97316"/>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03B</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ErrorPatternAnalyzer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여러 크래시 리포트를 읽어 공통 패턴을 찾아내는 분석기이다. "이번 주 가장 많이 발생한 크래시는?" 같은 질문에 LLM 이 패턴을 추출해 상위 N 개 원인을 보고한다.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여러 파일 비교·분석, 패턴 추출, 우선순위 정렬.</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Tools/FileAnalysisTool.cs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samples/crash_report.txt</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입력: 50 개 크래시 리포트</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출력: "공통 원인 ① NullRef in InventoryService (28건) ② 메모리 부족 (15건)"</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03 · 03C  ─  파일 시스템 연동</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세이브 파일 검증기</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F97316"/>
          </a:solidFill>
          <a:ln/>
        </p:spPr>
      </p:sp>
      <p:sp>
        <p:nvSpPr>
          <p:cNvPr id="8" name="Shape 6"/>
          <p:cNvSpPr/>
          <p:nvPr/>
        </p:nvSpPr>
        <p:spPr>
          <a:xfrm>
            <a:off x="777240" y="1691640"/>
            <a:ext cx="914400" cy="365760"/>
          </a:xfrm>
          <a:prstGeom prst="roundRect">
            <a:avLst>
              <a:gd name="adj" fmla="val 12500"/>
            </a:avLst>
          </a:prstGeom>
          <a:solidFill>
            <a:srgbClr val="F97316"/>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03C</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SaveFileValidator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JSON 형식의 게임 세이브 파일이 무결한지 확인하고, 손상된 필드를 발견하면 자동 보정 또는 백업본 복원을 제안한다.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파일 쓰기/수정 Tool 구현, 데이터 무결성 검사.</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Tools/FileWriteTool.cs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samples/save_data.json</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입력: 손상된 save_data.json</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출력: "⚠ HP 필드가 음수입니다. 백업에서 복원하시겠습니까?"</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중급 · STAGE 04</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다중 Tool 활용</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Text 4"/>
          <p:cNvSpPr/>
          <p:nvPr/>
        </p:nvSpPr>
        <p:spPr>
          <a:xfrm>
            <a:off x="548640" y="1554480"/>
            <a:ext cx="6858000" cy="457200"/>
          </a:xfrm>
          <a:prstGeom prst="rect">
            <a:avLst/>
          </a:prstGeom>
          <a:noFill/>
          <a:ln/>
        </p:spPr>
        <p:txBody>
          <a:bodyPr wrap="square" lIns="0" tIns="0" rIns="0" bIns="0" rtlCol="0" anchor="ctr"/>
          <a:lstStyle/>
          <a:p>
            <a:pPr indent="0" marL="0">
              <a:buNone/>
            </a:pPr>
            <a:r>
              <a:rPr lang="en-US" sz="1800" b="1" dirty="0">
                <a:solidFill>
                  <a:srgbClr val="059669"/>
                </a:solidFill>
                <a:latin typeface="Calibri" pitchFamily="34" charset="0"/>
                <a:ea typeface="Calibri" pitchFamily="34" charset="-122"/>
                <a:cs typeface="Calibri" pitchFamily="34" charset="-120"/>
              </a:rPr>
              <a:t>Tool 조합 · 우선순위 · 데이터 공유</a:t>
            </a:r>
            <a:endParaRPr lang="en-US" sz="1800" dirty="0"/>
          </a:p>
        </p:txBody>
      </p:sp>
      <p:sp>
        <p:nvSpPr>
          <p:cNvPr id="7" name="Text 5"/>
          <p:cNvSpPr/>
          <p:nvPr/>
        </p:nvSpPr>
        <p:spPr>
          <a:xfrm>
            <a:off x="548640" y="2103120"/>
            <a:ext cx="6858000" cy="1828800"/>
          </a:xfrm>
          <a:prstGeom prst="rect">
            <a:avLst/>
          </a:prstGeom>
          <a:noFill/>
          <a:ln/>
        </p:spPr>
        <p:txBody>
          <a:bodyPr wrap="square" lIns="0" tIns="0" rIns="0" bIns="0" rtlCol="0" anchor="ctr"/>
          <a:lstStyle/>
          <a:p>
            <a:pPr indent="0" marL="0">
              <a:spcAft>
                <a:spcPts val="600"/>
              </a:spcAft>
              <a:buNone/>
            </a:pPr>
            <a:r>
              <a:rPr lang="en-US" sz="1250" dirty="0">
                <a:solidFill>
                  <a:srgbClr val="1F2937"/>
                </a:solidFill>
                <a:latin typeface="Calibri" pitchFamily="34" charset="0"/>
                <a:ea typeface="Calibri" pitchFamily="34" charset="-122"/>
                <a:cs typeface="Calibri" pitchFamily="34" charset="-120"/>
              </a:rPr>
              <a:t>여러 Tool 을 한 에이전트에 등록하고 조합해서 복잡한 작업을 수행한다. Tool 간 데이터 흐름과 호출 순서를 LLM 이 어떻게 결정하는지 관찰하며, 의존성 관리 패턴을 익힌다.</a:t>
            </a:r>
            <a:endParaRPr lang="en-US" sz="1250" dirty="0"/>
          </a:p>
        </p:txBody>
      </p:sp>
      <p:sp>
        <p:nvSpPr>
          <p:cNvPr id="8" name="Text 6"/>
          <p:cNvSpPr/>
          <p:nvPr/>
        </p:nvSpPr>
        <p:spPr>
          <a:xfrm>
            <a:off x="365760" y="4023360"/>
            <a:ext cx="3657600" cy="2286000"/>
          </a:xfrm>
          <a:prstGeom prst="rect">
            <a:avLst/>
          </a:prstGeom>
          <a:noFill/>
          <a:ln/>
        </p:spPr>
        <p:txBody>
          <a:bodyPr wrap="square" lIns="0" tIns="0" rIns="0" bIns="0" rtlCol="0" anchor="ctr"/>
          <a:lstStyle/>
          <a:p>
            <a:pPr indent="0" marL="0">
              <a:buNone/>
            </a:pPr>
            <a:r>
              <a:rPr lang="en-US" sz="18000" b="1" dirty="0">
                <a:solidFill>
                  <a:srgbClr val="FED7AA"/>
                </a:solidFill>
                <a:latin typeface="Calibri" pitchFamily="34" charset="0"/>
                <a:ea typeface="Calibri" pitchFamily="34" charset="-122"/>
                <a:cs typeface="Calibri" pitchFamily="34" charset="-120"/>
              </a:rPr>
              <a:t>04</a:t>
            </a:r>
            <a:endParaRPr lang="en-US" sz="18000" dirty="0"/>
          </a:p>
        </p:txBody>
      </p:sp>
      <p:sp>
        <p:nvSpPr>
          <p:cNvPr id="9" name="Text 7"/>
          <p:cNvSpPr/>
          <p:nvPr/>
        </p:nvSpPr>
        <p:spPr>
          <a:xfrm>
            <a:off x="640080" y="4114800"/>
            <a:ext cx="2743200" cy="365760"/>
          </a:xfrm>
          <a:prstGeom prst="rect">
            <a:avLst/>
          </a:prstGeom>
          <a:noFill/>
          <a:ln/>
        </p:spPr>
        <p:txBody>
          <a:bodyPr wrap="square" lIns="0" tIns="0" rIns="0" bIns="0" rtlCol="0" anchor="ctr"/>
          <a:lstStyle/>
          <a:p>
            <a:pPr indent="0" marL="0">
              <a:buNone/>
            </a:pPr>
            <a:r>
              <a:rPr lang="en-US" sz="1400" b="1" spc="400" kern="0" dirty="0">
                <a:solidFill>
                  <a:srgbClr val="F97316"/>
                </a:solidFill>
                <a:latin typeface="Calibri" pitchFamily="34" charset="0"/>
                <a:ea typeface="Calibri" pitchFamily="34" charset="-122"/>
                <a:cs typeface="Calibri" pitchFamily="34" charset="-120"/>
              </a:rPr>
              <a:t>STAGE</a:t>
            </a:r>
            <a:endParaRPr lang="en-US" sz="1400" dirty="0"/>
          </a:p>
        </p:txBody>
      </p:sp>
      <p:sp>
        <p:nvSpPr>
          <p:cNvPr id="10" name="Shape 8"/>
          <p:cNvSpPr/>
          <p:nvPr/>
        </p:nvSpPr>
        <p:spPr>
          <a:xfrm>
            <a:off x="7680960" y="1554480"/>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1" name="Shape 9"/>
          <p:cNvSpPr/>
          <p:nvPr/>
        </p:nvSpPr>
        <p:spPr>
          <a:xfrm>
            <a:off x="7680960" y="1554480"/>
            <a:ext cx="109728" cy="1554480"/>
          </a:xfrm>
          <a:prstGeom prst="rect">
            <a:avLst/>
          </a:prstGeom>
          <a:solidFill>
            <a:srgbClr val="059669"/>
          </a:solidFill>
          <a:ln/>
        </p:spPr>
      </p:sp>
      <p:sp>
        <p:nvSpPr>
          <p:cNvPr id="12" name="Text 10"/>
          <p:cNvSpPr/>
          <p:nvPr/>
        </p:nvSpPr>
        <p:spPr>
          <a:xfrm>
            <a:off x="7863840" y="1645920"/>
            <a:ext cx="10972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04A</a:t>
            </a:r>
            <a:endParaRPr lang="en-US" sz="1300" dirty="0"/>
          </a:p>
        </p:txBody>
      </p:sp>
      <p:sp>
        <p:nvSpPr>
          <p:cNvPr id="13" name="Text 11"/>
          <p:cNvSpPr/>
          <p:nvPr/>
        </p:nvSpPr>
        <p:spPr>
          <a:xfrm>
            <a:off x="8869680" y="1645920"/>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리소스 최적화 어시스턴트</a:t>
            </a:r>
            <a:endParaRPr lang="en-US" sz="1300" dirty="0"/>
          </a:p>
        </p:txBody>
      </p:sp>
      <p:sp>
        <p:nvSpPr>
          <p:cNvPr id="14" name="Text 12"/>
          <p:cNvSpPr/>
          <p:nvPr/>
        </p:nvSpPr>
        <p:spPr>
          <a:xfrm>
            <a:off x="7863840" y="1965960"/>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ResourceOptimizer</a:t>
            </a:r>
            <a:endParaRPr lang="en-US" sz="1000" dirty="0"/>
          </a:p>
        </p:txBody>
      </p:sp>
      <p:sp>
        <p:nvSpPr>
          <p:cNvPr id="15" name="Text 13"/>
          <p:cNvSpPr/>
          <p:nvPr/>
        </p:nvSpPr>
        <p:spPr>
          <a:xfrm>
            <a:off x="7863840" y="2267712"/>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게임 텍스처와 오디오 파일을 분석해 메모리 사용량을 추정하고 최적화 방안을 제안한다.</a:t>
            </a:r>
            <a:endParaRPr lang="en-US" sz="1050" dirty="0"/>
          </a:p>
        </p:txBody>
      </p:sp>
      <p:sp>
        <p:nvSpPr>
          <p:cNvPr id="16" name="Shape 14"/>
          <p:cNvSpPr/>
          <p:nvPr/>
        </p:nvSpPr>
        <p:spPr>
          <a:xfrm>
            <a:off x="7680960" y="3218688"/>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7" name="Shape 15"/>
          <p:cNvSpPr/>
          <p:nvPr/>
        </p:nvSpPr>
        <p:spPr>
          <a:xfrm>
            <a:off x="7680960" y="3218688"/>
            <a:ext cx="109728" cy="1554480"/>
          </a:xfrm>
          <a:prstGeom prst="rect">
            <a:avLst/>
          </a:prstGeom>
          <a:solidFill>
            <a:srgbClr val="059669"/>
          </a:solidFill>
          <a:ln/>
        </p:spPr>
      </p:sp>
      <p:sp>
        <p:nvSpPr>
          <p:cNvPr id="18" name="Text 16"/>
          <p:cNvSpPr/>
          <p:nvPr/>
        </p:nvSpPr>
        <p:spPr>
          <a:xfrm>
            <a:off x="7863840" y="3310128"/>
            <a:ext cx="10972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04B</a:t>
            </a:r>
            <a:endParaRPr lang="en-US" sz="1300" dirty="0"/>
          </a:p>
        </p:txBody>
      </p:sp>
      <p:sp>
        <p:nvSpPr>
          <p:cNvPr id="19" name="Text 17"/>
          <p:cNvSpPr/>
          <p:nvPr/>
        </p:nvSpPr>
        <p:spPr>
          <a:xfrm>
            <a:off x="8869680" y="3310128"/>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빌드 분석기</a:t>
            </a:r>
            <a:endParaRPr lang="en-US" sz="1300" dirty="0"/>
          </a:p>
        </p:txBody>
      </p:sp>
      <p:sp>
        <p:nvSpPr>
          <p:cNvPr id="20" name="Text 18"/>
          <p:cNvSpPr/>
          <p:nvPr/>
        </p:nvSpPr>
        <p:spPr>
          <a:xfrm>
            <a:off x="7863840" y="3630168"/>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BuildAnalyzer</a:t>
            </a:r>
            <a:endParaRPr lang="en-US" sz="1000" dirty="0"/>
          </a:p>
        </p:txBody>
      </p:sp>
      <p:sp>
        <p:nvSpPr>
          <p:cNvPr id="21" name="Text 19"/>
          <p:cNvSpPr/>
          <p:nvPr/>
        </p:nvSpPr>
        <p:spPr>
          <a:xfrm>
            <a:off x="7863840" y="3931920"/>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MSBuild 또는 Unity 빌드 로그를 파싱해 경고와 에러를 분류하고 심각도별로 정리한다.</a:t>
            </a:r>
            <a:endParaRPr lang="en-US" sz="1050" dirty="0"/>
          </a:p>
        </p:txBody>
      </p:sp>
      <p:sp>
        <p:nvSpPr>
          <p:cNvPr id="22" name="Shape 20"/>
          <p:cNvSpPr/>
          <p:nvPr/>
        </p:nvSpPr>
        <p:spPr>
          <a:xfrm>
            <a:off x="7680960" y="4882896"/>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3" name="Shape 21"/>
          <p:cNvSpPr/>
          <p:nvPr/>
        </p:nvSpPr>
        <p:spPr>
          <a:xfrm>
            <a:off x="7680960" y="4882896"/>
            <a:ext cx="109728" cy="1554480"/>
          </a:xfrm>
          <a:prstGeom prst="rect">
            <a:avLst/>
          </a:prstGeom>
          <a:solidFill>
            <a:srgbClr val="059669"/>
          </a:solidFill>
          <a:ln/>
        </p:spPr>
      </p:sp>
      <p:sp>
        <p:nvSpPr>
          <p:cNvPr id="24" name="Text 22"/>
          <p:cNvSpPr/>
          <p:nvPr/>
        </p:nvSpPr>
        <p:spPr>
          <a:xfrm>
            <a:off x="7863840" y="4974336"/>
            <a:ext cx="10972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04C</a:t>
            </a:r>
            <a:endParaRPr lang="en-US" sz="1300" dirty="0"/>
          </a:p>
        </p:txBody>
      </p:sp>
      <p:sp>
        <p:nvSpPr>
          <p:cNvPr id="25" name="Text 23"/>
          <p:cNvSpPr/>
          <p:nvPr/>
        </p:nvSpPr>
        <p:spPr>
          <a:xfrm>
            <a:off x="8869680" y="4974336"/>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성능 프로파일러</a:t>
            </a:r>
            <a:endParaRPr lang="en-US" sz="1300" dirty="0"/>
          </a:p>
        </p:txBody>
      </p:sp>
      <p:sp>
        <p:nvSpPr>
          <p:cNvPr id="26" name="Text 24"/>
          <p:cNvSpPr/>
          <p:nvPr/>
        </p:nvSpPr>
        <p:spPr>
          <a:xfrm>
            <a:off x="7863840" y="5294376"/>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PerformanceProfiler</a:t>
            </a:r>
            <a:endParaRPr lang="en-US" sz="1000" dirty="0"/>
          </a:p>
        </p:txBody>
      </p:sp>
      <p:sp>
        <p:nvSpPr>
          <p:cNvPr id="27" name="Text 25"/>
          <p:cNvSpPr/>
          <p:nvPr/>
        </p:nvSpPr>
        <p:spPr>
          <a:xfrm>
            <a:off x="7863840" y="5596128"/>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FPS 데이터를 분석해 병목 구간을 자동 탐지하고, 가능한 원인과 개선안을 LLM 이 추천한다.</a:t>
            </a:r>
            <a:endParaRPr lang="en-US" sz="1050" dirty="0"/>
          </a:p>
        </p:txBody>
      </p:sp>
      <p:sp>
        <p:nvSpPr>
          <p:cNvPr id="28" name="Text 26"/>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9" name="Text 27"/>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04 · 04A  ─  다중 TOOL 활용</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리소스 최적화 어시스턴트</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59669"/>
          </a:solidFill>
          <a:ln/>
        </p:spPr>
      </p:sp>
      <p:sp>
        <p:nvSpPr>
          <p:cNvPr id="8" name="Shape 6"/>
          <p:cNvSpPr/>
          <p:nvPr/>
        </p:nvSpPr>
        <p:spPr>
          <a:xfrm>
            <a:off x="777240" y="1691640"/>
            <a:ext cx="914400" cy="365760"/>
          </a:xfrm>
          <a:prstGeom prst="roundRect">
            <a:avLst>
              <a:gd name="adj" fmla="val 12500"/>
            </a:avLst>
          </a:prstGeom>
          <a:solidFill>
            <a:srgbClr val="059669"/>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ResourceOptimizer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게임 텍스처와 오디오 파일을 분석해 메모리 사용량을 추정하고 최적화 방안을 제안한다. 여러 Tool(텍스처 분석, 메모리 추정, 제안 생성)이 한 작업에서 협업한다.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여러 Tool 의 조합, 결과를 다음 Tool 의 입력으로 전달하는 패턴.</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Tools/TextureAnalyzerTool.cs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Tools/MemoryEstimatorTool.cs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입력: assets/ 폴더</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출력: "전체 텍스처 480MB → 압축 시 210MB. 압축 권장 파일 23개 목록 첨부."</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04 · 04B  ─  다중 TOOL 활용</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빌드 분석기</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59669"/>
          </a:solidFill>
          <a:ln/>
        </p:spPr>
      </p:sp>
      <p:sp>
        <p:nvSpPr>
          <p:cNvPr id="8" name="Shape 6"/>
          <p:cNvSpPr/>
          <p:nvPr/>
        </p:nvSpPr>
        <p:spPr>
          <a:xfrm>
            <a:off x="777240" y="1691640"/>
            <a:ext cx="914400" cy="365760"/>
          </a:xfrm>
          <a:prstGeom prst="roundRect">
            <a:avLst>
              <a:gd name="adj" fmla="val 12500"/>
            </a:avLst>
          </a:prstGeom>
          <a:solidFill>
            <a:srgbClr val="059669"/>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04B</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BuildAnalyzer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MSBuild 또는 Unity 빌드 로그를 파싱해 경고와 에러를 분류하고 심각도별로 정리한다. Tool 간 데이터 공유를 통해 한 번의 분석으로 여러 관점의 리포트를 생성한다.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Tool 간 상태 공유, 중간 결과물 활용.</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Tools/BuildLogParserTool.cs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Tools/WarningClassifierTool.cs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입력: build.log (빌드 로그 12000 줄)</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출력: "치명적 1건, 에러 4건, 경고 87건 (중복 제거 후 23건)"</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04 · 04C  ─  다중 TOOL 활용</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성능 프로파일러</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59669"/>
          </a:solidFill>
          <a:ln/>
        </p:spPr>
      </p:sp>
      <p:sp>
        <p:nvSpPr>
          <p:cNvPr id="8" name="Shape 6"/>
          <p:cNvSpPr/>
          <p:nvPr/>
        </p:nvSpPr>
        <p:spPr>
          <a:xfrm>
            <a:off x="777240" y="1691640"/>
            <a:ext cx="914400" cy="365760"/>
          </a:xfrm>
          <a:prstGeom prst="roundRect">
            <a:avLst>
              <a:gd name="adj" fmla="val 12500"/>
            </a:avLst>
          </a:prstGeom>
          <a:solidFill>
            <a:srgbClr val="059669"/>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04C</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PerformanceProfiler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FPS 데이터를 분석해 병목 구간을 자동 탐지하고, 가능한 원인과 개선안을 LLM 이 추천한다. 시계열 데이터와 자연어 분석이 결합된 도구이다.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Tool 우선순위 관리, 시계열 데이터 → 인사이트 추출.</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Tools/FpsAnalyzerTool.cs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Tools/BottleneckDetectorTool.cs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입력: fps_log.csv</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출력: "21~24 초 구간에 FPS 가 60 → 22 로 급락. GPU 드로우콜 급증이 원인."</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중급 · STAGE 05</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외부 API 연동</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Text 4"/>
          <p:cNvSpPr/>
          <p:nvPr/>
        </p:nvSpPr>
        <p:spPr>
          <a:xfrm>
            <a:off x="548640" y="1554480"/>
            <a:ext cx="6858000" cy="457200"/>
          </a:xfrm>
          <a:prstGeom prst="rect">
            <a:avLst/>
          </a:prstGeom>
          <a:noFill/>
          <a:ln/>
        </p:spPr>
        <p:txBody>
          <a:bodyPr wrap="square" lIns="0" tIns="0" rIns="0" bIns="0" rtlCol="0" anchor="ctr"/>
          <a:lstStyle/>
          <a:p>
            <a:pPr indent="0" marL="0">
              <a:buNone/>
            </a:pPr>
            <a:r>
              <a:rPr lang="en-US" sz="1800" b="1" dirty="0">
                <a:solidFill>
                  <a:srgbClr val="0078D4"/>
                </a:solidFill>
                <a:latin typeface="Calibri" pitchFamily="34" charset="0"/>
                <a:ea typeface="Calibri" pitchFamily="34" charset="-122"/>
                <a:cs typeface="Calibri" pitchFamily="34" charset="-120"/>
              </a:rPr>
              <a:t>REST API 를 Tool 로 래핑하기</a:t>
            </a:r>
            <a:endParaRPr lang="en-US" sz="1800" dirty="0"/>
          </a:p>
        </p:txBody>
      </p:sp>
      <p:sp>
        <p:nvSpPr>
          <p:cNvPr id="7" name="Text 5"/>
          <p:cNvSpPr/>
          <p:nvPr/>
        </p:nvSpPr>
        <p:spPr>
          <a:xfrm>
            <a:off x="548640" y="2103120"/>
            <a:ext cx="6858000" cy="1828800"/>
          </a:xfrm>
          <a:prstGeom prst="rect">
            <a:avLst/>
          </a:prstGeom>
          <a:noFill/>
          <a:ln/>
        </p:spPr>
        <p:txBody>
          <a:bodyPr wrap="square" lIns="0" tIns="0" rIns="0" bIns="0" rtlCol="0" anchor="ctr"/>
          <a:lstStyle/>
          <a:p>
            <a:pPr indent="0" marL="0">
              <a:spcAft>
                <a:spcPts val="600"/>
              </a:spcAft>
              <a:buNone/>
            </a:pPr>
            <a:r>
              <a:rPr lang="en-US" sz="1250" dirty="0">
                <a:solidFill>
                  <a:srgbClr val="1F2937"/>
                </a:solidFill>
                <a:latin typeface="Calibri" pitchFamily="34" charset="0"/>
                <a:ea typeface="Calibri" pitchFamily="34" charset="-122"/>
                <a:cs typeface="Calibri" pitchFamily="34" charset="-120"/>
              </a:rPr>
              <a:t>Jira, GitHub, Slack 같은 외부 서비스의 REST API 를 Tool 로 감싸서 자연어 인터페이스를 부여한다. API 키 관리, 인증 처리, 에러 핸들링과 재시도 로직 같은 실무 패턴을 익힌다.</a:t>
            </a:r>
            <a:endParaRPr lang="en-US" sz="1250" dirty="0"/>
          </a:p>
        </p:txBody>
      </p:sp>
      <p:sp>
        <p:nvSpPr>
          <p:cNvPr id="8" name="Text 6"/>
          <p:cNvSpPr/>
          <p:nvPr/>
        </p:nvSpPr>
        <p:spPr>
          <a:xfrm>
            <a:off x="365760" y="4023360"/>
            <a:ext cx="3657600" cy="2286000"/>
          </a:xfrm>
          <a:prstGeom prst="rect">
            <a:avLst/>
          </a:prstGeom>
          <a:noFill/>
          <a:ln/>
        </p:spPr>
        <p:txBody>
          <a:bodyPr wrap="square" lIns="0" tIns="0" rIns="0" bIns="0" rtlCol="0" anchor="ctr"/>
          <a:lstStyle/>
          <a:p>
            <a:pPr indent="0" marL="0">
              <a:buNone/>
            </a:pPr>
            <a:r>
              <a:rPr lang="en-US" sz="18000" b="1" dirty="0">
                <a:solidFill>
                  <a:srgbClr val="FED7AA"/>
                </a:solidFill>
                <a:latin typeface="Calibri" pitchFamily="34" charset="0"/>
                <a:ea typeface="Calibri" pitchFamily="34" charset="-122"/>
                <a:cs typeface="Calibri" pitchFamily="34" charset="-120"/>
              </a:rPr>
              <a:t>05</a:t>
            </a:r>
            <a:endParaRPr lang="en-US" sz="18000" dirty="0"/>
          </a:p>
        </p:txBody>
      </p:sp>
      <p:sp>
        <p:nvSpPr>
          <p:cNvPr id="9" name="Text 7"/>
          <p:cNvSpPr/>
          <p:nvPr/>
        </p:nvSpPr>
        <p:spPr>
          <a:xfrm>
            <a:off x="640080" y="4114800"/>
            <a:ext cx="2743200" cy="365760"/>
          </a:xfrm>
          <a:prstGeom prst="rect">
            <a:avLst/>
          </a:prstGeom>
          <a:noFill/>
          <a:ln/>
        </p:spPr>
        <p:txBody>
          <a:bodyPr wrap="square" lIns="0" tIns="0" rIns="0" bIns="0" rtlCol="0" anchor="ctr"/>
          <a:lstStyle/>
          <a:p>
            <a:pPr indent="0" marL="0">
              <a:buNone/>
            </a:pPr>
            <a:r>
              <a:rPr lang="en-US" sz="1400" b="1" spc="400" kern="0" dirty="0">
                <a:solidFill>
                  <a:srgbClr val="F97316"/>
                </a:solidFill>
                <a:latin typeface="Calibri" pitchFamily="34" charset="0"/>
                <a:ea typeface="Calibri" pitchFamily="34" charset="-122"/>
                <a:cs typeface="Calibri" pitchFamily="34" charset="-120"/>
              </a:rPr>
              <a:t>STAGE</a:t>
            </a:r>
            <a:endParaRPr lang="en-US" sz="1400" dirty="0"/>
          </a:p>
        </p:txBody>
      </p:sp>
      <p:sp>
        <p:nvSpPr>
          <p:cNvPr id="10" name="Shape 8"/>
          <p:cNvSpPr/>
          <p:nvPr/>
        </p:nvSpPr>
        <p:spPr>
          <a:xfrm>
            <a:off x="7680960" y="1554480"/>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1" name="Shape 9"/>
          <p:cNvSpPr/>
          <p:nvPr/>
        </p:nvSpPr>
        <p:spPr>
          <a:xfrm>
            <a:off x="7680960" y="1554480"/>
            <a:ext cx="109728" cy="1554480"/>
          </a:xfrm>
          <a:prstGeom prst="rect">
            <a:avLst/>
          </a:prstGeom>
          <a:solidFill>
            <a:srgbClr val="0078D4"/>
          </a:solidFill>
          <a:ln/>
        </p:spPr>
      </p:sp>
      <p:sp>
        <p:nvSpPr>
          <p:cNvPr id="12" name="Text 10"/>
          <p:cNvSpPr/>
          <p:nvPr/>
        </p:nvSpPr>
        <p:spPr>
          <a:xfrm>
            <a:off x="7863840" y="1645920"/>
            <a:ext cx="1097280" cy="320040"/>
          </a:xfrm>
          <a:prstGeom prst="rect">
            <a:avLst/>
          </a:prstGeom>
          <a:noFill/>
          <a:ln/>
        </p:spPr>
        <p:txBody>
          <a:bodyPr wrap="square" lIns="0" tIns="0" rIns="0" bIns="0" rtlCol="0" anchor="ctr"/>
          <a:lstStyle/>
          <a:p>
            <a:pPr indent="0" marL="0">
              <a:buNone/>
            </a:pPr>
            <a:r>
              <a:rPr lang="en-US" sz="1300" b="1" dirty="0">
                <a:solidFill>
                  <a:srgbClr val="0078D4"/>
                </a:solidFill>
                <a:latin typeface="Calibri" pitchFamily="34" charset="0"/>
                <a:ea typeface="Calibri" pitchFamily="34" charset="-122"/>
                <a:cs typeface="Calibri" pitchFamily="34" charset="-120"/>
              </a:rPr>
              <a:t>05A</a:t>
            </a:r>
            <a:endParaRPr lang="en-US" sz="1300" dirty="0"/>
          </a:p>
        </p:txBody>
      </p:sp>
      <p:sp>
        <p:nvSpPr>
          <p:cNvPr id="13" name="Text 11"/>
          <p:cNvSpPr/>
          <p:nvPr/>
        </p:nvSpPr>
        <p:spPr>
          <a:xfrm>
            <a:off x="8869680" y="1645920"/>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Jira 이슈 생성 봇</a:t>
            </a:r>
            <a:endParaRPr lang="en-US" sz="1300" dirty="0"/>
          </a:p>
        </p:txBody>
      </p:sp>
      <p:sp>
        <p:nvSpPr>
          <p:cNvPr id="14" name="Text 12"/>
          <p:cNvSpPr/>
          <p:nvPr/>
        </p:nvSpPr>
        <p:spPr>
          <a:xfrm>
            <a:off x="7863840" y="1965960"/>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JiraIssueBot</a:t>
            </a:r>
            <a:endParaRPr lang="en-US" sz="1000" dirty="0"/>
          </a:p>
        </p:txBody>
      </p:sp>
      <p:sp>
        <p:nvSpPr>
          <p:cNvPr id="15" name="Text 13"/>
          <p:cNvSpPr/>
          <p:nvPr/>
        </p:nvSpPr>
        <p:spPr>
          <a:xfrm>
            <a:off x="7863840" y="2267712"/>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자연어로 작성한 버그 리포트를 받아 Jira 의 이슈로 자동 등록한다.</a:t>
            </a:r>
            <a:endParaRPr lang="en-US" sz="1050" dirty="0"/>
          </a:p>
        </p:txBody>
      </p:sp>
      <p:sp>
        <p:nvSpPr>
          <p:cNvPr id="16" name="Shape 14"/>
          <p:cNvSpPr/>
          <p:nvPr/>
        </p:nvSpPr>
        <p:spPr>
          <a:xfrm>
            <a:off x="7680960" y="3218688"/>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7" name="Shape 15"/>
          <p:cNvSpPr/>
          <p:nvPr/>
        </p:nvSpPr>
        <p:spPr>
          <a:xfrm>
            <a:off x="7680960" y="3218688"/>
            <a:ext cx="109728" cy="1554480"/>
          </a:xfrm>
          <a:prstGeom prst="rect">
            <a:avLst/>
          </a:prstGeom>
          <a:solidFill>
            <a:srgbClr val="0078D4"/>
          </a:solidFill>
          <a:ln/>
        </p:spPr>
      </p:sp>
      <p:sp>
        <p:nvSpPr>
          <p:cNvPr id="18" name="Text 16"/>
          <p:cNvSpPr/>
          <p:nvPr/>
        </p:nvSpPr>
        <p:spPr>
          <a:xfrm>
            <a:off x="7863840" y="3310128"/>
            <a:ext cx="1097280" cy="320040"/>
          </a:xfrm>
          <a:prstGeom prst="rect">
            <a:avLst/>
          </a:prstGeom>
          <a:noFill/>
          <a:ln/>
        </p:spPr>
        <p:txBody>
          <a:bodyPr wrap="square" lIns="0" tIns="0" rIns="0" bIns="0" rtlCol="0" anchor="ctr"/>
          <a:lstStyle/>
          <a:p>
            <a:pPr indent="0" marL="0">
              <a:buNone/>
            </a:pPr>
            <a:r>
              <a:rPr lang="en-US" sz="1300" b="1" dirty="0">
                <a:solidFill>
                  <a:srgbClr val="0078D4"/>
                </a:solidFill>
                <a:latin typeface="Calibri" pitchFamily="34" charset="0"/>
                <a:ea typeface="Calibri" pitchFamily="34" charset="-122"/>
                <a:cs typeface="Calibri" pitchFamily="34" charset="-120"/>
              </a:rPr>
              <a:t>05B</a:t>
            </a:r>
            <a:endParaRPr lang="en-US" sz="1300" dirty="0"/>
          </a:p>
        </p:txBody>
      </p:sp>
      <p:sp>
        <p:nvSpPr>
          <p:cNvPr id="19" name="Text 17"/>
          <p:cNvSpPr/>
          <p:nvPr/>
        </p:nvSpPr>
        <p:spPr>
          <a:xfrm>
            <a:off x="8869680" y="3310128"/>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GitHub PR 리뷰어</a:t>
            </a:r>
            <a:endParaRPr lang="en-US" sz="1300" dirty="0"/>
          </a:p>
        </p:txBody>
      </p:sp>
      <p:sp>
        <p:nvSpPr>
          <p:cNvPr id="20" name="Text 18"/>
          <p:cNvSpPr/>
          <p:nvPr/>
        </p:nvSpPr>
        <p:spPr>
          <a:xfrm>
            <a:off x="7863840" y="3630168"/>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GitHubPRReviewer</a:t>
            </a:r>
            <a:endParaRPr lang="en-US" sz="1000" dirty="0"/>
          </a:p>
        </p:txBody>
      </p:sp>
      <p:sp>
        <p:nvSpPr>
          <p:cNvPr id="21" name="Text 19"/>
          <p:cNvSpPr/>
          <p:nvPr/>
        </p:nvSpPr>
        <p:spPr>
          <a:xfrm>
            <a:off x="7863840" y="3931920"/>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GitHub Pull Request URL 을 받으면 변경 사항을 가져와 요약하고, 잠재적 이슈(테스트 누락, 큰 함수 등)를 LLM 이 분석해 리뷰 코멘트를 제안한다.</a:t>
            </a:r>
            <a:endParaRPr lang="en-US" sz="1050" dirty="0"/>
          </a:p>
        </p:txBody>
      </p:sp>
      <p:sp>
        <p:nvSpPr>
          <p:cNvPr id="22" name="Shape 20"/>
          <p:cNvSpPr/>
          <p:nvPr/>
        </p:nvSpPr>
        <p:spPr>
          <a:xfrm>
            <a:off x="7680960" y="4882896"/>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3" name="Shape 21"/>
          <p:cNvSpPr/>
          <p:nvPr/>
        </p:nvSpPr>
        <p:spPr>
          <a:xfrm>
            <a:off x="7680960" y="4882896"/>
            <a:ext cx="109728" cy="1554480"/>
          </a:xfrm>
          <a:prstGeom prst="rect">
            <a:avLst/>
          </a:prstGeom>
          <a:solidFill>
            <a:srgbClr val="0078D4"/>
          </a:solidFill>
          <a:ln/>
        </p:spPr>
      </p:sp>
      <p:sp>
        <p:nvSpPr>
          <p:cNvPr id="24" name="Text 22"/>
          <p:cNvSpPr/>
          <p:nvPr/>
        </p:nvSpPr>
        <p:spPr>
          <a:xfrm>
            <a:off x="7863840" y="4974336"/>
            <a:ext cx="1097280" cy="320040"/>
          </a:xfrm>
          <a:prstGeom prst="rect">
            <a:avLst/>
          </a:prstGeom>
          <a:noFill/>
          <a:ln/>
        </p:spPr>
        <p:txBody>
          <a:bodyPr wrap="square" lIns="0" tIns="0" rIns="0" bIns="0" rtlCol="0" anchor="ctr"/>
          <a:lstStyle/>
          <a:p>
            <a:pPr indent="0" marL="0">
              <a:buNone/>
            </a:pPr>
            <a:r>
              <a:rPr lang="en-US" sz="1300" b="1" dirty="0">
                <a:solidFill>
                  <a:srgbClr val="0078D4"/>
                </a:solidFill>
                <a:latin typeface="Calibri" pitchFamily="34" charset="0"/>
                <a:ea typeface="Calibri" pitchFamily="34" charset="-122"/>
                <a:cs typeface="Calibri" pitchFamily="34" charset="-120"/>
              </a:rPr>
              <a:t>05C</a:t>
            </a:r>
            <a:endParaRPr lang="en-US" sz="1300" dirty="0"/>
          </a:p>
        </p:txBody>
      </p:sp>
      <p:sp>
        <p:nvSpPr>
          <p:cNvPr id="25" name="Text 23"/>
          <p:cNvSpPr/>
          <p:nvPr/>
        </p:nvSpPr>
        <p:spPr>
          <a:xfrm>
            <a:off x="8869680" y="4974336"/>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Slack 알림 에이전트</a:t>
            </a:r>
            <a:endParaRPr lang="en-US" sz="1300" dirty="0"/>
          </a:p>
        </p:txBody>
      </p:sp>
      <p:sp>
        <p:nvSpPr>
          <p:cNvPr id="26" name="Text 24"/>
          <p:cNvSpPr/>
          <p:nvPr/>
        </p:nvSpPr>
        <p:spPr>
          <a:xfrm>
            <a:off x="7863840" y="5294376"/>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SlackNotifier</a:t>
            </a:r>
            <a:endParaRPr lang="en-US" sz="1000" dirty="0"/>
          </a:p>
        </p:txBody>
      </p:sp>
      <p:sp>
        <p:nvSpPr>
          <p:cNvPr id="27" name="Text 25"/>
          <p:cNvSpPr/>
          <p:nvPr/>
        </p:nvSpPr>
        <p:spPr>
          <a:xfrm>
            <a:off x="7863840" y="5596128"/>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중요한 이벤트(빌드 실패, 서버 다운, 매출 급증 등)를 감지하면 Slack Webhook 으로 채널에 알림을 보낸다.</a:t>
            </a:r>
            <a:endParaRPr lang="en-US" sz="1050" dirty="0"/>
          </a:p>
        </p:txBody>
      </p:sp>
      <p:sp>
        <p:nvSpPr>
          <p:cNvPr id="28" name="Text 26"/>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9" name="Text 27"/>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05 · 05A  ─  외부 API 연동</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Jira 이슈 생성 봇</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078D4"/>
          </a:solidFill>
          <a:ln/>
        </p:spPr>
      </p:sp>
      <p:sp>
        <p:nvSpPr>
          <p:cNvPr id="8" name="Shape 6"/>
          <p:cNvSpPr/>
          <p:nvPr/>
        </p:nvSpPr>
        <p:spPr>
          <a:xfrm>
            <a:off x="777240" y="1691640"/>
            <a:ext cx="914400" cy="365760"/>
          </a:xfrm>
          <a:prstGeom prst="roundRect">
            <a:avLst>
              <a:gd name="adj" fmla="val 12500"/>
            </a:avLst>
          </a:prstGeom>
          <a:solidFill>
            <a:srgbClr val="0078D4"/>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JiraIssueBot</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078D4"/>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자연어로 작성한 버그 리포트를 받아 Jira 의 이슈로 자동 등록한다. 유사한 기존 이슈가 있는지 검색해 중복을 방지하는 단계까지 포함되어 있다.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078D4"/>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REST API 호출 Tool, 인증 토큰 관리, 중복 검사 로직.</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Tools/JiraApiTool.cs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Config/JiraSettings.cs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사용자: "전투 종료 후 보상 화면이 안 뜸. 재현 100%."</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에이전트: "BUG-1247 로 등록되었습니다."</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05 · 05B  ─  외부 API 연동</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GitHub PR 리뷰어</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078D4"/>
          </a:solidFill>
          <a:ln/>
        </p:spPr>
      </p:sp>
      <p:sp>
        <p:nvSpPr>
          <p:cNvPr id="8" name="Shape 6"/>
          <p:cNvSpPr/>
          <p:nvPr/>
        </p:nvSpPr>
        <p:spPr>
          <a:xfrm>
            <a:off x="777240" y="1691640"/>
            <a:ext cx="914400" cy="365760"/>
          </a:xfrm>
          <a:prstGeom prst="roundRect">
            <a:avLst>
              <a:gd name="adj" fmla="val 12500"/>
            </a:avLst>
          </a:prstGeom>
          <a:solidFill>
            <a:srgbClr val="0078D4"/>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05B</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GitHubPRReviewer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078D4"/>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GitHub Pull Request URL 을 받으면 변경 사항을 가져와 요약하고, 잠재적 이슈(테스트 누락, 큰 함수 등)를 LLM 이 분석해 리뷰 코멘트를 제안한다.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078D4"/>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API 인증(PAT) 처리, 큰 응답 데이터의 효율적 요약.</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Tools/GitHubApiTool.cs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Config/GitHubSettings.cs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사용자: "https://github.com/acme/game/pull/152 리뷰해줘"</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에이전트: "+312 / -45 라인. 테스트 미포함 ⚠. PaymentService 의 신규 메서드에 단위 테스트 권장."</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05 · 05C  ─  외부 API 연동</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Slack 알림 에이전트</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078D4"/>
          </a:solidFill>
          <a:ln/>
        </p:spPr>
      </p:sp>
      <p:sp>
        <p:nvSpPr>
          <p:cNvPr id="8" name="Shape 6"/>
          <p:cNvSpPr/>
          <p:nvPr/>
        </p:nvSpPr>
        <p:spPr>
          <a:xfrm>
            <a:off x="777240" y="1691640"/>
            <a:ext cx="914400" cy="365760"/>
          </a:xfrm>
          <a:prstGeom prst="roundRect">
            <a:avLst>
              <a:gd name="adj" fmla="val 12500"/>
            </a:avLst>
          </a:prstGeom>
          <a:solidFill>
            <a:srgbClr val="0078D4"/>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05C</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SlackNotifier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078D4"/>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중요한 이벤트(빌드 실패, 서버 다운, 매출 급증 등)를 감지하면 Slack Webhook 으로 채널에 알림을 보낸다. 메시지 포맷, 멘션, 우선순위 헤더까지 자동 처리한다.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078D4"/>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Webhook 연동, 알림 포맷팅, 채널 라우팅.</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Tools/SlackWebhookTool.cs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Config/SlackSettings.cs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이벤트: "server-EU 응답 시간 5s 초과"</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 Slack #ops 채널에 ⚠ 알림 + @oncall 멘션</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중급 · STAGE 06</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데이터베이스 연동</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Text 4"/>
          <p:cNvSpPr/>
          <p:nvPr/>
        </p:nvSpPr>
        <p:spPr>
          <a:xfrm>
            <a:off x="548640" y="1554480"/>
            <a:ext cx="6858000" cy="457200"/>
          </a:xfrm>
          <a:prstGeom prst="rect">
            <a:avLst/>
          </a:prstGeom>
          <a:noFill/>
          <a:ln/>
        </p:spPr>
        <p:txBody>
          <a:bodyPr wrap="square" lIns="0" tIns="0" rIns="0" bIns="0" rtlCol="0" anchor="ctr"/>
          <a:lstStyle/>
          <a:p>
            <a:pPr indent="0" marL="0">
              <a:buNone/>
            </a:pPr>
            <a:r>
              <a:rPr lang="en-US" sz="1800" b="1" dirty="0">
                <a:solidFill>
                  <a:srgbClr val="F97316"/>
                </a:solidFill>
                <a:latin typeface="Calibri" pitchFamily="34" charset="0"/>
                <a:ea typeface="Calibri" pitchFamily="34" charset="-122"/>
                <a:cs typeface="Calibri" pitchFamily="34" charset="-120"/>
              </a:rPr>
              <a:t>안전한 SQL 과 NL-to-SQL</a:t>
            </a:r>
            <a:endParaRPr lang="en-US" sz="1800" dirty="0"/>
          </a:p>
        </p:txBody>
      </p:sp>
      <p:sp>
        <p:nvSpPr>
          <p:cNvPr id="7" name="Text 5"/>
          <p:cNvSpPr/>
          <p:nvPr/>
        </p:nvSpPr>
        <p:spPr>
          <a:xfrm>
            <a:off x="548640" y="2103120"/>
            <a:ext cx="6858000" cy="1828800"/>
          </a:xfrm>
          <a:prstGeom prst="rect">
            <a:avLst/>
          </a:prstGeom>
          <a:noFill/>
          <a:ln/>
        </p:spPr>
        <p:txBody>
          <a:bodyPr wrap="square" lIns="0" tIns="0" rIns="0" bIns="0" rtlCol="0" anchor="ctr"/>
          <a:lstStyle/>
          <a:p>
            <a:pPr indent="0" marL="0">
              <a:spcAft>
                <a:spcPts val="600"/>
              </a:spcAft>
              <a:buNone/>
            </a:pPr>
            <a:r>
              <a:rPr lang="en-US" sz="1250" dirty="0">
                <a:solidFill>
                  <a:srgbClr val="1F2937"/>
                </a:solidFill>
                <a:latin typeface="Calibri" pitchFamily="34" charset="0"/>
                <a:ea typeface="Calibri" pitchFamily="34" charset="-122"/>
                <a:cs typeface="Calibri" pitchFamily="34" charset="-120"/>
              </a:rPr>
              <a:t>SQL 데이터베이스에서 플레이어 통계와 분석 정보를 조회하는 패턴을 익힌다. SQL 인젝션을 방어하는 파라미터화 쿼리, 자연어 질문을 SQL 로 변환하는 NL-to-SQL 패턴이 중심이다.</a:t>
            </a:r>
            <a:endParaRPr lang="en-US" sz="1250" dirty="0"/>
          </a:p>
        </p:txBody>
      </p:sp>
      <p:sp>
        <p:nvSpPr>
          <p:cNvPr id="8" name="Text 6"/>
          <p:cNvSpPr/>
          <p:nvPr/>
        </p:nvSpPr>
        <p:spPr>
          <a:xfrm>
            <a:off x="365760" y="4023360"/>
            <a:ext cx="3657600" cy="2286000"/>
          </a:xfrm>
          <a:prstGeom prst="rect">
            <a:avLst/>
          </a:prstGeom>
          <a:noFill/>
          <a:ln/>
        </p:spPr>
        <p:txBody>
          <a:bodyPr wrap="square" lIns="0" tIns="0" rIns="0" bIns="0" rtlCol="0" anchor="ctr"/>
          <a:lstStyle/>
          <a:p>
            <a:pPr indent="0" marL="0">
              <a:buNone/>
            </a:pPr>
            <a:r>
              <a:rPr lang="en-US" sz="18000" b="1" dirty="0">
                <a:solidFill>
                  <a:srgbClr val="FED7AA"/>
                </a:solidFill>
                <a:latin typeface="Calibri" pitchFamily="34" charset="0"/>
                <a:ea typeface="Calibri" pitchFamily="34" charset="-122"/>
                <a:cs typeface="Calibri" pitchFamily="34" charset="-120"/>
              </a:rPr>
              <a:t>06</a:t>
            </a:r>
            <a:endParaRPr lang="en-US" sz="18000" dirty="0"/>
          </a:p>
        </p:txBody>
      </p:sp>
      <p:sp>
        <p:nvSpPr>
          <p:cNvPr id="9" name="Text 7"/>
          <p:cNvSpPr/>
          <p:nvPr/>
        </p:nvSpPr>
        <p:spPr>
          <a:xfrm>
            <a:off x="640080" y="4114800"/>
            <a:ext cx="2743200" cy="365760"/>
          </a:xfrm>
          <a:prstGeom prst="rect">
            <a:avLst/>
          </a:prstGeom>
          <a:noFill/>
          <a:ln/>
        </p:spPr>
        <p:txBody>
          <a:bodyPr wrap="square" lIns="0" tIns="0" rIns="0" bIns="0" rtlCol="0" anchor="ctr"/>
          <a:lstStyle/>
          <a:p>
            <a:pPr indent="0" marL="0">
              <a:buNone/>
            </a:pPr>
            <a:r>
              <a:rPr lang="en-US" sz="1400" b="1" spc="400" kern="0" dirty="0">
                <a:solidFill>
                  <a:srgbClr val="F97316"/>
                </a:solidFill>
                <a:latin typeface="Calibri" pitchFamily="34" charset="0"/>
                <a:ea typeface="Calibri" pitchFamily="34" charset="-122"/>
                <a:cs typeface="Calibri" pitchFamily="34" charset="-120"/>
              </a:rPr>
              <a:t>STAGE</a:t>
            </a:r>
            <a:endParaRPr lang="en-US" sz="1400" dirty="0"/>
          </a:p>
        </p:txBody>
      </p:sp>
      <p:sp>
        <p:nvSpPr>
          <p:cNvPr id="10" name="Shape 8"/>
          <p:cNvSpPr/>
          <p:nvPr/>
        </p:nvSpPr>
        <p:spPr>
          <a:xfrm>
            <a:off x="7680960" y="1554480"/>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1" name="Shape 9"/>
          <p:cNvSpPr/>
          <p:nvPr/>
        </p:nvSpPr>
        <p:spPr>
          <a:xfrm>
            <a:off x="7680960" y="1554480"/>
            <a:ext cx="109728" cy="1554480"/>
          </a:xfrm>
          <a:prstGeom prst="rect">
            <a:avLst/>
          </a:prstGeom>
          <a:solidFill>
            <a:srgbClr val="F97316"/>
          </a:solidFill>
          <a:ln/>
        </p:spPr>
      </p:sp>
      <p:sp>
        <p:nvSpPr>
          <p:cNvPr id="12" name="Text 10"/>
          <p:cNvSpPr/>
          <p:nvPr/>
        </p:nvSpPr>
        <p:spPr>
          <a:xfrm>
            <a:off x="7863840" y="1645920"/>
            <a:ext cx="10972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06A</a:t>
            </a:r>
            <a:endParaRPr lang="en-US" sz="1300" dirty="0"/>
          </a:p>
        </p:txBody>
      </p:sp>
      <p:sp>
        <p:nvSpPr>
          <p:cNvPr id="13" name="Text 11"/>
          <p:cNvSpPr/>
          <p:nvPr/>
        </p:nvSpPr>
        <p:spPr>
          <a:xfrm>
            <a:off x="8869680" y="1645920"/>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플레이어 통계 조회 봇</a:t>
            </a:r>
            <a:endParaRPr lang="en-US" sz="1300" dirty="0"/>
          </a:p>
        </p:txBody>
      </p:sp>
      <p:sp>
        <p:nvSpPr>
          <p:cNvPr id="14" name="Text 12"/>
          <p:cNvSpPr/>
          <p:nvPr/>
        </p:nvSpPr>
        <p:spPr>
          <a:xfrm>
            <a:off x="7863840" y="1965960"/>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PlayerStatsBot</a:t>
            </a:r>
            <a:endParaRPr lang="en-US" sz="1000" dirty="0"/>
          </a:p>
        </p:txBody>
      </p:sp>
      <p:sp>
        <p:nvSpPr>
          <p:cNvPr id="15" name="Text 13"/>
          <p:cNvSpPr/>
          <p:nvPr/>
        </p:nvSpPr>
        <p:spPr>
          <a:xfrm>
            <a:off x="7863840" y="2267712"/>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SQLite 데이터베이스에 저장된 플레이어 행동 데이터(레벨, 플레이 시간, 결제 정보 등)를 자연어 질문으로 조회한다.</a:t>
            </a:r>
            <a:endParaRPr lang="en-US" sz="1050" dirty="0"/>
          </a:p>
        </p:txBody>
      </p:sp>
      <p:sp>
        <p:nvSpPr>
          <p:cNvPr id="16" name="Shape 14"/>
          <p:cNvSpPr/>
          <p:nvPr/>
        </p:nvSpPr>
        <p:spPr>
          <a:xfrm>
            <a:off x="7680960" y="3218688"/>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7" name="Shape 15"/>
          <p:cNvSpPr/>
          <p:nvPr/>
        </p:nvSpPr>
        <p:spPr>
          <a:xfrm>
            <a:off x="7680960" y="3218688"/>
            <a:ext cx="109728" cy="1554480"/>
          </a:xfrm>
          <a:prstGeom prst="rect">
            <a:avLst/>
          </a:prstGeom>
          <a:solidFill>
            <a:srgbClr val="F97316"/>
          </a:solidFill>
          <a:ln/>
        </p:spPr>
      </p:sp>
      <p:sp>
        <p:nvSpPr>
          <p:cNvPr id="18" name="Text 16"/>
          <p:cNvSpPr/>
          <p:nvPr/>
        </p:nvSpPr>
        <p:spPr>
          <a:xfrm>
            <a:off x="7863840" y="3310128"/>
            <a:ext cx="10972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06B</a:t>
            </a:r>
            <a:endParaRPr lang="en-US" sz="1300" dirty="0"/>
          </a:p>
        </p:txBody>
      </p:sp>
      <p:sp>
        <p:nvSpPr>
          <p:cNvPr id="19" name="Text 17"/>
          <p:cNvSpPr/>
          <p:nvPr/>
        </p:nvSpPr>
        <p:spPr>
          <a:xfrm>
            <a:off x="8869680" y="3310128"/>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리텐션 분석 에이전트</a:t>
            </a:r>
            <a:endParaRPr lang="en-US" sz="1300" dirty="0"/>
          </a:p>
        </p:txBody>
      </p:sp>
      <p:sp>
        <p:nvSpPr>
          <p:cNvPr id="20" name="Text 18"/>
          <p:cNvSpPr/>
          <p:nvPr/>
        </p:nvSpPr>
        <p:spPr>
          <a:xfrm>
            <a:off x="7863840" y="3630168"/>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RetentionAnalyzer</a:t>
            </a:r>
            <a:endParaRPr lang="en-US" sz="1000" dirty="0"/>
          </a:p>
        </p:txBody>
      </p:sp>
      <p:sp>
        <p:nvSpPr>
          <p:cNvPr id="21" name="Text 19"/>
          <p:cNvSpPr/>
          <p:nvPr/>
        </p:nvSpPr>
        <p:spPr>
          <a:xfrm>
            <a:off x="7863840" y="3931920"/>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일별·주별 플레이어 리텐션을 계산하고 추세를 분석한다.</a:t>
            </a:r>
            <a:endParaRPr lang="en-US" sz="1050" dirty="0"/>
          </a:p>
        </p:txBody>
      </p:sp>
      <p:sp>
        <p:nvSpPr>
          <p:cNvPr id="22" name="Shape 20"/>
          <p:cNvSpPr/>
          <p:nvPr/>
        </p:nvSpPr>
        <p:spPr>
          <a:xfrm>
            <a:off x="7680960" y="4882896"/>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3" name="Shape 21"/>
          <p:cNvSpPr/>
          <p:nvPr/>
        </p:nvSpPr>
        <p:spPr>
          <a:xfrm>
            <a:off x="7680960" y="4882896"/>
            <a:ext cx="109728" cy="1554480"/>
          </a:xfrm>
          <a:prstGeom prst="rect">
            <a:avLst/>
          </a:prstGeom>
          <a:solidFill>
            <a:srgbClr val="F97316"/>
          </a:solidFill>
          <a:ln/>
        </p:spPr>
      </p:sp>
      <p:sp>
        <p:nvSpPr>
          <p:cNvPr id="24" name="Text 22"/>
          <p:cNvSpPr/>
          <p:nvPr/>
        </p:nvSpPr>
        <p:spPr>
          <a:xfrm>
            <a:off x="7863840" y="4974336"/>
            <a:ext cx="10972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06C</a:t>
            </a:r>
            <a:endParaRPr lang="en-US" sz="1300" dirty="0"/>
          </a:p>
        </p:txBody>
      </p:sp>
      <p:sp>
        <p:nvSpPr>
          <p:cNvPr id="25" name="Text 23"/>
          <p:cNvSpPr/>
          <p:nvPr/>
        </p:nvSpPr>
        <p:spPr>
          <a:xfrm>
            <a:off x="8869680" y="4974336"/>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자연어 SQL 변환기</a:t>
            </a:r>
            <a:endParaRPr lang="en-US" sz="1300" dirty="0"/>
          </a:p>
        </p:txBody>
      </p:sp>
      <p:sp>
        <p:nvSpPr>
          <p:cNvPr id="26" name="Text 24"/>
          <p:cNvSpPr/>
          <p:nvPr/>
        </p:nvSpPr>
        <p:spPr>
          <a:xfrm>
            <a:off x="7863840" y="5294376"/>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NaturalLanguageSql</a:t>
            </a:r>
            <a:endParaRPr lang="en-US" sz="1000" dirty="0"/>
          </a:p>
        </p:txBody>
      </p:sp>
      <p:sp>
        <p:nvSpPr>
          <p:cNvPr id="27" name="Text 25"/>
          <p:cNvSpPr/>
          <p:nvPr/>
        </p:nvSpPr>
        <p:spPr>
          <a:xfrm>
            <a:off x="7863840" y="5596128"/>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비개발자가 자연어로 던진 질문을 LLM 이 SQL 로 변환해 실행하고 결과를 반환한다.</a:t>
            </a:r>
            <a:endParaRPr lang="en-US" sz="1050" dirty="0"/>
          </a:p>
        </p:txBody>
      </p:sp>
      <p:sp>
        <p:nvSpPr>
          <p:cNvPr id="28" name="Text 26"/>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9" name="Text 27"/>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06 · 06A  ─  데이터베이스 연동</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플레이어 통계 조회 봇</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F97316"/>
          </a:solidFill>
          <a:ln/>
        </p:spPr>
      </p:sp>
      <p:sp>
        <p:nvSpPr>
          <p:cNvPr id="8" name="Shape 6"/>
          <p:cNvSpPr/>
          <p:nvPr/>
        </p:nvSpPr>
        <p:spPr>
          <a:xfrm>
            <a:off x="777240" y="1691640"/>
            <a:ext cx="914400" cy="365760"/>
          </a:xfrm>
          <a:prstGeom prst="roundRect">
            <a:avLst>
              <a:gd name="adj" fmla="val 12500"/>
            </a:avLst>
          </a:prstGeom>
          <a:solidFill>
            <a:srgbClr val="F97316"/>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PlayerStatsBot</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SQLite 데이터베이스에 저장된 플레이어 행동 데이터(레벨, 플레이 시간, 결제 정보 등)를 자연어 질문으로 조회한다. 미리 정의된 안전한 쿼리 템플릿을 기반으로 동작한다.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안전한 DB 쿼리, 파라미터 바인딩, 결과 포매팅.</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Tools/SqlQueryTool.cs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Data/PlayerDbContext.cs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사용자: "레벨 50 이상 플레이어 수는?"</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에이전트: "3,247 명입니다. (전체의 8.4%)"</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06 · 06B  ─  데이터베이스 연동</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리텐션 분석 에이전트</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F97316"/>
          </a:solidFill>
          <a:ln/>
        </p:spPr>
      </p:sp>
      <p:sp>
        <p:nvSpPr>
          <p:cNvPr id="8" name="Shape 6"/>
          <p:cNvSpPr/>
          <p:nvPr/>
        </p:nvSpPr>
        <p:spPr>
          <a:xfrm>
            <a:off x="777240" y="1691640"/>
            <a:ext cx="914400" cy="365760"/>
          </a:xfrm>
          <a:prstGeom prst="roundRect">
            <a:avLst>
              <a:gd name="adj" fmla="val 12500"/>
            </a:avLst>
          </a:prstGeom>
          <a:solidFill>
            <a:srgbClr val="F97316"/>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06B</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RetentionAnalyzer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일별·주별 플레이어 리텐션을 계산하고 추세를 분석한다. 신규 유입 대비 7일/30일 잔존율, 이탈 구간 같은 핵심 지표를 LLM 이 해석해 자연어 인사이트로 제공한다.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집계 쿼리, 시계열 분석, 결과 시각화 텍스트화.</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Tools/RetentionCalcTool.cs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Data/AnalyticsContext.cs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입력: "지난 4주 신규 유입의 7일 리텐션은?"</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출력: "38% (전월 대비 +5%p). 4주차 유입군의 D7 이 가장 높습니다."</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06 · 06C  ─  데이터베이스 연동</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자연어 SQL 변환기</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F97316"/>
          </a:solidFill>
          <a:ln/>
        </p:spPr>
      </p:sp>
      <p:sp>
        <p:nvSpPr>
          <p:cNvPr id="8" name="Shape 6"/>
          <p:cNvSpPr/>
          <p:nvPr/>
        </p:nvSpPr>
        <p:spPr>
          <a:xfrm>
            <a:off x="777240" y="1691640"/>
            <a:ext cx="914400" cy="365760"/>
          </a:xfrm>
          <a:prstGeom prst="roundRect">
            <a:avLst>
              <a:gd name="adj" fmla="val 12500"/>
            </a:avLst>
          </a:prstGeom>
          <a:solidFill>
            <a:srgbClr val="F97316"/>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06C</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NaturalLanguageSql</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비개발자가 자연어로 던진 질문을 LLM 이 SQL 로 변환해 실행하고 결과를 반환한다. SELECT 만 허용하고 DROP/DELETE 는 차단하는 검증기가 함께 동작한다.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NL-to-SQL 패턴, 쿼리 검증, 위험 SQL 차단.</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Tools/SqlGeneratorTool.cs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Services/QueryValidator.cs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사용자: "지난 주 매출 상위 5 개 아이템"</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생성된 SQL: SELECT item_name, SUM(price) FROM ... GROUP BY ... LIMIT 5</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중급 · STAGE 07</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RAG 검색 에이전트</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Text 4"/>
          <p:cNvSpPr/>
          <p:nvPr/>
        </p:nvSpPr>
        <p:spPr>
          <a:xfrm>
            <a:off x="548640" y="1554480"/>
            <a:ext cx="6858000" cy="457200"/>
          </a:xfrm>
          <a:prstGeom prst="rect">
            <a:avLst/>
          </a:prstGeom>
          <a:noFill/>
          <a:ln/>
        </p:spPr>
        <p:txBody>
          <a:bodyPr wrap="square" lIns="0" tIns="0" rIns="0" bIns="0" rtlCol="0" anchor="ctr"/>
          <a:lstStyle/>
          <a:p>
            <a:pPr indent="0" marL="0">
              <a:buNone/>
            </a:pPr>
            <a:r>
              <a:rPr lang="en-US" sz="1800" b="1" dirty="0">
                <a:solidFill>
                  <a:srgbClr val="0F4C81"/>
                </a:solidFill>
                <a:latin typeface="Calibri" pitchFamily="34" charset="0"/>
                <a:ea typeface="Calibri" pitchFamily="34" charset="-122"/>
                <a:cs typeface="Calibri" pitchFamily="34" charset="-120"/>
              </a:rPr>
              <a:t>Vector Store 로 의미론적 검색</a:t>
            </a:r>
            <a:endParaRPr lang="en-US" sz="1800" dirty="0"/>
          </a:p>
        </p:txBody>
      </p:sp>
      <p:sp>
        <p:nvSpPr>
          <p:cNvPr id="7" name="Text 5"/>
          <p:cNvSpPr/>
          <p:nvPr/>
        </p:nvSpPr>
        <p:spPr>
          <a:xfrm>
            <a:off x="548640" y="2103120"/>
            <a:ext cx="6858000" cy="1828800"/>
          </a:xfrm>
          <a:prstGeom prst="rect">
            <a:avLst/>
          </a:prstGeom>
          <a:noFill/>
          <a:ln/>
        </p:spPr>
        <p:txBody>
          <a:bodyPr wrap="square" lIns="0" tIns="0" rIns="0" bIns="0" rtlCol="0" anchor="ctr"/>
          <a:lstStyle/>
          <a:p>
            <a:pPr indent="0" marL="0">
              <a:spcAft>
                <a:spcPts val="600"/>
              </a:spcAft>
              <a:buNone/>
            </a:pPr>
            <a:r>
              <a:rPr lang="en-US" sz="1250" dirty="0">
                <a:solidFill>
                  <a:srgbClr val="1F2937"/>
                </a:solidFill>
                <a:latin typeface="Calibri" pitchFamily="34" charset="0"/>
                <a:ea typeface="Calibri" pitchFamily="34" charset="-122"/>
                <a:cs typeface="Calibri" pitchFamily="34" charset="-120"/>
              </a:rPr>
              <a:t>대량의 문서를 임베딩 벡터로 변환해 저장하고, 사용자의 질문과 의미상 가까운 섹션을 찾아 답변하는 RAG(Retrieval-Augmented Generation) 패턴을 익힌다. Azure AI Search, Chroma, InMemoryVectorStore 등 다양한 백엔드를 다룬다.</a:t>
            </a:r>
            <a:endParaRPr lang="en-US" sz="1250" dirty="0"/>
          </a:p>
        </p:txBody>
      </p:sp>
      <p:sp>
        <p:nvSpPr>
          <p:cNvPr id="8" name="Text 6"/>
          <p:cNvSpPr/>
          <p:nvPr/>
        </p:nvSpPr>
        <p:spPr>
          <a:xfrm>
            <a:off x="365760" y="4023360"/>
            <a:ext cx="3657600" cy="2286000"/>
          </a:xfrm>
          <a:prstGeom prst="rect">
            <a:avLst/>
          </a:prstGeom>
          <a:noFill/>
          <a:ln/>
        </p:spPr>
        <p:txBody>
          <a:bodyPr wrap="square" lIns="0" tIns="0" rIns="0" bIns="0" rtlCol="0" anchor="ctr"/>
          <a:lstStyle/>
          <a:p>
            <a:pPr indent="0" marL="0">
              <a:buNone/>
            </a:pPr>
            <a:r>
              <a:rPr lang="en-US" sz="18000" b="1" dirty="0">
                <a:solidFill>
                  <a:srgbClr val="FED7AA"/>
                </a:solidFill>
                <a:latin typeface="Calibri" pitchFamily="34" charset="0"/>
                <a:ea typeface="Calibri" pitchFamily="34" charset="-122"/>
                <a:cs typeface="Calibri" pitchFamily="34" charset="-120"/>
              </a:rPr>
              <a:t>07</a:t>
            </a:r>
            <a:endParaRPr lang="en-US" sz="18000" dirty="0"/>
          </a:p>
        </p:txBody>
      </p:sp>
      <p:sp>
        <p:nvSpPr>
          <p:cNvPr id="9" name="Text 7"/>
          <p:cNvSpPr/>
          <p:nvPr/>
        </p:nvSpPr>
        <p:spPr>
          <a:xfrm>
            <a:off x="640080" y="4114800"/>
            <a:ext cx="2743200" cy="365760"/>
          </a:xfrm>
          <a:prstGeom prst="rect">
            <a:avLst/>
          </a:prstGeom>
          <a:noFill/>
          <a:ln/>
        </p:spPr>
        <p:txBody>
          <a:bodyPr wrap="square" lIns="0" tIns="0" rIns="0" bIns="0" rtlCol="0" anchor="ctr"/>
          <a:lstStyle/>
          <a:p>
            <a:pPr indent="0" marL="0">
              <a:buNone/>
            </a:pPr>
            <a:r>
              <a:rPr lang="en-US" sz="1400" b="1" spc="400" kern="0" dirty="0">
                <a:solidFill>
                  <a:srgbClr val="F97316"/>
                </a:solidFill>
                <a:latin typeface="Calibri" pitchFamily="34" charset="0"/>
                <a:ea typeface="Calibri" pitchFamily="34" charset="-122"/>
                <a:cs typeface="Calibri" pitchFamily="34" charset="-120"/>
              </a:rPr>
              <a:t>STAGE</a:t>
            </a:r>
            <a:endParaRPr lang="en-US" sz="1400" dirty="0"/>
          </a:p>
        </p:txBody>
      </p:sp>
      <p:sp>
        <p:nvSpPr>
          <p:cNvPr id="10" name="Shape 8"/>
          <p:cNvSpPr/>
          <p:nvPr/>
        </p:nvSpPr>
        <p:spPr>
          <a:xfrm>
            <a:off x="7680960" y="1554480"/>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1" name="Shape 9"/>
          <p:cNvSpPr/>
          <p:nvPr/>
        </p:nvSpPr>
        <p:spPr>
          <a:xfrm>
            <a:off x="7680960" y="1554480"/>
            <a:ext cx="109728" cy="1554480"/>
          </a:xfrm>
          <a:prstGeom prst="rect">
            <a:avLst/>
          </a:prstGeom>
          <a:solidFill>
            <a:srgbClr val="0F4C81"/>
          </a:solidFill>
          <a:ln/>
        </p:spPr>
      </p:sp>
      <p:sp>
        <p:nvSpPr>
          <p:cNvPr id="12" name="Text 10"/>
          <p:cNvSpPr/>
          <p:nvPr/>
        </p:nvSpPr>
        <p:spPr>
          <a:xfrm>
            <a:off x="7863840" y="1645920"/>
            <a:ext cx="109728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07A</a:t>
            </a:r>
            <a:endParaRPr lang="en-US" sz="1300" dirty="0"/>
          </a:p>
        </p:txBody>
      </p:sp>
      <p:sp>
        <p:nvSpPr>
          <p:cNvPr id="13" name="Text 11"/>
          <p:cNvSpPr/>
          <p:nvPr/>
        </p:nvSpPr>
        <p:spPr>
          <a:xfrm>
            <a:off x="8869680" y="1645920"/>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문서 검색 봇 (기본)</a:t>
            </a:r>
            <a:endParaRPr lang="en-US" sz="1300" dirty="0"/>
          </a:p>
        </p:txBody>
      </p:sp>
      <p:sp>
        <p:nvSpPr>
          <p:cNvPr id="14" name="Text 12"/>
          <p:cNvSpPr/>
          <p:nvPr/>
        </p:nvSpPr>
        <p:spPr>
          <a:xfrm>
            <a:off x="7863840" y="1965960"/>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DocumentSearchBot</a:t>
            </a:r>
            <a:endParaRPr lang="en-US" sz="1000" dirty="0"/>
          </a:p>
        </p:txBody>
      </p:sp>
      <p:sp>
        <p:nvSpPr>
          <p:cNvPr id="15" name="Text 13"/>
          <p:cNvSpPr/>
          <p:nvPr/>
        </p:nvSpPr>
        <p:spPr>
          <a:xfrm>
            <a:off x="7863840" y="2267712"/>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텍스트 문서를 청크로 나누고 임베딩을 생성해 InMemoryVectorStore 에 저장한 뒤, 질문과 의미상 가까운 청크를 찾아 답변에 활용하는 가장 기본적인 RAG 골격이다.</a:t>
            </a:r>
            <a:endParaRPr lang="en-US" sz="1050" dirty="0"/>
          </a:p>
        </p:txBody>
      </p:sp>
      <p:sp>
        <p:nvSpPr>
          <p:cNvPr id="16" name="Shape 14"/>
          <p:cNvSpPr/>
          <p:nvPr/>
        </p:nvSpPr>
        <p:spPr>
          <a:xfrm>
            <a:off x="7680960" y="3218688"/>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7" name="Shape 15"/>
          <p:cNvSpPr/>
          <p:nvPr/>
        </p:nvSpPr>
        <p:spPr>
          <a:xfrm>
            <a:off x="7680960" y="3218688"/>
            <a:ext cx="109728" cy="1554480"/>
          </a:xfrm>
          <a:prstGeom prst="rect">
            <a:avLst/>
          </a:prstGeom>
          <a:solidFill>
            <a:srgbClr val="0F4C81"/>
          </a:solidFill>
          <a:ln/>
        </p:spPr>
      </p:sp>
      <p:sp>
        <p:nvSpPr>
          <p:cNvPr id="18" name="Text 16"/>
          <p:cNvSpPr/>
          <p:nvPr/>
        </p:nvSpPr>
        <p:spPr>
          <a:xfrm>
            <a:off x="7863840" y="3310128"/>
            <a:ext cx="109728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07B</a:t>
            </a:r>
            <a:endParaRPr lang="en-US" sz="1300" dirty="0"/>
          </a:p>
        </p:txBody>
      </p:sp>
      <p:sp>
        <p:nvSpPr>
          <p:cNvPr id="19" name="Text 17"/>
          <p:cNvSpPr/>
          <p:nvPr/>
        </p:nvSpPr>
        <p:spPr>
          <a:xfrm>
            <a:off x="8869680" y="3310128"/>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디자인 문서 QA</a:t>
            </a:r>
            <a:endParaRPr lang="en-US" sz="1300" dirty="0"/>
          </a:p>
        </p:txBody>
      </p:sp>
      <p:sp>
        <p:nvSpPr>
          <p:cNvPr id="20" name="Text 18"/>
          <p:cNvSpPr/>
          <p:nvPr/>
        </p:nvSpPr>
        <p:spPr>
          <a:xfrm>
            <a:off x="7863840" y="3630168"/>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GDD_QA</a:t>
            </a:r>
            <a:endParaRPr lang="en-US" sz="1000" dirty="0"/>
          </a:p>
        </p:txBody>
      </p:sp>
      <p:sp>
        <p:nvSpPr>
          <p:cNvPr id="21" name="Text 19"/>
          <p:cNvSpPr/>
          <p:nvPr/>
        </p:nvSpPr>
        <p:spPr>
          <a:xfrm>
            <a:off x="7863840" y="3931920"/>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게임 디자인 문서(GDD)를 인덱싱하고, 신규 팀원이 "플레이어 진척 시스템은 어떻게 동작하나?" 같은 질문을 던질 때 관련 섹션을 찾아 친절히 설명한다.</a:t>
            </a:r>
            <a:endParaRPr lang="en-US" sz="1050" dirty="0"/>
          </a:p>
        </p:txBody>
      </p:sp>
      <p:sp>
        <p:nvSpPr>
          <p:cNvPr id="22" name="Shape 20"/>
          <p:cNvSpPr/>
          <p:nvPr/>
        </p:nvSpPr>
        <p:spPr>
          <a:xfrm>
            <a:off x="7680960" y="4882896"/>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3" name="Shape 21"/>
          <p:cNvSpPr/>
          <p:nvPr/>
        </p:nvSpPr>
        <p:spPr>
          <a:xfrm>
            <a:off x="7680960" y="4882896"/>
            <a:ext cx="109728" cy="1554480"/>
          </a:xfrm>
          <a:prstGeom prst="rect">
            <a:avLst/>
          </a:prstGeom>
          <a:solidFill>
            <a:srgbClr val="0F4C81"/>
          </a:solidFill>
          <a:ln/>
        </p:spPr>
      </p:sp>
      <p:sp>
        <p:nvSpPr>
          <p:cNvPr id="24" name="Text 22"/>
          <p:cNvSpPr/>
          <p:nvPr/>
        </p:nvSpPr>
        <p:spPr>
          <a:xfrm>
            <a:off x="7863840" y="4974336"/>
            <a:ext cx="109728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07C</a:t>
            </a:r>
            <a:endParaRPr lang="en-US" sz="1300" dirty="0"/>
          </a:p>
        </p:txBody>
      </p:sp>
      <p:sp>
        <p:nvSpPr>
          <p:cNvPr id="25" name="Text 23"/>
          <p:cNvSpPr/>
          <p:nvPr/>
        </p:nvSpPr>
        <p:spPr>
          <a:xfrm>
            <a:off x="8869680" y="4974336"/>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코드베이스 검색기</a:t>
            </a:r>
            <a:endParaRPr lang="en-US" sz="1300" dirty="0"/>
          </a:p>
        </p:txBody>
      </p:sp>
      <p:sp>
        <p:nvSpPr>
          <p:cNvPr id="26" name="Text 24"/>
          <p:cNvSpPr/>
          <p:nvPr/>
        </p:nvSpPr>
        <p:spPr>
          <a:xfrm>
            <a:off x="7863840" y="5294376"/>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CodebaseSearcher</a:t>
            </a:r>
            <a:endParaRPr lang="en-US" sz="1000" dirty="0"/>
          </a:p>
        </p:txBody>
      </p:sp>
      <p:sp>
        <p:nvSpPr>
          <p:cNvPr id="27" name="Text 25"/>
          <p:cNvSpPr/>
          <p:nvPr/>
        </p:nvSpPr>
        <p:spPr>
          <a:xfrm>
            <a:off x="7863840" y="5596128"/>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C# 소스 코드를 인덱싱해 "결제 처리는 어디에 있나?" 같은 질문을 받으면 관련 클래스/메서드 위치를 찾아준다.</a:t>
            </a:r>
            <a:endParaRPr lang="en-US" sz="1050" dirty="0"/>
          </a:p>
        </p:txBody>
      </p:sp>
      <p:sp>
        <p:nvSpPr>
          <p:cNvPr id="28" name="Text 26"/>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9" name="Text 27"/>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07 · 07A  ─  RAG 검색 에이전트</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문서 검색 봇 (기본)</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F4C81"/>
          </a:solidFill>
          <a:ln/>
        </p:spPr>
      </p:sp>
      <p:sp>
        <p:nvSpPr>
          <p:cNvPr id="8" name="Shape 6"/>
          <p:cNvSpPr/>
          <p:nvPr/>
        </p:nvSpPr>
        <p:spPr>
          <a:xfrm>
            <a:off x="777240" y="1691640"/>
            <a:ext cx="914400" cy="365760"/>
          </a:xfrm>
          <a:prstGeom prst="roundRect">
            <a:avLst>
              <a:gd name="adj" fmla="val 12500"/>
            </a:avLst>
          </a:prstGeom>
          <a:solidFill>
            <a:srgbClr val="0F4C81"/>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DocumentSearchBot</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텍스트 문서를 청크로 나누고 임베딩을 생성해 InMemoryVectorStore 에 저장한 뒤, 질문과 의미상 가까운 청크를 찾아 답변에 활용하는 가장 기본적인 RAG 골격이다.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임베딩 생성, 청킹 전략, 벡터 검색 기본기.</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Tools/EmbeddingTool.cs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Tools/VectorSearchTool.cs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Data/DocumentStore.cs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쿼리: "전투 시스템의 데미지 공식"</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 게임 디자인 문서 3개 청크 검색 → LLM 이 종합 답변</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07 · 07B  ─  RAG 검색 에이전트</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디자인 문서 QA</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F4C81"/>
          </a:solidFill>
          <a:ln/>
        </p:spPr>
      </p:sp>
      <p:sp>
        <p:nvSpPr>
          <p:cNvPr id="8" name="Shape 6"/>
          <p:cNvSpPr/>
          <p:nvPr/>
        </p:nvSpPr>
        <p:spPr>
          <a:xfrm>
            <a:off x="777240" y="1691640"/>
            <a:ext cx="914400" cy="365760"/>
          </a:xfrm>
          <a:prstGeom prst="roundRect">
            <a:avLst>
              <a:gd name="adj" fmla="val 12500"/>
            </a:avLst>
          </a:prstGeom>
          <a:solidFill>
            <a:srgbClr val="0F4C81"/>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07B</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GDD_QA</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게임 디자인 문서(GDD)를 인덱싱하고, 신규 팀원이 "플레이어 진척 시스템은 어떻게 동작하나?" 같은 질문을 던질 때 관련 섹션을 찾아 친절히 설명한다.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도메인 특화 RAG, 답변에 출처(섹션) 인용.</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Tools/GddRetriever.cs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Data/GddVectorStore.cs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사용자: "보스 패턴 변경 시 절차?"</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에이전트: "§4.3 Boss Pattern Update Workflow 에 따라..."</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07 · 07C  ─  RAG 검색 에이전트</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코드베이스 검색기</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F4C81"/>
          </a:solidFill>
          <a:ln/>
        </p:spPr>
      </p:sp>
      <p:sp>
        <p:nvSpPr>
          <p:cNvPr id="8" name="Shape 6"/>
          <p:cNvSpPr/>
          <p:nvPr/>
        </p:nvSpPr>
        <p:spPr>
          <a:xfrm>
            <a:off x="777240" y="1691640"/>
            <a:ext cx="914400" cy="365760"/>
          </a:xfrm>
          <a:prstGeom prst="roundRect">
            <a:avLst>
              <a:gd name="adj" fmla="val 12500"/>
            </a:avLst>
          </a:prstGeom>
          <a:solidFill>
            <a:srgbClr val="0F4C81"/>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07C</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CodebaseSearcher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C# 소스 코드를 인덱싱해 "결제 처리는 어디에 있나?" 같은 질문을 받으면 관련 클래스/메서드 위치를 찾아준다. 코드 임베딩의 특성을 다룬다.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코드 청킹, 함수 단위 임베딩, 의미 기반 코드 검색.</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Tools/CodeEmbeddingTool.cs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Data/CodeIndex.cs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사용자: "ApplyDamage 메서드 위치?"</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에이전트: "src/Combat/CombatService.cs:142 (관련 호출 지점 3개)"</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고급 · STAGE 08</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멀티 에이전트 협업 (Sequential)</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Text 4"/>
          <p:cNvSpPr/>
          <p:nvPr/>
        </p:nvSpPr>
        <p:spPr>
          <a:xfrm>
            <a:off x="548640" y="1554480"/>
            <a:ext cx="6858000" cy="457200"/>
          </a:xfrm>
          <a:prstGeom prst="rect">
            <a:avLst/>
          </a:prstGeom>
          <a:noFill/>
          <a:ln/>
        </p:spPr>
        <p:txBody>
          <a:bodyPr wrap="square" lIns="0" tIns="0" rIns="0" bIns="0" rtlCol="0" anchor="ctr"/>
          <a:lstStyle/>
          <a:p>
            <a:pPr indent="0" marL="0">
              <a:buNone/>
            </a:pPr>
            <a:r>
              <a:rPr lang="en-US" sz="1800" b="1" dirty="0">
                <a:solidFill>
                  <a:srgbClr val="059669"/>
                </a:solidFill>
                <a:latin typeface="Calibri" pitchFamily="34" charset="0"/>
                <a:ea typeface="Calibri" pitchFamily="34" charset="-122"/>
                <a:cs typeface="Calibri" pitchFamily="34" charset="-120"/>
              </a:rPr>
              <a:t>에이전트 파이프라인</a:t>
            </a:r>
            <a:endParaRPr lang="en-US" sz="1800" dirty="0"/>
          </a:p>
        </p:txBody>
      </p:sp>
      <p:sp>
        <p:nvSpPr>
          <p:cNvPr id="7" name="Text 5"/>
          <p:cNvSpPr/>
          <p:nvPr/>
        </p:nvSpPr>
        <p:spPr>
          <a:xfrm>
            <a:off x="548640" y="2103120"/>
            <a:ext cx="6858000" cy="1828800"/>
          </a:xfrm>
          <a:prstGeom prst="rect">
            <a:avLst/>
          </a:prstGeom>
          <a:noFill/>
          <a:ln/>
        </p:spPr>
        <p:txBody>
          <a:bodyPr wrap="square" lIns="0" tIns="0" rIns="0" bIns="0" rtlCol="0" anchor="ctr"/>
          <a:lstStyle/>
          <a:p>
            <a:pPr indent="0" marL="0">
              <a:spcAft>
                <a:spcPts val="600"/>
              </a:spcAft>
              <a:buNone/>
            </a:pPr>
            <a:r>
              <a:rPr lang="en-US" sz="1250" dirty="0">
                <a:solidFill>
                  <a:srgbClr val="1F2937"/>
                </a:solidFill>
                <a:latin typeface="Calibri" pitchFamily="34" charset="0"/>
                <a:ea typeface="Calibri" pitchFamily="34" charset="-122"/>
                <a:cs typeface="Calibri" pitchFamily="34" charset="-120"/>
              </a:rPr>
              <a:t>여러 전문 에이전트를 직렬로 연결해 한 작업을 단계별로 처리하는 Sequential Workflow 를 학습한다. 각 에이전트의 출력이 다음 에이전트의 입력이 되는, 가장 직관적인 멀티 에이전트 패턴이다.</a:t>
            </a:r>
            <a:endParaRPr lang="en-US" sz="1250" dirty="0"/>
          </a:p>
        </p:txBody>
      </p:sp>
      <p:sp>
        <p:nvSpPr>
          <p:cNvPr id="8" name="Text 6"/>
          <p:cNvSpPr/>
          <p:nvPr/>
        </p:nvSpPr>
        <p:spPr>
          <a:xfrm>
            <a:off x="365760" y="4023360"/>
            <a:ext cx="3657600" cy="2286000"/>
          </a:xfrm>
          <a:prstGeom prst="rect">
            <a:avLst/>
          </a:prstGeom>
          <a:noFill/>
          <a:ln/>
        </p:spPr>
        <p:txBody>
          <a:bodyPr wrap="square" lIns="0" tIns="0" rIns="0" bIns="0" rtlCol="0" anchor="ctr"/>
          <a:lstStyle/>
          <a:p>
            <a:pPr indent="0" marL="0">
              <a:buNone/>
            </a:pPr>
            <a:r>
              <a:rPr lang="en-US" sz="18000" b="1" dirty="0">
                <a:solidFill>
                  <a:srgbClr val="FED7AA"/>
                </a:solidFill>
                <a:latin typeface="Calibri" pitchFamily="34" charset="0"/>
                <a:ea typeface="Calibri" pitchFamily="34" charset="-122"/>
                <a:cs typeface="Calibri" pitchFamily="34" charset="-120"/>
              </a:rPr>
              <a:t>08</a:t>
            </a:r>
            <a:endParaRPr lang="en-US" sz="18000" dirty="0"/>
          </a:p>
        </p:txBody>
      </p:sp>
      <p:sp>
        <p:nvSpPr>
          <p:cNvPr id="9" name="Text 7"/>
          <p:cNvSpPr/>
          <p:nvPr/>
        </p:nvSpPr>
        <p:spPr>
          <a:xfrm>
            <a:off x="640080" y="4114800"/>
            <a:ext cx="2743200" cy="365760"/>
          </a:xfrm>
          <a:prstGeom prst="rect">
            <a:avLst/>
          </a:prstGeom>
          <a:noFill/>
          <a:ln/>
        </p:spPr>
        <p:txBody>
          <a:bodyPr wrap="square" lIns="0" tIns="0" rIns="0" bIns="0" rtlCol="0" anchor="ctr"/>
          <a:lstStyle/>
          <a:p>
            <a:pPr indent="0" marL="0">
              <a:buNone/>
            </a:pPr>
            <a:r>
              <a:rPr lang="en-US" sz="1400" b="1" spc="400" kern="0" dirty="0">
                <a:solidFill>
                  <a:srgbClr val="F97316"/>
                </a:solidFill>
                <a:latin typeface="Calibri" pitchFamily="34" charset="0"/>
                <a:ea typeface="Calibri" pitchFamily="34" charset="-122"/>
                <a:cs typeface="Calibri" pitchFamily="34" charset="-120"/>
              </a:rPr>
              <a:t>STAGE</a:t>
            </a:r>
            <a:endParaRPr lang="en-US" sz="1400" dirty="0"/>
          </a:p>
        </p:txBody>
      </p:sp>
      <p:sp>
        <p:nvSpPr>
          <p:cNvPr id="10" name="Shape 8"/>
          <p:cNvSpPr/>
          <p:nvPr/>
        </p:nvSpPr>
        <p:spPr>
          <a:xfrm>
            <a:off x="7680960" y="1554480"/>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1" name="Shape 9"/>
          <p:cNvSpPr/>
          <p:nvPr/>
        </p:nvSpPr>
        <p:spPr>
          <a:xfrm>
            <a:off x="7680960" y="1554480"/>
            <a:ext cx="109728" cy="1554480"/>
          </a:xfrm>
          <a:prstGeom prst="rect">
            <a:avLst/>
          </a:prstGeom>
          <a:solidFill>
            <a:srgbClr val="059669"/>
          </a:solidFill>
          <a:ln/>
        </p:spPr>
      </p:sp>
      <p:sp>
        <p:nvSpPr>
          <p:cNvPr id="12" name="Text 10"/>
          <p:cNvSpPr/>
          <p:nvPr/>
        </p:nvSpPr>
        <p:spPr>
          <a:xfrm>
            <a:off x="7863840" y="1645920"/>
            <a:ext cx="10972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08A</a:t>
            </a:r>
            <a:endParaRPr lang="en-US" sz="1300" dirty="0"/>
          </a:p>
        </p:txBody>
      </p:sp>
      <p:sp>
        <p:nvSpPr>
          <p:cNvPr id="13" name="Text 11"/>
          <p:cNvSpPr/>
          <p:nvPr/>
        </p:nvSpPr>
        <p:spPr>
          <a:xfrm>
            <a:off x="8869680" y="1645920"/>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아이템 생성 파이프라인</a:t>
            </a:r>
            <a:endParaRPr lang="en-US" sz="1300" dirty="0"/>
          </a:p>
        </p:txBody>
      </p:sp>
      <p:sp>
        <p:nvSpPr>
          <p:cNvPr id="14" name="Text 12"/>
          <p:cNvSpPr/>
          <p:nvPr/>
        </p:nvSpPr>
        <p:spPr>
          <a:xfrm>
            <a:off x="7863840" y="1965960"/>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ItemCreationPipeline</a:t>
            </a:r>
            <a:endParaRPr lang="en-US" sz="1000" dirty="0"/>
          </a:p>
        </p:txBody>
      </p:sp>
      <p:sp>
        <p:nvSpPr>
          <p:cNvPr id="15" name="Text 13"/>
          <p:cNvSpPr/>
          <p:nvPr/>
        </p:nvSpPr>
        <p:spPr>
          <a:xfrm>
            <a:off x="7863840" y="2267712"/>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Description Agent 가 아이템 설명을 작성 → Balance Agent 가 밸런스를 검토 → Localization Agent 가 다국어로 번역하는 3단계 파이프라인이다.</a:t>
            </a:r>
            <a:endParaRPr lang="en-US" sz="1050" dirty="0"/>
          </a:p>
        </p:txBody>
      </p:sp>
      <p:sp>
        <p:nvSpPr>
          <p:cNvPr id="16" name="Shape 14"/>
          <p:cNvSpPr/>
          <p:nvPr/>
        </p:nvSpPr>
        <p:spPr>
          <a:xfrm>
            <a:off x="7680960" y="3218688"/>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7" name="Shape 15"/>
          <p:cNvSpPr/>
          <p:nvPr/>
        </p:nvSpPr>
        <p:spPr>
          <a:xfrm>
            <a:off x="7680960" y="3218688"/>
            <a:ext cx="109728" cy="1554480"/>
          </a:xfrm>
          <a:prstGeom prst="rect">
            <a:avLst/>
          </a:prstGeom>
          <a:solidFill>
            <a:srgbClr val="059669"/>
          </a:solidFill>
          <a:ln/>
        </p:spPr>
      </p:sp>
      <p:sp>
        <p:nvSpPr>
          <p:cNvPr id="18" name="Text 16"/>
          <p:cNvSpPr/>
          <p:nvPr/>
        </p:nvSpPr>
        <p:spPr>
          <a:xfrm>
            <a:off x="7863840" y="3310128"/>
            <a:ext cx="10972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08B</a:t>
            </a:r>
            <a:endParaRPr lang="en-US" sz="1300" dirty="0"/>
          </a:p>
        </p:txBody>
      </p:sp>
      <p:sp>
        <p:nvSpPr>
          <p:cNvPr id="19" name="Text 17"/>
          <p:cNvSpPr/>
          <p:nvPr/>
        </p:nvSpPr>
        <p:spPr>
          <a:xfrm>
            <a:off x="8869680" y="3310128"/>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퀘스트 생성 파이프라인</a:t>
            </a:r>
            <a:endParaRPr lang="en-US" sz="1300" dirty="0"/>
          </a:p>
        </p:txBody>
      </p:sp>
      <p:sp>
        <p:nvSpPr>
          <p:cNvPr id="20" name="Text 18"/>
          <p:cNvSpPr/>
          <p:nvPr/>
        </p:nvSpPr>
        <p:spPr>
          <a:xfrm>
            <a:off x="7863840" y="3630168"/>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QuestCreationPipeline</a:t>
            </a:r>
            <a:endParaRPr lang="en-US" sz="1000" dirty="0"/>
          </a:p>
        </p:txBody>
      </p:sp>
      <p:sp>
        <p:nvSpPr>
          <p:cNvPr id="21" name="Text 19"/>
          <p:cNvSpPr/>
          <p:nvPr/>
        </p:nvSpPr>
        <p:spPr>
          <a:xfrm>
            <a:off x="7863840" y="3931920"/>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Story Agent 가 퀘스트 시나리오 → Reward Agent 가 보상 설정 → Difficulty Agent 가 난이도 조정 단계를 순차 수행한다.</a:t>
            </a:r>
            <a:endParaRPr lang="en-US" sz="1050" dirty="0"/>
          </a:p>
        </p:txBody>
      </p:sp>
      <p:sp>
        <p:nvSpPr>
          <p:cNvPr id="22" name="Shape 20"/>
          <p:cNvSpPr/>
          <p:nvPr/>
        </p:nvSpPr>
        <p:spPr>
          <a:xfrm>
            <a:off x="7680960" y="4882896"/>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3" name="Shape 21"/>
          <p:cNvSpPr/>
          <p:nvPr/>
        </p:nvSpPr>
        <p:spPr>
          <a:xfrm>
            <a:off x="7680960" y="4882896"/>
            <a:ext cx="109728" cy="1554480"/>
          </a:xfrm>
          <a:prstGeom prst="rect">
            <a:avLst/>
          </a:prstGeom>
          <a:solidFill>
            <a:srgbClr val="059669"/>
          </a:solidFill>
          <a:ln/>
        </p:spPr>
      </p:sp>
      <p:sp>
        <p:nvSpPr>
          <p:cNvPr id="24" name="Text 22"/>
          <p:cNvSpPr/>
          <p:nvPr/>
        </p:nvSpPr>
        <p:spPr>
          <a:xfrm>
            <a:off x="7863840" y="4974336"/>
            <a:ext cx="10972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08C</a:t>
            </a:r>
            <a:endParaRPr lang="en-US" sz="1300" dirty="0"/>
          </a:p>
        </p:txBody>
      </p:sp>
      <p:sp>
        <p:nvSpPr>
          <p:cNvPr id="25" name="Text 23"/>
          <p:cNvSpPr/>
          <p:nvPr/>
        </p:nvSpPr>
        <p:spPr>
          <a:xfrm>
            <a:off x="8869680" y="4974336"/>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다이얼로그 생성기</a:t>
            </a:r>
            <a:endParaRPr lang="en-US" sz="1300" dirty="0"/>
          </a:p>
        </p:txBody>
      </p:sp>
      <p:sp>
        <p:nvSpPr>
          <p:cNvPr id="26" name="Text 24"/>
          <p:cNvSpPr/>
          <p:nvPr/>
        </p:nvSpPr>
        <p:spPr>
          <a:xfrm>
            <a:off x="7863840" y="5294376"/>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DialogueGenerator</a:t>
            </a:r>
            <a:endParaRPr lang="en-US" sz="1000" dirty="0"/>
          </a:p>
        </p:txBody>
      </p:sp>
      <p:sp>
        <p:nvSpPr>
          <p:cNvPr id="27" name="Text 25"/>
          <p:cNvSpPr/>
          <p:nvPr/>
        </p:nvSpPr>
        <p:spPr>
          <a:xfrm>
            <a:off x="7863840" y="5596128"/>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Draft Agent 가 NPC 대사 초안 → Tone Agent 가 캐릭터 톤(친근/엄격/장난) 일관성 체크 → Branch Agent 가 분기 지점 추가하는 3단계 다이얼로그 작성 파이프라인.</a:t>
            </a:r>
            <a:endParaRPr lang="en-US" sz="1050" dirty="0"/>
          </a:p>
        </p:txBody>
      </p:sp>
      <p:sp>
        <p:nvSpPr>
          <p:cNvPr id="28" name="Text 26"/>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9" name="Text 27"/>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08 · 08A  ─  멀티 에이전트 협업 (SEQUENTIAL)</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아이템 생성 파이프라인</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59669"/>
          </a:solidFill>
          <a:ln/>
        </p:spPr>
      </p:sp>
      <p:sp>
        <p:nvSpPr>
          <p:cNvPr id="8" name="Shape 6"/>
          <p:cNvSpPr/>
          <p:nvPr/>
        </p:nvSpPr>
        <p:spPr>
          <a:xfrm>
            <a:off x="777240" y="1691640"/>
            <a:ext cx="914400" cy="365760"/>
          </a:xfrm>
          <a:prstGeom prst="roundRect">
            <a:avLst>
              <a:gd name="adj" fmla="val 12500"/>
            </a:avLst>
          </a:prstGeom>
          <a:solidFill>
            <a:srgbClr val="059669"/>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ItemCreationPipeline</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Description Agent 가 아이템 설명을 작성 → Balance Agent 가 밸런스를 검토 → Localization Agent 가 다국어로 번역하는 3단계 파이프라인이다. 각 단계가 깔끔히 분리되어 디버깅이 쉽다.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Sequential Workflow 의 노드 정의, 에이전트 간 데이터 전달.</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Agents/DescriptionAgent.cs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Agents/BalanceAgent.cs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Workflows/ItemWorkflow.cs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입력: "전설 등급의 화염 검"</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 설명 작성 → 밸런스 검토 → 한/일/영 번역 → 최종 산출</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08 · 08B  ─  멀티 에이전트 협업 (SEQUENTIAL)</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퀘스트 생성 파이프라인</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59669"/>
          </a:solidFill>
          <a:ln/>
        </p:spPr>
      </p:sp>
      <p:sp>
        <p:nvSpPr>
          <p:cNvPr id="8" name="Shape 6"/>
          <p:cNvSpPr/>
          <p:nvPr/>
        </p:nvSpPr>
        <p:spPr>
          <a:xfrm>
            <a:off x="777240" y="1691640"/>
            <a:ext cx="914400" cy="365760"/>
          </a:xfrm>
          <a:prstGeom prst="roundRect">
            <a:avLst>
              <a:gd name="adj" fmla="val 12500"/>
            </a:avLst>
          </a:prstGeom>
          <a:solidFill>
            <a:srgbClr val="059669"/>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08B</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QuestCreationPipeline</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Story Agent 가 퀘스트 시나리오 → Reward Agent 가 보상 설정 → Difficulty Agent 가 난이도 조정 단계를 순차 수행한다. 단순한 퀘스트도 자동화로 빠르게 양산할 수 있다.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다단계 워크플로우의 책임 분리.</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Agents/StoryAgent.cs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Agents/RewardAgent.cs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Workflows/QuestWorkflow.cs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입력: "마을 외곽 늑대 사냥"</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출력: 시나리오 + 보상(경험치 1500, 골드 800) + 난이도 "Lv 12 권장"</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08 · 08C  ─  멀티 에이전트 협업 (SEQUENTIAL)</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다이얼로그 생성기</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59669"/>
          </a:solidFill>
          <a:ln/>
        </p:spPr>
      </p:sp>
      <p:sp>
        <p:nvSpPr>
          <p:cNvPr id="8" name="Shape 6"/>
          <p:cNvSpPr/>
          <p:nvPr/>
        </p:nvSpPr>
        <p:spPr>
          <a:xfrm>
            <a:off x="777240" y="1691640"/>
            <a:ext cx="914400" cy="365760"/>
          </a:xfrm>
          <a:prstGeom prst="roundRect">
            <a:avLst>
              <a:gd name="adj" fmla="val 12500"/>
            </a:avLst>
          </a:prstGeom>
          <a:solidFill>
            <a:srgbClr val="059669"/>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08C</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DialogueGenerator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Draft Agent 가 NPC 대사 초안 → Tone Agent 가 캐릭터 톤(친근/엄격/장난) 일관성 체크 → Branch Agent 가 분기 지점 추가하는 3단계 다이얼로그 작성 파이프라인.</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다단계 검토 워크플로우, 톤 일관성 보장.</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Agents/DraftAgent.cs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Agents/ToneAgent.cs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Agents/BranchAgent.cs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입력: "마법사 NPC 가 검사에게 인사"</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출력: 4 줄 대화 + 2개 응답 분기</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고급 · STAGE 09</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Graph 기반 QA 자동화</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Text 4"/>
          <p:cNvSpPr/>
          <p:nvPr/>
        </p:nvSpPr>
        <p:spPr>
          <a:xfrm>
            <a:off x="548640" y="1554480"/>
            <a:ext cx="6858000" cy="457200"/>
          </a:xfrm>
          <a:prstGeom prst="rect">
            <a:avLst/>
          </a:prstGeom>
          <a:noFill/>
          <a:ln/>
        </p:spPr>
        <p:txBody>
          <a:bodyPr wrap="square" lIns="0" tIns="0" rIns="0" bIns="0" rtlCol="0" anchor="ctr"/>
          <a:lstStyle/>
          <a:p>
            <a:pPr indent="0" marL="0">
              <a:buNone/>
            </a:pPr>
            <a:r>
              <a:rPr lang="en-US" sz="1800" b="1" dirty="0">
                <a:solidFill>
                  <a:srgbClr val="0078D4"/>
                </a:solidFill>
                <a:latin typeface="Calibri" pitchFamily="34" charset="0"/>
                <a:ea typeface="Calibri" pitchFamily="34" charset="-122"/>
                <a:cs typeface="Calibri" pitchFamily="34" charset="-120"/>
              </a:rPr>
              <a:t>조건부 분기와 병렬 처리</a:t>
            </a:r>
            <a:endParaRPr lang="en-US" sz="1800" dirty="0"/>
          </a:p>
        </p:txBody>
      </p:sp>
      <p:sp>
        <p:nvSpPr>
          <p:cNvPr id="7" name="Text 5"/>
          <p:cNvSpPr/>
          <p:nvPr/>
        </p:nvSpPr>
        <p:spPr>
          <a:xfrm>
            <a:off x="548640" y="2103120"/>
            <a:ext cx="6858000" cy="1828800"/>
          </a:xfrm>
          <a:prstGeom prst="rect">
            <a:avLst/>
          </a:prstGeom>
          <a:noFill/>
          <a:ln/>
        </p:spPr>
        <p:txBody>
          <a:bodyPr wrap="square" lIns="0" tIns="0" rIns="0" bIns="0" rtlCol="0" anchor="ctr"/>
          <a:lstStyle/>
          <a:p>
            <a:pPr indent="0" marL="0">
              <a:spcAft>
                <a:spcPts val="600"/>
              </a:spcAft>
              <a:buNone/>
            </a:pPr>
            <a:r>
              <a:rPr lang="en-US" sz="1250" dirty="0">
                <a:solidFill>
                  <a:srgbClr val="1F2937"/>
                </a:solidFill>
                <a:latin typeface="Calibri" pitchFamily="34" charset="0"/>
                <a:ea typeface="Calibri" pitchFamily="34" charset="-122"/>
                <a:cs typeface="Calibri" pitchFamily="34" charset="-120"/>
              </a:rPr>
              <a:t>Sequential 을 넘어 그래프 형태의 워크플로우를 다룬다. 노드 간 조건부 분기와 병렬 실행, 공유 상태(state) 관리가 핵심이다.</a:t>
            </a:r>
            <a:endParaRPr lang="en-US" sz="1250" dirty="0"/>
          </a:p>
        </p:txBody>
      </p:sp>
      <p:sp>
        <p:nvSpPr>
          <p:cNvPr id="8" name="Text 6"/>
          <p:cNvSpPr/>
          <p:nvPr/>
        </p:nvSpPr>
        <p:spPr>
          <a:xfrm>
            <a:off x="365760" y="4023360"/>
            <a:ext cx="3657600" cy="2286000"/>
          </a:xfrm>
          <a:prstGeom prst="rect">
            <a:avLst/>
          </a:prstGeom>
          <a:noFill/>
          <a:ln/>
        </p:spPr>
        <p:txBody>
          <a:bodyPr wrap="square" lIns="0" tIns="0" rIns="0" bIns="0" rtlCol="0" anchor="ctr"/>
          <a:lstStyle/>
          <a:p>
            <a:pPr indent="0" marL="0">
              <a:buNone/>
            </a:pPr>
            <a:r>
              <a:rPr lang="en-US" sz="18000" b="1" dirty="0">
                <a:solidFill>
                  <a:srgbClr val="FED7AA"/>
                </a:solidFill>
                <a:latin typeface="Calibri" pitchFamily="34" charset="0"/>
                <a:ea typeface="Calibri" pitchFamily="34" charset="-122"/>
                <a:cs typeface="Calibri" pitchFamily="34" charset="-120"/>
              </a:rPr>
              <a:t>09</a:t>
            </a:r>
            <a:endParaRPr lang="en-US" sz="18000" dirty="0"/>
          </a:p>
        </p:txBody>
      </p:sp>
      <p:sp>
        <p:nvSpPr>
          <p:cNvPr id="9" name="Text 7"/>
          <p:cNvSpPr/>
          <p:nvPr/>
        </p:nvSpPr>
        <p:spPr>
          <a:xfrm>
            <a:off x="640080" y="4114800"/>
            <a:ext cx="2743200" cy="365760"/>
          </a:xfrm>
          <a:prstGeom prst="rect">
            <a:avLst/>
          </a:prstGeom>
          <a:noFill/>
          <a:ln/>
        </p:spPr>
        <p:txBody>
          <a:bodyPr wrap="square" lIns="0" tIns="0" rIns="0" bIns="0" rtlCol="0" anchor="ctr"/>
          <a:lstStyle/>
          <a:p>
            <a:pPr indent="0" marL="0">
              <a:buNone/>
            </a:pPr>
            <a:r>
              <a:rPr lang="en-US" sz="1400" b="1" spc="400" kern="0" dirty="0">
                <a:solidFill>
                  <a:srgbClr val="F97316"/>
                </a:solidFill>
                <a:latin typeface="Calibri" pitchFamily="34" charset="0"/>
                <a:ea typeface="Calibri" pitchFamily="34" charset="-122"/>
                <a:cs typeface="Calibri" pitchFamily="34" charset="-120"/>
              </a:rPr>
              <a:t>STAGE</a:t>
            </a:r>
            <a:endParaRPr lang="en-US" sz="1400" dirty="0"/>
          </a:p>
        </p:txBody>
      </p:sp>
      <p:sp>
        <p:nvSpPr>
          <p:cNvPr id="10" name="Shape 8"/>
          <p:cNvSpPr/>
          <p:nvPr/>
        </p:nvSpPr>
        <p:spPr>
          <a:xfrm>
            <a:off x="7680960" y="1554480"/>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1" name="Shape 9"/>
          <p:cNvSpPr/>
          <p:nvPr/>
        </p:nvSpPr>
        <p:spPr>
          <a:xfrm>
            <a:off x="7680960" y="1554480"/>
            <a:ext cx="109728" cy="1554480"/>
          </a:xfrm>
          <a:prstGeom prst="rect">
            <a:avLst/>
          </a:prstGeom>
          <a:solidFill>
            <a:srgbClr val="0078D4"/>
          </a:solidFill>
          <a:ln/>
        </p:spPr>
      </p:sp>
      <p:sp>
        <p:nvSpPr>
          <p:cNvPr id="12" name="Text 10"/>
          <p:cNvSpPr/>
          <p:nvPr/>
        </p:nvSpPr>
        <p:spPr>
          <a:xfrm>
            <a:off x="7863840" y="1645920"/>
            <a:ext cx="1097280" cy="320040"/>
          </a:xfrm>
          <a:prstGeom prst="rect">
            <a:avLst/>
          </a:prstGeom>
          <a:noFill/>
          <a:ln/>
        </p:spPr>
        <p:txBody>
          <a:bodyPr wrap="square" lIns="0" tIns="0" rIns="0" bIns="0" rtlCol="0" anchor="ctr"/>
          <a:lstStyle/>
          <a:p>
            <a:pPr indent="0" marL="0">
              <a:buNone/>
            </a:pPr>
            <a:r>
              <a:rPr lang="en-US" sz="1300" b="1" dirty="0">
                <a:solidFill>
                  <a:srgbClr val="0078D4"/>
                </a:solidFill>
                <a:latin typeface="Calibri" pitchFamily="34" charset="0"/>
                <a:ea typeface="Calibri" pitchFamily="34" charset="-122"/>
                <a:cs typeface="Calibri" pitchFamily="34" charset="-120"/>
              </a:rPr>
              <a:t>09A</a:t>
            </a:r>
            <a:endParaRPr lang="en-US" sz="1300" dirty="0"/>
          </a:p>
        </p:txBody>
      </p:sp>
      <p:sp>
        <p:nvSpPr>
          <p:cNvPr id="13" name="Text 11"/>
          <p:cNvSpPr/>
          <p:nvPr/>
        </p:nvSpPr>
        <p:spPr>
          <a:xfrm>
            <a:off x="8869680" y="1645920"/>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크래시 리포트 처리기</a:t>
            </a:r>
            <a:endParaRPr lang="en-US" sz="1300" dirty="0"/>
          </a:p>
        </p:txBody>
      </p:sp>
      <p:sp>
        <p:nvSpPr>
          <p:cNvPr id="14" name="Text 12"/>
          <p:cNvSpPr/>
          <p:nvPr/>
        </p:nvSpPr>
        <p:spPr>
          <a:xfrm>
            <a:off x="7863840" y="1965960"/>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CrashReportProcessor</a:t>
            </a:r>
            <a:endParaRPr lang="en-US" sz="1000" dirty="0"/>
          </a:p>
        </p:txBody>
      </p:sp>
      <p:sp>
        <p:nvSpPr>
          <p:cNvPr id="15" name="Text 13"/>
          <p:cNvSpPr/>
          <p:nvPr/>
        </p:nvSpPr>
        <p:spPr>
          <a:xfrm>
            <a:off x="7863840" y="2267712"/>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수집(Collector) → 분석(Analyzer) → 심각도 평가(Severity) → 담당자 할당(Assigner) 그래프 워크플로우.</a:t>
            </a:r>
            <a:endParaRPr lang="en-US" sz="1050" dirty="0"/>
          </a:p>
        </p:txBody>
      </p:sp>
      <p:sp>
        <p:nvSpPr>
          <p:cNvPr id="16" name="Shape 14"/>
          <p:cNvSpPr/>
          <p:nvPr/>
        </p:nvSpPr>
        <p:spPr>
          <a:xfrm>
            <a:off x="7680960" y="3218688"/>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7" name="Shape 15"/>
          <p:cNvSpPr/>
          <p:nvPr/>
        </p:nvSpPr>
        <p:spPr>
          <a:xfrm>
            <a:off x="7680960" y="3218688"/>
            <a:ext cx="109728" cy="1554480"/>
          </a:xfrm>
          <a:prstGeom prst="rect">
            <a:avLst/>
          </a:prstGeom>
          <a:solidFill>
            <a:srgbClr val="0078D4"/>
          </a:solidFill>
          <a:ln/>
        </p:spPr>
      </p:sp>
      <p:sp>
        <p:nvSpPr>
          <p:cNvPr id="18" name="Text 16"/>
          <p:cNvSpPr/>
          <p:nvPr/>
        </p:nvSpPr>
        <p:spPr>
          <a:xfrm>
            <a:off x="7863840" y="3310128"/>
            <a:ext cx="1097280" cy="320040"/>
          </a:xfrm>
          <a:prstGeom prst="rect">
            <a:avLst/>
          </a:prstGeom>
          <a:noFill/>
          <a:ln/>
        </p:spPr>
        <p:txBody>
          <a:bodyPr wrap="square" lIns="0" tIns="0" rIns="0" bIns="0" rtlCol="0" anchor="ctr"/>
          <a:lstStyle/>
          <a:p>
            <a:pPr indent="0" marL="0">
              <a:buNone/>
            </a:pPr>
            <a:r>
              <a:rPr lang="en-US" sz="1300" b="1" dirty="0">
                <a:solidFill>
                  <a:srgbClr val="0078D4"/>
                </a:solidFill>
                <a:latin typeface="Calibri" pitchFamily="34" charset="0"/>
                <a:ea typeface="Calibri" pitchFamily="34" charset="-122"/>
                <a:cs typeface="Calibri" pitchFamily="34" charset="-120"/>
              </a:rPr>
              <a:t>09B</a:t>
            </a:r>
            <a:endParaRPr lang="en-US" sz="1300" dirty="0"/>
          </a:p>
        </p:txBody>
      </p:sp>
      <p:sp>
        <p:nvSpPr>
          <p:cNvPr id="19" name="Text 17"/>
          <p:cNvSpPr/>
          <p:nvPr/>
        </p:nvSpPr>
        <p:spPr>
          <a:xfrm>
            <a:off x="8869680" y="3310128"/>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자동 버그 분류기</a:t>
            </a:r>
            <a:endParaRPr lang="en-US" sz="1300" dirty="0"/>
          </a:p>
        </p:txBody>
      </p:sp>
      <p:sp>
        <p:nvSpPr>
          <p:cNvPr id="20" name="Text 18"/>
          <p:cNvSpPr/>
          <p:nvPr/>
        </p:nvSpPr>
        <p:spPr>
          <a:xfrm>
            <a:off x="7863840" y="3630168"/>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BugClassifier</a:t>
            </a:r>
            <a:endParaRPr lang="en-US" sz="1000" dirty="0"/>
          </a:p>
        </p:txBody>
      </p:sp>
      <p:sp>
        <p:nvSpPr>
          <p:cNvPr id="21" name="Text 19"/>
          <p:cNvSpPr/>
          <p:nvPr/>
        </p:nvSpPr>
        <p:spPr>
          <a:xfrm>
            <a:off x="7863840" y="3931920"/>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버그 리포트가 입력되면 로그 분석 → 중복 체크 → 우선순위 결정 → 담당자 추천 단계가 그래프 형태로 동작한다.</a:t>
            </a:r>
            <a:endParaRPr lang="en-US" sz="1050" dirty="0"/>
          </a:p>
        </p:txBody>
      </p:sp>
      <p:sp>
        <p:nvSpPr>
          <p:cNvPr id="22" name="Shape 20"/>
          <p:cNvSpPr/>
          <p:nvPr/>
        </p:nvSpPr>
        <p:spPr>
          <a:xfrm>
            <a:off x="7680960" y="4882896"/>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3" name="Shape 21"/>
          <p:cNvSpPr/>
          <p:nvPr/>
        </p:nvSpPr>
        <p:spPr>
          <a:xfrm>
            <a:off x="7680960" y="4882896"/>
            <a:ext cx="109728" cy="1554480"/>
          </a:xfrm>
          <a:prstGeom prst="rect">
            <a:avLst/>
          </a:prstGeom>
          <a:solidFill>
            <a:srgbClr val="0078D4"/>
          </a:solidFill>
          <a:ln/>
        </p:spPr>
      </p:sp>
      <p:sp>
        <p:nvSpPr>
          <p:cNvPr id="24" name="Text 22"/>
          <p:cNvSpPr/>
          <p:nvPr/>
        </p:nvSpPr>
        <p:spPr>
          <a:xfrm>
            <a:off x="7863840" y="4974336"/>
            <a:ext cx="1097280" cy="320040"/>
          </a:xfrm>
          <a:prstGeom prst="rect">
            <a:avLst/>
          </a:prstGeom>
          <a:noFill/>
          <a:ln/>
        </p:spPr>
        <p:txBody>
          <a:bodyPr wrap="square" lIns="0" tIns="0" rIns="0" bIns="0" rtlCol="0" anchor="ctr"/>
          <a:lstStyle/>
          <a:p>
            <a:pPr indent="0" marL="0">
              <a:buNone/>
            </a:pPr>
            <a:r>
              <a:rPr lang="en-US" sz="1300" b="1" dirty="0">
                <a:solidFill>
                  <a:srgbClr val="0078D4"/>
                </a:solidFill>
                <a:latin typeface="Calibri" pitchFamily="34" charset="0"/>
                <a:ea typeface="Calibri" pitchFamily="34" charset="-122"/>
                <a:cs typeface="Calibri" pitchFamily="34" charset="-120"/>
              </a:rPr>
              <a:t>09C</a:t>
            </a:r>
            <a:endParaRPr lang="en-US" sz="1300" dirty="0"/>
          </a:p>
        </p:txBody>
      </p:sp>
      <p:sp>
        <p:nvSpPr>
          <p:cNvPr id="25" name="Text 23"/>
          <p:cNvSpPr/>
          <p:nvPr/>
        </p:nvSpPr>
        <p:spPr>
          <a:xfrm>
            <a:off x="8869680" y="4974336"/>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QA 리포트 생성기</a:t>
            </a:r>
            <a:endParaRPr lang="en-US" sz="1300" dirty="0"/>
          </a:p>
        </p:txBody>
      </p:sp>
      <p:sp>
        <p:nvSpPr>
          <p:cNvPr id="26" name="Text 24"/>
          <p:cNvSpPr/>
          <p:nvPr/>
        </p:nvSpPr>
        <p:spPr>
          <a:xfrm>
            <a:off x="7863840" y="5294376"/>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QAReportGenerator</a:t>
            </a:r>
            <a:endParaRPr lang="en-US" sz="1000" dirty="0"/>
          </a:p>
        </p:txBody>
      </p:sp>
      <p:sp>
        <p:nvSpPr>
          <p:cNvPr id="27" name="Text 25"/>
          <p:cNvSpPr/>
          <p:nvPr/>
        </p:nvSpPr>
        <p:spPr>
          <a:xfrm>
            <a:off x="7863840" y="5596128"/>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테스트 결과 분석, 회귀 검사, 커버리지 통계, 배포 가능 여부 판단 등이 병렬로 동시에 실행되고 마지막에 종합 리포트로 합쳐진다.</a:t>
            </a:r>
            <a:endParaRPr lang="en-US" sz="1050" dirty="0"/>
          </a:p>
        </p:txBody>
      </p:sp>
      <p:sp>
        <p:nvSpPr>
          <p:cNvPr id="28" name="Text 26"/>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9" name="Text 27"/>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09 · 09A  ─  GRAPH 기반 QA 자동화</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크래시 리포트 처리기</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078D4"/>
          </a:solidFill>
          <a:ln/>
        </p:spPr>
      </p:sp>
      <p:sp>
        <p:nvSpPr>
          <p:cNvPr id="8" name="Shape 6"/>
          <p:cNvSpPr/>
          <p:nvPr/>
        </p:nvSpPr>
        <p:spPr>
          <a:xfrm>
            <a:off x="777240" y="1691640"/>
            <a:ext cx="914400" cy="365760"/>
          </a:xfrm>
          <a:prstGeom prst="roundRect">
            <a:avLst>
              <a:gd name="adj" fmla="val 12500"/>
            </a:avLst>
          </a:prstGeom>
          <a:solidFill>
            <a:srgbClr val="0078D4"/>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CrashReportProcessor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078D4"/>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수집(Collector) → 분석(Analyzer) → 심각도 평가(Severity) → 담당자 할당(Assigner) 그래프 워크플로우. 심각도가 Critical 이면 즉시 Slack 알림 분기로 빠진다.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078D4"/>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Graph Workflow 의 기본, 조건부 분기.</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Agents/CollectorAgent.cs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Agents/SeverityAgent.cs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Workflows/CrashReportGraph.cs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입력: 크래시 100건</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 Critical 12건 → 즉시 알림</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 Major 50건 → 일반 큐</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 Minor 38건 → 통계 누적</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09 · 09B  ─  GRAPH 기반 QA 자동화</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자동 버그 분류기</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078D4"/>
          </a:solidFill>
          <a:ln/>
        </p:spPr>
      </p:sp>
      <p:sp>
        <p:nvSpPr>
          <p:cNvPr id="8" name="Shape 6"/>
          <p:cNvSpPr/>
          <p:nvPr/>
        </p:nvSpPr>
        <p:spPr>
          <a:xfrm>
            <a:off x="777240" y="1691640"/>
            <a:ext cx="914400" cy="365760"/>
          </a:xfrm>
          <a:prstGeom prst="roundRect">
            <a:avLst>
              <a:gd name="adj" fmla="val 12500"/>
            </a:avLst>
          </a:prstGeom>
          <a:solidFill>
            <a:srgbClr val="0078D4"/>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09B</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BugClassifier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078D4"/>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버그 리포트가 입력되면 로그 분석 → 중복 체크 → 우선순위 결정 → 담당자 추천 단계가 그래프 형태로 동작한다. 중복이 발견되면 분류 단계를 건너뛰고 기존 이슈에 코멘트를 단다.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078D4"/>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조건부 그래프, 중복 탐지 + 라벨링.</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Agents/DuplicateChecker.cs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Agents/PriorityAgent.cs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Workflows/BugClassificationGraph.cs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신규 버그 → 중복 60% 일치 → 기존 이슈에 코멘트만</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09 · 09C  ─  GRAPH 기반 QA 자동화</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QA 리포트 생성기</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078D4"/>
          </a:solidFill>
          <a:ln/>
        </p:spPr>
      </p:sp>
      <p:sp>
        <p:nvSpPr>
          <p:cNvPr id="8" name="Shape 6"/>
          <p:cNvSpPr/>
          <p:nvPr/>
        </p:nvSpPr>
        <p:spPr>
          <a:xfrm>
            <a:off x="777240" y="1691640"/>
            <a:ext cx="914400" cy="365760"/>
          </a:xfrm>
          <a:prstGeom prst="roundRect">
            <a:avLst>
              <a:gd name="adj" fmla="val 12500"/>
            </a:avLst>
          </a:prstGeom>
          <a:solidFill>
            <a:srgbClr val="0078D4"/>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09C</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QAReportGenerator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078D4"/>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테스트 결과 분석, 회귀 검사, 커버리지 통계, 배포 가능 여부 판단 등이 병렬로 동시에 실행되고 마지막에 종합 리포트로 합쳐진다.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078D4"/>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병렬 처리, 결과 집계, 의사결정 노드.</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Agents/TestResultAnalyzer.cs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Agents/SummaryAgent.cs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Workflows/QAReportGraph.cs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출력: "v1.4.2 배포 가능 ✅. 단, 결제 모듈 회귀 테스트 1건 실패."</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고급 · STAGE 10</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Human-in-the-Loop</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Text 4"/>
          <p:cNvSpPr/>
          <p:nvPr/>
        </p:nvSpPr>
        <p:spPr>
          <a:xfrm>
            <a:off x="548640" y="1554480"/>
            <a:ext cx="6858000" cy="457200"/>
          </a:xfrm>
          <a:prstGeom prst="rect">
            <a:avLst/>
          </a:prstGeom>
          <a:noFill/>
          <a:ln/>
        </p:spPr>
        <p:txBody>
          <a:bodyPr wrap="square" lIns="0" tIns="0" rIns="0" bIns="0" rtlCol="0" anchor="ctr"/>
          <a:lstStyle/>
          <a:p>
            <a:pPr indent="0" marL="0">
              <a:buNone/>
            </a:pPr>
            <a:r>
              <a:rPr lang="en-US" sz="1800" b="1" dirty="0">
                <a:solidFill>
                  <a:srgbClr val="F97316"/>
                </a:solidFill>
                <a:latin typeface="Calibri" pitchFamily="34" charset="0"/>
                <a:ea typeface="Calibri" pitchFamily="34" charset="-122"/>
                <a:cs typeface="Calibri" pitchFamily="34" charset="-120"/>
              </a:rPr>
              <a:t>Checkpointing 과 Time-travel</a:t>
            </a:r>
            <a:endParaRPr lang="en-US" sz="1800" dirty="0"/>
          </a:p>
        </p:txBody>
      </p:sp>
      <p:sp>
        <p:nvSpPr>
          <p:cNvPr id="7" name="Text 5"/>
          <p:cNvSpPr/>
          <p:nvPr/>
        </p:nvSpPr>
        <p:spPr>
          <a:xfrm>
            <a:off x="548640" y="2103120"/>
            <a:ext cx="6858000" cy="1828800"/>
          </a:xfrm>
          <a:prstGeom prst="rect">
            <a:avLst/>
          </a:prstGeom>
          <a:noFill/>
          <a:ln/>
        </p:spPr>
        <p:txBody>
          <a:bodyPr wrap="square" lIns="0" tIns="0" rIns="0" bIns="0" rtlCol="0" anchor="ctr"/>
          <a:lstStyle/>
          <a:p>
            <a:pPr indent="0" marL="0">
              <a:spcAft>
                <a:spcPts val="600"/>
              </a:spcAft>
              <a:buNone/>
            </a:pPr>
            <a:r>
              <a:rPr lang="en-US" sz="1250" dirty="0">
                <a:solidFill>
                  <a:srgbClr val="1F2937"/>
                </a:solidFill>
                <a:latin typeface="Calibri" pitchFamily="34" charset="0"/>
                <a:ea typeface="Calibri" pitchFamily="34" charset="-122"/>
                <a:cs typeface="Calibri" pitchFamily="34" charset="-120"/>
              </a:rPr>
              <a:t>AI 와 사람이 한 작업을 협업하는 인터랙션 패턴이다. AI 가 초안을 만들면 사람이 수정하고, 다시 AI 가 이어서 작업한다. 각 단계의 상태가 저장되므로 언제든 이전 버전으로 되돌릴 수 있다.</a:t>
            </a:r>
            <a:endParaRPr lang="en-US" sz="1250" dirty="0"/>
          </a:p>
        </p:txBody>
      </p:sp>
      <p:sp>
        <p:nvSpPr>
          <p:cNvPr id="8" name="Text 6"/>
          <p:cNvSpPr/>
          <p:nvPr/>
        </p:nvSpPr>
        <p:spPr>
          <a:xfrm>
            <a:off x="365760" y="4023360"/>
            <a:ext cx="3657600" cy="2286000"/>
          </a:xfrm>
          <a:prstGeom prst="rect">
            <a:avLst/>
          </a:prstGeom>
          <a:noFill/>
          <a:ln/>
        </p:spPr>
        <p:txBody>
          <a:bodyPr wrap="square" lIns="0" tIns="0" rIns="0" bIns="0" rtlCol="0" anchor="ctr"/>
          <a:lstStyle/>
          <a:p>
            <a:pPr indent="0" marL="0">
              <a:buNone/>
            </a:pPr>
            <a:r>
              <a:rPr lang="en-US" sz="18000" b="1" dirty="0">
                <a:solidFill>
                  <a:srgbClr val="FED7AA"/>
                </a:solidFill>
                <a:latin typeface="Calibri" pitchFamily="34" charset="0"/>
                <a:ea typeface="Calibri" pitchFamily="34" charset="-122"/>
                <a:cs typeface="Calibri" pitchFamily="34" charset="-120"/>
              </a:rPr>
              <a:t>10</a:t>
            </a:r>
            <a:endParaRPr lang="en-US" sz="18000" dirty="0"/>
          </a:p>
        </p:txBody>
      </p:sp>
      <p:sp>
        <p:nvSpPr>
          <p:cNvPr id="9" name="Text 7"/>
          <p:cNvSpPr/>
          <p:nvPr/>
        </p:nvSpPr>
        <p:spPr>
          <a:xfrm>
            <a:off x="640080" y="4114800"/>
            <a:ext cx="2743200" cy="365760"/>
          </a:xfrm>
          <a:prstGeom prst="rect">
            <a:avLst/>
          </a:prstGeom>
          <a:noFill/>
          <a:ln/>
        </p:spPr>
        <p:txBody>
          <a:bodyPr wrap="square" lIns="0" tIns="0" rIns="0" bIns="0" rtlCol="0" anchor="ctr"/>
          <a:lstStyle/>
          <a:p>
            <a:pPr indent="0" marL="0">
              <a:buNone/>
            </a:pPr>
            <a:r>
              <a:rPr lang="en-US" sz="1400" b="1" spc="400" kern="0" dirty="0">
                <a:solidFill>
                  <a:srgbClr val="F97316"/>
                </a:solidFill>
                <a:latin typeface="Calibri" pitchFamily="34" charset="0"/>
                <a:ea typeface="Calibri" pitchFamily="34" charset="-122"/>
                <a:cs typeface="Calibri" pitchFamily="34" charset="-120"/>
              </a:rPr>
              <a:t>STAGE</a:t>
            </a:r>
            <a:endParaRPr lang="en-US" sz="1400" dirty="0"/>
          </a:p>
        </p:txBody>
      </p:sp>
      <p:sp>
        <p:nvSpPr>
          <p:cNvPr id="10" name="Shape 8"/>
          <p:cNvSpPr/>
          <p:nvPr/>
        </p:nvSpPr>
        <p:spPr>
          <a:xfrm>
            <a:off x="7680960" y="1554480"/>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1" name="Shape 9"/>
          <p:cNvSpPr/>
          <p:nvPr/>
        </p:nvSpPr>
        <p:spPr>
          <a:xfrm>
            <a:off x="7680960" y="1554480"/>
            <a:ext cx="109728" cy="1554480"/>
          </a:xfrm>
          <a:prstGeom prst="rect">
            <a:avLst/>
          </a:prstGeom>
          <a:solidFill>
            <a:srgbClr val="F97316"/>
          </a:solidFill>
          <a:ln/>
        </p:spPr>
      </p:sp>
      <p:sp>
        <p:nvSpPr>
          <p:cNvPr id="12" name="Text 10"/>
          <p:cNvSpPr/>
          <p:nvPr/>
        </p:nvSpPr>
        <p:spPr>
          <a:xfrm>
            <a:off x="7863840" y="1645920"/>
            <a:ext cx="10972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10A</a:t>
            </a:r>
            <a:endParaRPr lang="en-US" sz="1300" dirty="0"/>
          </a:p>
        </p:txBody>
      </p:sp>
      <p:sp>
        <p:nvSpPr>
          <p:cNvPr id="13" name="Text 11"/>
          <p:cNvSpPr/>
          <p:nvPr/>
        </p:nvSpPr>
        <p:spPr>
          <a:xfrm>
            <a:off x="8869680" y="1645920"/>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스토리 협업 어시스턴트</a:t>
            </a:r>
            <a:endParaRPr lang="en-US" sz="1300" dirty="0"/>
          </a:p>
        </p:txBody>
      </p:sp>
      <p:sp>
        <p:nvSpPr>
          <p:cNvPr id="14" name="Text 12"/>
          <p:cNvSpPr/>
          <p:nvPr/>
        </p:nvSpPr>
        <p:spPr>
          <a:xfrm>
            <a:off x="7863840" y="1965960"/>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StoryCollaborator</a:t>
            </a:r>
            <a:endParaRPr lang="en-US" sz="1000" dirty="0"/>
          </a:p>
        </p:txBody>
      </p:sp>
      <p:sp>
        <p:nvSpPr>
          <p:cNvPr id="15" name="Text 13"/>
          <p:cNvSpPr/>
          <p:nvPr/>
        </p:nvSpPr>
        <p:spPr>
          <a:xfrm>
            <a:off x="7863840" y="2267712"/>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AI 가 게임 스토리의 다음 장면 초안을 작성 → 작가가 검토하고 수정 → AI 가 그 수정을 반영해 다른 캐릭터의 반응을 이어 작성하는 협업 시스템이다.</a:t>
            </a:r>
            <a:endParaRPr lang="en-US" sz="1050" dirty="0"/>
          </a:p>
        </p:txBody>
      </p:sp>
      <p:sp>
        <p:nvSpPr>
          <p:cNvPr id="16" name="Shape 14"/>
          <p:cNvSpPr/>
          <p:nvPr/>
        </p:nvSpPr>
        <p:spPr>
          <a:xfrm>
            <a:off x="7680960" y="3218688"/>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7" name="Shape 15"/>
          <p:cNvSpPr/>
          <p:nvPr/>
        </p:nvSpPr>
        <p:spPr>
          <a:xfrm>
            <a:off x="7680960" y="3218688"/>
            <a:ext cx="109728" cy="1554480"/>
          </a:xfrm>
          <a:prstGeom prst="rect">
            <a:avLst/>
          </a:prstGeom>
          <a:solidFill>
            <a:srgbClr val="F97316"/>
          </a:solidFill>
          <a:ln/>
        </p:spPr>
      </p:sp>
      <p:sp>
        <p:nvSpPr>
          <p:cNvPr id="18" name="Text 16"/>
          <p:cNvSpPr/>
          <p:nvPr/>
        </p:nvSpPr>
        <p:spPr>
          <a:xfrm>
            <a:off x="7863840" y="3310128"/>
            <a:ext cx="10972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10B</a:t>
            </a:r>
            <a:endParaRPr lang="en-US" sz="1300" dirty="0"/>
          </a:p>
        </p:txBody>
      </p:sp>
      <p:sp>
        <p:nvSpPr>
          <p:cNvPr id="19" name="Text 17"/>
          <p:cNvSpPr/>
          <p:nvPr/>
        </p:nvSpPr>
        <p:spPr>
          <a:xfrm>
            <a:off x="8869680" y="3310128"/>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밸런스 조정 워크플로우</a:t>
            </a:r>
            <a:endParaRPr lang="en-US" sz="1300" dirty="0"/>
          </a:p>
        </p:txBody>
      </p:sp>
      <p:sp>
        <p:nvSpPr>
          <p:cNvPr id="20" name="Text 18"/>
          <p:cNvSpPr/>
          <p:nvPr/>
        </p:nvSpPr>
        <p:spPr>
          <a:xfrm>
            <a:off x="7863840" y="3630168"/>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BalanceAdjuster</a:t>
            </a:r>
            <a:endParaRPr lang="en-US" sz="1000" dirty="0"/>
          </a:p>
        </p:txBody>
      </p:sp>
      <p:sp>
        <p:nvSpPr>
          <p:cNvPr id="21" name="Text 19"/>
          <p:cNvSpPr/>
          <p:nvPr/>
        </p:nvSpPr>
        <p:spPr>
          <a:xfrm>
            <a:off x="7863840" y="3931920"/>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AI 가 데미지 공식 변경안을 제안 → 디자이너가 검토하고 일부만 채택 → AI 가 시뮬레이션을 다시 돌려 결과를 보여준다.</a:t>
            </a:r>
            <a:endParaRPr lang="en-US" sz="1050" dirty="0"/>
          </a:p>
        </p:txBody>
      </p:sp>
      <p:sp>
        <p:nvSpPr>
          <p:cNvPr id="22" name="Shape 20"/>
          <p:cNvSpPr/>
          <p:nvPr/>
        </p:nvSpPr>
        <p:spPr>
          <a:xfrm>
            <a:off x="7680960" y="4882896"/>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3" name="Shape 21"/>
          <p:cNvSpPr/>
          <p:nvPr/>
        </p:nvSpPr>
        <p:spPr>
          <a:xfrm>
            <a:off x="7680960" y="4882896"/>
            <a:ext cx="109728" cy="1554480"/>
          </a:xfrm>
          <a:prstGeom prst="rect">
            <a:avLst/>
          </a:prstGeom>
          <a:solidFill>
            <a:srgbClr val="F97316"/>
          </a:solidFill>
          <a:ln/>
        </p:spPr>
      </p:sp>
      <p:sp>
        <p:nvSpPr>
          <p:cNvPr id="24" name="Text 22"/>
          <p:cNvSpPr/>
          <p:nvPr/>
        </p:nvSpPr>
        <p:spPr>
          <a:xfrm>
            <a:off x="7863840" y="4974336"/>
            <a:ext cx="10972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10C</a:t>
            </a:r>
            <a:endParaRPr lang="en-US" sz="1300" dirty="0"/>
          </a:p>
        </p:txBody>
      </p:sp>
      <p:sp>
        <p:nvSpPr>
          <p:cNvPr id="25" name="Text 23"/>
          <p:cNvSpPr/>
          <p:nvPr/>
        </p:nvSpPr>
        <p:spPr>
          <a:xfrm>
            <a:off x="8869680" y="4974336"/>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로컬라이제이션 검수</a:t>
            </a:r>
            <a:endParaRPr lang="en-US" sz="1300" dirty="0"/>
          </a:p>
        </p:txBody>
      </p:sp>
      <p:sp>
        <p:nvSpPr>
          <p:cNvPr id="26" name="Text 24"/>
          <p:cNvSpPr/>
          <p:nvPr/>
        </p:nvSpPr>
        <p:spPr>
          <a:xfrm>
            <a:off x="7863840" y="5294376"/>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LocalizationReviewer</a:t>
            </a:r>
            <a:endParaRPr lang="en-US" sz="1000" dirty="0"/>
          </a:p>
        </p:txBody>
      </p:sp>
      <p:sp>
        <p:nvSpPr>
          <p:cNvPr id="27" name="Text 25"/>
          <p:cNvSpPr/>
          <p:nvPr/>
        </p:nvSpPr>
        <p:spPr>
          <a:xfrm>
            <a:off x="7863840" y="5596128"/>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AI 가 한→일 번역 초안 작성 → 일본어 검수자가 자연스러움 검토 → AI 가 검수 의견을 반영해 다음 텍스트 번역에 적용한다.</a:t>
            </a:r>
            <a:endParaRPr lang="en-US" sz="1050" dirty="0"/>
          </a:p>
        </p:txBody>
      </p:sp>
      <p:sp>
        <p:nvSpPr>
          <p:cNvPr id="28" name="Text 26"/>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9" name="Text 27"/>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10 · 10A  ─  HUMAN-IN-THE-LOOP</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스토리 협업 어시스턴트</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F97316"/>
          </a:solidFill>
          <a:ln/>
        </p:spPr>
      </p:sp>
      <p:sp>
        <p:nvSpPr>
          <p:cNvPr id="8" name="Shape 6"/>
          <p:cNvSpPr/>
          <p:nvPr/>
        </p:nvSpPr>
        <p:spPr>
          <a:xfrm>
            <a:off x="777240" y="1691640"/>
            <a:ext cx="914400" cy="365760"/>
          </a:xfrm>
          <a:prstGeom prst="roundRect">
            <a:avLst>
              <a:gd name="adj" fmla="val 12500"/>
            </a:avLst>
          </a:prstGeom>
          <a:solidFill>
            <a:srgbClr val="F97316"/>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StoryCollaborator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AI 가 게임 스토리의 다음 장면 초안을 작성 → 작가가 검토하고 수정 → AI 가 그 수정을 반영해 다른 캐릭터의 반응을 이어 작성하는 협업 시스템이다.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Checkpoint 저장/복원, 인간 입력 후 워크플로우 재개.</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Agents/DraftAgent.cs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Services/CheckpointService.cs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Workflows/StoryWorkflow.cs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AI: 1막 초안 → 작가 수정 → AI: 2막 자동 작성 (수정 반영) → ...</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10 · 10B  ─  HUMAN-IN-THE-LOOP</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밸런스 조정 워크플로우</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F97316"/>
          </a:solidFill>
          <a:ln/>
        </p:spPr>
      </p:sp>
      <p:sp>
        <p:nvSpPr>
          <p:cNvPr id="8" name="Shape 6"/>
          <p:cNvSpPr/>
          <p:nvPr/>
        </p:nvSpPr>
        <p:spPr>
          <a:xfrm>
            <a:off x="777240" y="1691640"/>
            <a:ext cx="914400" cy="365760"/>
          </a:xfrm>
          <a:prstGeom prst="roundRect">
            <a:avLst>
              <a:gd name="adj" fmla="val 12500"/>
            </a:avLst>
          </a:prstGeom>
          <a:solidFill>
            <a:srgbClr val="F97316"/>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10B</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BalanceAdjuster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AI 가 데미지 공식 변경안을 제안 → 디자이너가 검토하고 일부만 채택 → AI 가 시뮬레이션을 다시 돌려 결과를 보여준다. 디자이너가 "3시간 전 상태로 되돌려" 라고 하면 그 시점 상태로 복원된다.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Time-travel(시간 여행), 상태 분기 관리.</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Agents/ProposalAgent.cs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Services/TimeTravelService.cs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체크포인트 #4 로 되돌리기 → 다른 안 채택 → 새 시뮬레이션</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10 · 10C  ─  HUMAN-IN-THE-LOOP</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로컬라이제이션 검수</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F97316"/>
          </a:solidFill>
          <a:ln/>
        </p:spPr>
      </p:sp>
      <p:sp>
        <p:nvSpPr>
          <p:cNvPr id="8" name="Shape 6"/>
          <p:cNvSpPr/>
          <p:nvPr/>
        </p:nvSpPr>
        <p:spPr>
          <a:xfrm>
            <a:off x="777240" y="1691640"/>
            <a:ext cx="914400" cy="365760"/>
          </a:xfrm>
          <a:prstGeom prst="roundRect">
            <a:avLst>
              <a:gd name="adj" fmla="val 12500"/>
            </a:avLst>
          </a:prstGeom>
          <a:solidFill>
            <a:srgbClr val="F97316"/>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10C</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LocalizationReviewer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AI 가 한→일 번역 초안 작성 → 일본어 검수자가 자연스러움 검토 → AI 가 검수 의견을 반영해 다음 텍스트 번역에 적용한다. 학습 효과가 누적되는 검수 시스템이다.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검수 사이클, 누적 학습, 상태 저장.</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Agents/TranslationAgent.cs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Services/ReviewCheckpoint.cs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검수자: "~である 보다 ~です 가 자연스러워요" → 다음 번역부터 톤 자동 적용</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고급 · STAGE 11</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실시간 분석</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Text 4"/>
          <p:cNvSpPr/>
          <p:nvPr/>
        </p:nvSpPr>
        <p:spPr>
          <a:xfrm>
            <a:off x="548640" y="1554480"/>
            <a:ext cx="6858000" cy="457200"/>
          </a:xfrm>
          <a:prstGeom prst="rect">
            <a:avLst/>
          </a:prstGeom>
          <a:noFill/>
          <a:ln/>
        </p:spPr>
        <p:txBody>
          <a:bodyPr wrap="square" lIns="0" tIns="0" rIns="0" bIns="0" rtlCol="0" anchor="ctr"/>
          <a:lstStyle/>
          <a:p>
            <a:pPr indent="0" marL="0">
              <a:buNone/>
            </a:pPr>
            <a:r>
              <a:rPr lang="en-US" sz="1800" b="1" dirty="0">
                <a:solidFill>
                  <a:srgbClr val="0F4C81"/>
                </a:solidFill>
                <a:latin typeface="Calibri" pitchFamily="34" charset="0"/>
                <a:ea typeface="Calibri" pitchFamily="34" charset="-122"/>
                <a:cs typeface="Calibri" pitchFamily="34" charset="-120"/>
              </a:rPr>
              <a:t>스트리밍 데이터와 이벤트 기반</a:t>
            </a:r>
            <a:endParaRPr lang="en-US" sz="1800" dirty="0"/>
          </a:p>
        </p:txBody>
      </p:sp>
      <p:sp>
        <p:nvSpPr>
          <p:cNvPr id="7" name="Text 5"/>
          <p:cNvSpPr/>
          <p:nvPr/>
        </p:nvSpPr>
        <p:spPr>
          <a:xfrm>
            <a:off x="548640" y="2103120"/>
            <a:ext cx="6858000" cy="1828800"/>
          </a:xfrm>
          <a:prstGeom prst="rect">
            <a:avLst/>
          </a:prstGeom>
          <a:noFill/>
          <a:ln/>
        </p:spPr>
        <p:txBody>
          <a:bodyPr wrap="square" lIns="0" tIns="0" rIns="0" bIns="0" rtlCol="0" anchor="ctr"/>
          <a:lstStyle/>
          <a:p>
            <a:pPr indent="0" marL="0">
              <a:spcAft>
                <a:spcPts val="600"/>
              </a:spcAft>
              <a:buNone/>
            </a:pPr>
            <a:r>
              <a:rPr lang="en-US" sz="1250" dirty="0">
                <a:solidFill>
                  <a:srgbClr val="1F2937"/>
                </a:solidFill>
                <a:latin typeface="Calibri" pitchFamily="34" charset="0"/>
                <a:ea typeface="Calibri" pitchFamily="34" charset="-122"/>
                <a:cs typeface="Calibri" pitchFamily="34" charset="-120"/>
              </a:rPr>
              <a:t>게임 서버 메트릭을 실시간으로 흘러들어오는 스트림으로 처리하고, 이상 징후를 감지하면 즉시 반응하는 시스템을 구축한다. 이벤트 기반 아키텍처와 EventBus 패턴이 핵심이다.</a:t>
            </a:r>
            <a:endParaRPr lang="en-US" sz="1250" dirty="0"/>
          </a:p>
        </p:txBody>
      </p:sp>
      <p:sp>
        <p:nvSpPr>
          <p:cNvPr id="8" name="Text 6"/>
          <p:cNvSpPr/>
          <p:nvPr/>
        </p:nvSpPr>
        <p:spPr>
          <a:xfrm>
            <a:off x="365760" y="4023360"/>
            <a:ext cx="3657600" cy="2286000"/>
          </a:xfrm>
          <a:prstGeom prst="rect">
            <a:avLst/>
          </a:prstGeom>
          <a:noFill/>
          <a:ln/>
        </p:spPr>
        <p:txBody>
          <a:bodyPr wrap="square" lIns="0" tIns="0" rIns="0" bIns="0" rtlCol="0" anchor="ctr"/>
          <a:lstStyle/>
          <a:p>
            <a:pPr indent="0" marL="0">
              <a:buNone/>
            </a:pPr>
            <a:r>
              <a:rPr lang="en-US" sz="18000" b="1" dirty="0">
                <a:solidFill>
                  <a:srgbClr val="FED7AA"/>
                </a:solidFill>
                <a:latin typeface="Calibri" pitchFamily="34" charset="0"/>
                <a:ea typeface="Calibri" pitchFamily="34" charset="-122"/>
                <a:cs typeface="Calibri" pitchFamily="34" charset="-120"/>
              </a:rPr>
              <a:t>11</a:t>
            </a:r>
            <a:endParaRPr lang="en-US" sz="18000" dirty="0"/>
          </a:p>
        </p:txBody>
      </p:sp>
      <p:sp>
        <p:nvSpPr>
          <p:cNvPr id="9" name="Text 7"/>
          <p:cNvSpPr/>
          <p:nvPr/>
        </p:nvSpPr>
        <p:spPr>
          <a:xfrm>
            <a:off x="640080" y="4114800"/>
            <a:ext cx="2743200" cy="365760"/>
          </a:xfrm>
          <a:prstGeom prst="rect">
            <a:avLst/>
          </a:prstGeom>
          <a:noFill/>
          <a:ln/>
        </p:spPr>
        <p:txBody>
          <a:bodyPr wrap="square" lIns="0" tIns="0" rIns="0" bIns="0" rtlCol="0" anchor="ctr"/>
          <a:lstStyle/>
          <a:p>
            <a:pPr indent="0" marL="0">
              <a:buNone/>
            </a:pPr>
            <a:r>
              <a:rPr lang="en-US" sz="1400" b="1" spc="400" kern="0" dirty="0">
                <a:solidFill>
                  <a:srgbClr val="F97316"/>
                </a:solidFill>
                <a:latin typeface="Calibri" pitchFamily="34" charset="0"/>
                <a:ea typeface="Calibri" pitchFamily="34" charset="-122"/>
                <a:cs typeface="Calibri" pitchFamily="34" charset="-120"/>
              </a:rPr>
              <a:t>STAGE</a:t>
            </a:r>
            <a:endParaRPr lang="en-US" sz="1400" dirty="0"/>
          </a:p>
        </p:txBody>
      </p:sp>
      <p:sp>
        <p:nvSpPr>
          <p:cNvPr id="10" name="Shape 8"/>
          <p:cNvSpPr/>
          <p:nvPr/>
        </p:nvSpPr>
        <p:spPr>
          <a:xfrm>
            <a:off x="7680960" y="1554480"/>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1" name="Shape 9"/>
          <p:cNvSpPr/>
          <p:nvPr/>
        </p:nvSpPr>
        <p:spPr>
          <a:xfrm>
            <a:off x="7680960" y="1554480"/>
            <a:ext cx="109728" cy="1554480"/>
          </a:xfrm>
          <a:prstGeom prst="rect">
            <a:avLst/>
          </a:prstGeom>
          <a:solidFill>
            <a:srgbClr val="0F4C81"/>
          </a:solidFill>
          <a:ln/>
        </p:spPr>
      </p:sp>
      <p:sp>
        <p:nvSpPr>
          <p:cNvPr id="12" name="Text 10"/>
          <p:cNvSpPr/>
          <p:nvPr/>
        </p:nvSpPr>
        <p:spPr>
          <a:xfrm>
            <a:off x="7863840" y="1645920"/>
            <a:ext cx="109728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11A</a:t>
            </a:r>
            <a:endParaRPr lang="en-US" sz="1300" dirty="0"/>
          </a:p>
        </p:txBody>
      </p:sp>
      <p:sp>
        <p:nvSpPr>
          <p:cNvPr id="13" name="Text 11"/>
          <p:cNvSpPr/>
          <p:nvPr/>
        </p:nvSpPr>
        <p:spPr>
          <a:xfrm>
            <a:off x="8869680" y="1645920"/>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서버 메트릭 모니터링</a:t>
            </a:r>
            <a:endParaRPr lang="en-US" sz="1300" dirty="0"/>
          </a:p>
        </p:txBody>
      </p:sp>
      <p:sp>
        <p:nvSpPr>
          <p:cNvPr id="14" name="Text 12"/>
          <p:cNvSpPr/>
          <p:nvPr/>
        </p:nvSpPr>
        <p:spPr>
          <a:xfrm>
            <a:off x="7863840" y="1965960"/>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ServerMetricMonitor</a:t>
            </a:r>
            <a:endParaRPr lang="en-US" sz="1000" dirty="0"/>
          </a:p>
        </p:txBody>
      </p:sp>
      <p:sp>
        <p:nvSpPr>
          <p:cNvPr id="15" name="Text 13"/>
          <p:cNvSpPr/>
          <p:nvPr/>
        </p:nvSpPr>
        <p:spPr>
          <a:xfrm>
            <a:off x="7863840" y="2267712"/>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FPS, 핑, CPU, 메모리 같은 서버 메트릭을 1초 단위로 수집하고 LLM 이 추세를 해석해 알림을 발생시킨다.</a:t>
            </a:r>
            <a:endParaRPr lang="en-US" sz="1050" dirty="0"/>
          </a:p>
        </p:txBody>
      </p:sp>
      <p:sp>
        <p:nvSpPr>
          <p:cNvPr id="16" name="Shape 14"/>
          <p:cNvSpPr/>
          <p:nvPr/>
        </p:nvSpPr>
        <p:spPr>
          <a:xfrm>
            <a:off x="7680960" y="3218688"/>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7" name="Shape 15"/>
          <p:cNvSpPr/>
          <p:nvPr/>
        </p:nvSpPr>
        <p:spPr>
          <a:xfrm>
            <a:off x="7680960" y="3218688"/>
            <a:ext cx="109728" cy="1554480"/>
          </a:xfrm>
          <a:prstGeom prst="rect">
            <a:avLst/>
          </a:prstGeom>
          <a:solidFill>
            <a:srgbClr val="0F4C81"/>
          </a:solidFill>
          <a:ln/>
        </p:spPr>
      </p:sp>
      <p:sp>
        <p:nvSpPr>
          <p:cNvPr id="18" name="Text 16"/>
          <p:cNvSpPr/>
          <p:nvPr/>
        </p:nvSpPr>
        <p:spPr>
          <a:xfrm>
            <a:off x="7863840" y="3310128"/>
            <a:ext cx="109728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11B</a:t>
            </a:r>
            <a:endParaRPr lang="en-US" sz="1300" dirty="0"/>
          </a:p>
        </p:txBody>
      </p:sp>
      <p:sp>
        <p:nvSpPr>
          <p:cNvPr id="19" name="Text 17"/>
          <p:cNvSpPr/>
          <p:nvPr/>
        </p:nvSpPr>
        <p:spPr>
          <a:xfrm>
            <a:off x="8869680" y="3310128"/>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이상 징후 탐지기</a:t>
            </a:r>
            <a:endParaRPr lang="en-US" sz="1300" dirty="0"/>
          </a:p>
        </p:txBody>
      </p:sp>
      <p:sp>
        <p:nvSpPr>
          <p:cNvPr id="20" name="Text 18"/>
          <p:cNvSpPr/>
          <p:nvPr/>
        </p:nvSpPr>
        <p:spPr>
          <a:xfrm>
            <a:off x="7863840" y="3630168"/>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AnomalyDetector</a:t>
            </a:r>
            <a:endParaRPr lang="en-US" sz="1000" dirty="0"/>
          </a:p>
        </p:txBody>
      </p:sp>
      <p:sp>
        <p:nvSpPr>
          <p:cNvPr id="21" name="Text 19"/>
          <p:cNvSpPr/>
          <p:nvPr/>
        </p:nvSpPr>
        <p:spPr>
          <a:xfrm>
            <a:off x="7863840" y="3931920"/>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평소 패턴과 비교해 갑작스런 변화를 감지하는 에이전트이다.</a:t>
            </a:r>
            <a:endParaRPr lang="en-US" sz="1050" dirty="0"/>
          </a:p>
        </p:txBody>
      </p:sp>
      <p:sp>
        <p:nvSpPr>
          <p:cNvPr id="22" name="Shape 20"/>
          <p:cNvSpPr/>
          <p:nvPr/>
        </p:nvSpPr>
        <p:spPr>
          <a:xfrm>
            <a:off x="7680960" y="4882896"/>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3" name="Shape 21"/>
          <p:cNvSpPr/>
          <p:nvPr/>
        </p:nvSpPr>
        <p:spPr>
          <a:xfrm>
            <a:off x="7680960" y="4882896"/>
            <a:ext cx="109728" cy="1554480"/>
          </a:xfrm>
          <a:prstGeom prst="rect">
            <a:avLst/>
          </a:prstGeom>
          <a:solidFill>
            <a:srgbClr val="0F4C81"/>
          </a:solidFill>
          <a:ln/>
        </p:spPr>
      </p:sp>
      <p:sp>
        <p:nvSpPr>
          <p:cNvPr id="24" name="Text 22"/>
          <p:cNvSpPr/>
          <p:nvPr/>
        </p:nvSpPr>
        <p:spPr>
          <a:xfrm>
            <a:off x="7863840" y="4974336"/>
            <a:ext cx="109728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11C</a:t>
            </a:r>
            <a:endParaRPr lang="en-US" sz="1300" dirty="0"/>
          </a:p>
        </p:txBody>
      </p:sp>
      <p:sp>
        <p:nvSpPr>
          <p:cNvPr id="25" name="Text 23"/>
          <p:cNvSpPr/>
          <p:nvPr/>
        </p:nvSpPr>
        <p:spPr>
          <a:xfrm>
            <a:off x="8869680" y="4974336"/>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자동 스케일링 제안</a:t>
            </a:r>
            <a:endParaRPr lang="en-US" sz="1300" dirty="0"/>
          </a:p>
        </p:txBody>
      </p:sp>
      <p:sp>
        <p:nvSpPr>
          <p:cNvPr id="26" name="Text 24"/>
          <p:cNvSpPr/>
          <p:nvPr/>
        </p:nvSpPr>
        <p:spPr>
          <a:xfrm>
            <a:off x="7863840" y="5294376"/>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AutoScaler</a:t>
            </a:r>
            <a:endParaRPr lang="en-US" sz="1000" dirty="0"/>
          </a:p>
        </p:txBody>
      </p:sp>
      <p:sp>
        <p:nvSpPr>
          <p:cNvPr id="27" name="Text 25"/>
          <p:cNvSpPr/>
          <p:nvPr/>
        </p:nvSpPr>
        <p:spPr>
          <a:xfrm>
            <a:off x="7863840" y="5596128"/>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현재 부하를 분석해 인스턴스를 몇 대 늘리거나 줄일지 제안하는 에이전트이다.</a:t>
            </a:r>
            <a:endParaRPr lang="en-US" sz="1050" dirty="0"/>
          </a:p>
        </p:txBody>
      </p:sp>
      <p:sp>
        <p:nvSpPr>
          <p:cNvPr id="28" name="Text 26"/>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9" name="Text 27"/>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11 · 11A  ─  실시간 분석</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서버 메트릭 모니터링</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F4C81"/>
          </a:solidFill>
          <a:ln/>
        </p:spPr>
      </p:sp>
      <p:sp>
        <p:nvSpPr>
          <p:cNvPr id="8" name="Shape 6"/>
          <p:cNvSpPr/>
          <p:nvPr/>
        </p:nvSpPr>
        <p:spPr>
          <a:xfrm>
            <a:off x="777240" y="1691640"/>
            <a:ext cx="914400" cy="365760"/>
          </a:xfrm>
          <a:prstGeom prst="roundRect">
            <a:avLst>
              <a:gd name="adj" fmla="val 12500"/>
            </a:avLst>
          </a:prstGeom>
          <a:solidFill>
            <a:srgbClr val="0F4C81"/>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ServerMetricMonitor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FPS, 핑, CPU, 메모리 같은 서버 메트릭을 1초 단위로 수집하고 LLM 이 추세를 해석해 알림을 발생시킨다. 단순 임계값을 넘는 알림이 아니라 "느리게 기어오르는 추세" 같은 미묘한 패턴까지 감지한다.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스트리밍 데이터 처리, 비동기 채널.</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Agents/MetricCollector.cs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Services/StreamingDataService.cs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10분간 평균 핑이 80→ 130ms 로 점진 증가 → "점진적 부하 상승, EU 클러스터 점검 권장"</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11 · 11B  ─  실시간 분석</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이상 징후 탐지기</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F4C81"/>
          </a:solidFill>
          <a:ln/>
        </p:spPr>
      </p:sp>
      <p:sp>
        <p:nvSpPr>
          <p:cNvPr id="8" name="Shape 6"/>
          <p:cNvSpPr/>
          <p:nvPr/>
        </p:nvSpPr>
        <p:spPr>
          <a:xfrm>
            <a:off x="777240" y="1691640"/>
            <a:ext cx="914400" cy="365760"/>
          </a:xfrm>
          <a:prstGeom prst="roundRect">
            <a:avLst>
              <a:gd name="adj" fmla="val 12500"/>
            </a:avLst>
          </a:prstGeom>
          <a:solidFill>
            <a:srgbClr val="0F4C81"/>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11B</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AnomalyDetector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평소 패턴과 비교해 갑작스런 변화를 감지하는 에이전트이다. 평소 14시 동시접속자 1만 명인데 갑자기 3만 명이 되면 "이상 트래픽? 아니면 이벤트 효과?" 를 LLM 이 판단해 알린다.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이벤트 기반 아키텍처, EventBus 패턴.</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Agents/PatternAnalyzer.cs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Agents/AnomalyAgent.cs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Services/EventBus.cs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감지: "평소 1만 → 3만 동접. 신규 가입자 비율 5%(평소 30%) → 봇/매크로 의심"</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11 · 11C  ─  실시간 분석</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자동 스케일링 제안</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F4C81"/>
          </a:solidFill>
          <a:ln/>
        </p:spPr>
      </p:sp>
      <p:sp>
        <p:nvSpPr>
          <p:cNvPr id="8" name="Shape 6"/>
          <p:cNvSpPr/>
          <p:nvPr/>
        </p:nvSpPr>
        <p:spPr>
          <a:xfrm>
            <a:off x="777240" y="1691640"/>
            <a:ext cx="914400" cy="365760"/>
          </a:xfrm>
          <a:prstGeom prst="roundRect">
            <a:avLst>
              <a:gd name="adj" fmla="val 12500"/>
            </a:avLst>
          </a:prstGeom>
          <a:solidFill>
            <a:srgbClr val="0F4C81"/>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11C</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AutoScaler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현재 부하를 분석해 인스턴스를 몇 대 늘리거나 줄일지 제안하는 에이전트이다. 자동 실행이 아니라 인간 승인 후 적용하도록 설계되어 운영자의 통제권이 보장된다.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실시간 의사결정, Human Approval 패턴.</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Agents/LoadAnalyzer.cs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Agents/ScalingAgent.cs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Services/AlertService.cs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제안: "현재 부하 78% → 인스턴스 6 → 9 로 증설 권장" → 운영자 승인 후 적용</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고급 · STAGE 12</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멀티모달 (이미지)</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Text 4"/>
          <p:cNvSpPr/>
          <p:nvPr/>
        </p:nvSpPr>
        <p:spPr>
          <a:xfrm>
            <a:off x="548640" y="1554480"/>
            <a:ext cx="6858000" cy="457200"/>
          </a:xfrm>
          <a:prstGeom prst="rect">
            <a:avLst/>
          </a:prstGeom>
          <a:noFill/>
          <a:ln/>
        </p:spPr>
        <p:txBody>
          <a:bodyPr wrap="square" lIns="0" tIns="0" rIns="0" bIns="0" rtlCol="0" anchor="ctr"/>
          <a:lstStyle/>
          <a:p>
            <a:pPr indent="0" marL="0">
              <a:buNone/>
            </a:pPr>
            <a:r>
              <a:rPr lang="en-US" sz="1800" b="1" dirty="0">
                <a:solidFill>
                  <a:srgbClr val="0A3B66"/>
                </a:solidFill>
                <a:latin typeface="Calibri" pitchFamily="34" charset="0"/>
                <a:ea typeface="Calibri" pitchFamily="34" charset="-122"/>
                <a:cs typeface="Calibri" pitchFamily="34" charset="-120"/>
              </a:rPr>
              <a:t>비전 + 텍스트 통합</a:t>
            </a:r>
            <a:endParaRPr lang="en-US" sz="1800" dirty="0"/>
          </a:p>
        </p:txBody>
      </p:sp>
      <p:sp>
        <p:nvSpPr>
          <p:cNvPr id="7" name="Text 5"/>
          <p:cNvSpPr/>
          <p:nvPr/>
        </p:nvSpPr>
        <p:spPr>
          <a:xfrm>
            <a:off x="548640" y="2103120"/>
            <a:ext cx="6858000" cy="1828800"/>
          </a:xfrm>
          <a:prstGeom prst="rect">
            <a:avLst/>
          </a:prstGeom>
          <a:noFill/>
          <a:ln/>
        </p:spPr>
        <p:txBody>
          <a:bodyPr wrap="square" lIns="0" tIns="0" rIns="0" bIns="0" rtlCol="0" anchor="ctr"/>
          <a:lstStyle/>
          <a:p>
            <a:pPr indent="0" marL="0">
              <a:spcAft>
                <a:spcPts val="600"/>
              </a:spcAft>
              <a:buNone/>
            </a:pPr>
            <a:r>
              <a:rPr lang="en-US" sz="1250" dirty="0">
                <a:solidFill>
                  <a:srgbClr val="1F2937"/>
                </a:solidFill>
                <a:latin typeface="Calibri" pitchFamily="34" charset="0"/>
                <a:ea typeface="Calibri" pitchFamily="34" charset="-122"/>
                <a:cs typeface="Calibri" pitchFamily="34" charset="-120"/>
              </a:rPr>
              <a:t>GPT-4V 또는 Gemini 의 비전 기능을 활용해 이미지를 텍스트와 함께 처리한다. 스크린샷, 3D 모델, 아이콘 같은 게임 에셋을 자동 검수하는 패턴을 익힌다.</a:t>
            </a:r>
            <a:endParaRPr lang="en-US" sz="1250" dirty="0"/>
          </a:p>
        </p:txBody>
      </p:sp>
      <p:sp>
        <p:nvSpPr>
          <p:cNvPr id="8" name="Text 6"/>
          <p:cNvSpPr/>
          <p:nvPr/>
        </p:nvSpPr>
        <p:spPr>
          <a:xfrm>
            <a:off x="365760" y="4023360"/>
            <a:ext cx="3657600" cy="2286000"/>
          </a:xfrm>
          <a:prstGeom prst="rect">
            <a:avLst/>
          </a:prstGeom>
          <a:noFill/>
          <a:ln/>
        </p:spPr>
        <p:txBody>
          <a:bodyPr wrap="square" lIns="0" tIns="0" rIns="0" bIns="0" rtlCol="0" anchor="ctr"/>
          <a:lstStyle/>
          <a:p>
            <a:pPr indent="0" marL="0">
              <a:buNone/>
            </a:pPr>
            <a:r>
              <a:rPr lang="en-US" sz="18000" b="1" dirty="0">
                <a:solidFill>
                  <a:srgbClr val="FED7AA"/>
                </a:solidFill>
                <a:latin typeface="Calibri" pitchFamily="34" charset="0"/>
                <a:ea typeface="Calibri" pitchFamily="34" charset="-122"/>
                <a:cs typeface="Calibri" pitchFamily="34" charset="-120"/>
              </a:rPr>
              <a:t>12</a:t>
            </a:r>
            <a:endParaRPr lang="en-US" sz="18000" dirty="0"/>
          </a:p>
        </p:txBody>
      </p:sp>
      <p:sp>
        <p:nvSpPr>
          <p:cNvPr id="9" name="Text 7"/>
          <p:cNvSpPr/>
          <p:nvPr/>
        </p:nvSpPr>
        <p:spPr>
          <a:xfrm>
            <a:off x="640080" y="4114800"/>
            <a:ext cx="2743200" cy="365760"/>
          </a:xfrm>
          <a:prstGeom prst="rect">
            <a:avLst/>
          </a:prstGeom>
          <a:noFill/>
          <a:ln/>
        </p:spPr>
        <p:txBody>
          <a:bodyPr wrap="square" lIns="0" tIns="0" rIns="0" bIns="0" rtlCol="0" anchor="ctr"/>
          <a:lstStyle/>
          <a:p>
            <a:pPr indent="0" marL="0">
              <a:buNone/>
            </a:pPr>
            <a:r>
              <a:rPr lang="en-US" sz="1400" b="1" spc="400" kern="0" dirty="0">
                <a:solidFill>
                  <a:srgbClr val="F97316"/>
                </a:solidFill>
                <a:latin typeface="Calibri" pitchFamily="34" charset="0"/>
                <a:ea typeface="Calibri" pitchFamily="34" charset="-122"/>
                <a:cs typeface="Calibri" pitchFamily="34" charset="-120"/>
              </a:rPr>
              <a:t>STAGE</a:t>
            </a:r>
            <a:endParaRPr lang="en-US" sz="1400" dirty="0"/>
          </a:p>
        </p:txBody>
      </p:sp>
      <p:sp>
        <p:nvSpPr>
          <p:cNvPr id="10" name="Shape 8"/>
          <p:cNvSpPr/>
          <p:nvPr/>
        </p:nvSpPr>
        <p:spPr>
          <a:xfrm>
            <a:off x="7680960" y="1554480"/>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1" name="Shape 9"/>
          <p:cNvSpPr/>
          <p:nvPr/>
        </p:nvSpPr>
        <p:spPr>
          <a:xfrm>
            <a:off x="7680960" y="1554480"/>
            <a:ext cx="109728" cy="1554480"/>
          </a:xfrm>
          <a:prstGeom prst="rect">
            <a:avLst/>
          </a:prstGeom>
          <a:solidFill>
            <a:srgbClr val="0A3B66"/>
          </a:solidFill>
          <a:ln/>
        </p:spPr>
      </p:sp>
      <p:sp>
        <p:nvSpPr>
          <p:cNvPr id="12" name="Text 10"/>
          <p:cNvSpPr/>
          <p:nvPr/>
        </p:nvSpPr>
        <p:spPr>
          <a:xfrm>
            <a:off x="7863840" y="1645920"/>
            <a:ext cx="1097280" cy="320040"/>
          </a:xfrm>
          <a:prstGeom prst="rect">
            <a:avLst/>
          </a:prstGeom>
          <a:noFill/>
          <a:ln/>
        </p:spPr>
        <p:txBody>
          <a:bodyPr wrap="square" lIns="0" tIns="0" rIns="0" bIns="0" rtlCol="0" anchor="ctr"/>
          <a:lstStyle/>
          <a:p>
            <a:pPr indent="0" marL="0">
              <a:buNone/>
            </a:pPr>
            <a:r>
              <a:rPr lang="en-US" sz="1300" b="1" dirty="0">
                <a:solidFill>
                  <a:srgbClr val="0A3B66"/>
                </a:solidFill>
                <a:latin typeface="Calibri" pitchFamily="34" charset="0"/>
                <a:ea typeface="Calibri" pitchFamily="34" charset="-122"/>
                <a:cs typeface="Calibri" pitchFamily="34" charset="-120"/>
              </a:rPr>
              <a:t>12A</a:t>
            </a:r>
            <a:endParaRPr lang="en-US" sz="1300" dirty="0"/>
          </a:p>
        </p:txBody>
      </p:sp>
      <p:sp>
        <p:nvSpPr>
          <p:cNvPr id="13" name="Text 11"/>
          <p:cNvSpPr/>
          <p:nvPr/>
        </p:nvSpPr>
        <p:spPr>
          <a:xfrm>
            <a:off x="8869680" y="1645920"/>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UI 스타일 검수기</a:t>
            </a:r>
            <a:endParaRPr lang="en-US" sz="1300" dirty="0"/>
          </a:p>
        </p:txBody>
      </p:sp>
      <p:sp>
        <p:nvSpPr>
          <p:cNvPr id="14" name="Text 12"/>
          <p:cNvSpPr/>
          <p:nvPr/>
        </p:nvSpPr>
        <p:spPr>
          <a:xfrm>
            <a:off x="7863840" y="1965960"/>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UIStyleChecker</a:t>
            </a:r>
            <a:endParaRPr lang="en-US" sz="1000" dirty="0"/>
          </a:p>
        </p:txBody>
      </p:sp>
      <p:sp>
        <p:nvSpPr>
          <p:cNvPr id="15" name="Text 13"/>
          <p:cNvSpPr/>
          <p:nvPr/>
        </p:nvSpPr>
        <p:spPr>
          <a:xfrm>
            <a:off x="7863840" y="2267712"/>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게임 UI 스크린샷을 받으면 정의된 스타일 가이드(폰트 크기, 색상, 패딩 등)를 준수하는지 검사한다.</a:t>
            </a:r>
            <a:endParaRPr lang="en-US" sz="1050" dirty="0"/>
          </a:p>
        </p:txBody>
      </p:sp>
      <p:sp>
        <p:nvSpPr>
          <p:cNvPr id="16" name="Shape 14"/>
          <p:cNvSpPr/>
          <p:nvPr/>
        </p:nvSpPr>
        <p:spPr>
          <a:xfrm>
            <a:off x="7680960" y="3218688"/>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7" name="Shape 15"/>
          <p:cNvSpPr/>
          <p:nvPr/>
        </p:nvSpPr>
        <p:spPr>
          <a:xfrm>
            <a:off x="7680960" y="3218688"/>
            <a:ext cx="109728" cy="1554480"/>
          </a:xfrm>
          <a:prstGeom prst="rect">
            <a:avLst/>
          </a:prstGeom>
          <a:solidFill>
            <a:srgbClr val="0A3B66"/>
          </a:solidFill>
          <a:ln/>
        </p:spPr>
      </p:sp>
      <p:sp>
        <p:nvSpPr>
          <p:cNvPr id="18" name="Text 16"/>
          <p:cNvSpPr/>
          <p:nvPr/>
        </p:nvSpPr>
        <p:spPr>
          <a:xfrm>
            <a:off x="7863840" y="3310128"/>
            <a:ext cx="1097280" cy="320040"/>
          </a:xfrm>
          <a:prstGeom prst="rect">
            <a:avLst/>
          </a:prstGeom>
          <a:noFill/>
          <a:ln/>
        </p:spPr>
        <p:txBody>
          <a:bodyPr wrap="square" lIns="0" tIns="0" rIns="0" bIns="0" rtlCol="0" anchor="ctr"/>
          <a:lstStyle/>
          <a:p>
            <a:pPr indent="0" marL="0">
              <a:buNone/>
            </a:pPr>
            <a:r>
              <a:rPr lang="en-US" sz="1300" b="1" dirty="0">
                <a:solidFill>
                  <a:srgbClr val="0A3B66"/>
                </a:solidFill>
                <a:latin typeface="Calibri" pitchFamily="34" charset="0"/>
                <a:ea typeface="Calibri" pitchFamily="34" charset="-122"/>
                <a:cs typeface="Calibri" pitchFamily="34" charset="-120"/>
              </a:rPr>
              <a:t>12B</a:t>
            </a:r>
            <a:endParaRPr lang="en-US" sz="1300" dirty="0"/>
          </a:p>
        </p:txBody>
      </p:sp>
      <p:sp>
        <p:nvSpPr>
          <p:cNvPr id="19" name="Text 17"/>
          <p:cNvSpPr/>
          <p:nvPr/>
        </p:nvSpPr>
        <p:spPr>
          <a:xfrm>
            <a:off x="8869680" y="3310128"/>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캐릭터 모델 검수기</a:t>
            </a:r>
            <a:endParaRPr lang="en-US" sz="1300" dirty="0"/>
          </a:p>
        </p:txBody>
      </p:sp>
      <p:sp>
        <p:nvSpPr>
          <p:cNvPr id="20" name="Text 18"/>
          <p:cNvSpPr/>
          <p:nvPr/>
        </p:nvSpPr>
        <p:spPr>
          <a:xfrm>
            <a:off x="7863840" y="3630168"/>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CharacterModelChecker</a:t>
            </a:r>
            <a:endParaRPr lang="en-US" sz="1000" dirty="0"/>
          </a:p>
        </p:txBody>
      </p:sp>
      <p:sp>
        <p:nvSpPr>
          <p:cNvPr id="21" name="Text 19"/>
          <p:cNvSpPr/>
          <p:nvPr/>
        </p:nvSpPr>
        <p:spPr>
          <a:xfrm>
            <a:off x="7863840" y="3931920"/>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3D 캐릭터 모델의 렌더링 결과 이미지를 받아 비율, 실루엣, 색상 톤이 다른 캐릭터와 일관되는지 검수한다.</a:t>
            </a:r>
            <a:endParaRPr lang="en-US" sz="1050" dirty="0"/>
          </a:p>
        </p:txBody>
      </p:sp>
      <p:sp>
        <p:nvSpPr>
          <p:cNvPr id="22" name="Shape 20"/>
          <p:cNvSpPr/>
          <p:nvPr/>
        </p:nvSpPr>
        <p:spPr>
          <a:xfrm>
            <a:off x="7680960" y="4882896"/>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3" name="Shape 21"/>
          <p:cNvSpPr/>
          <p:nvPr/>
        </p:nvSpPr>
        <p:spPr>
          <a:xfrm>
            <a:off x="7680960" y="4882896"/>
            <a:ext cx="109728" cy="1554480"/>
          </a:xfrm>
          <a:prstGeom prst="rect">
            <a:avLst/>
          </a:prstGeom>
          <a:solidFill>
            <a:srgbClr val="0A3B66"/>
          </a:solidFill>
          <a:ln/>
        </p:spPr>
      </p:sp>
      <p:sp>
        <p:nvSpPr>
          <p:cNvPr id="24" name="Text 22"/>
          <p:cNvSpPr/>
          <p:nvPr/>
        </p:nvSpPr>
        <p:spPr>
          <a:xfrm>
            <a:off x="7863840" y="4974336"/>
            <a:ext cx="1097280" cy="320040"/>
          </a:xfrm>
          <a:prstGeom prst="rect">
            <a:avLst/>
          </a:prstGeom>
          <a:noFill/>
          <a:ln/>
        </p:spPr>
        <p:txBody>
          <a:bodyPr wrap="square" lIns="0" tIns="0" rIns="0" bIns="0" rtlCol="0" anchor="ctr"/>
          <a:lstStyle/>
          <a:p>
            <a:pPr indent="0" marL="0">
              <a:buNone/>
            </a:pPr>
            <a:r>
              <a:rPr lang="en-US" sz="1300" b="1" dirty="0">
                <a:solidFill>
                  <a:srgbClr val="0A3B66"/>
                </a:solidFill>
                <a:latin typeface="Calibri" pitchFamily="34" charset="0"/>
                <a:ea typeface="Calibri" pitchFamily="34" charset="-122"/>
                <a:cs typeface="Calibri" pitchFamily="34" charset="-120"/>
              </a:rPr>
              <a:t>12C</a:t>
            </a:r>
            <a:endParaRPr lang="en-US" sz="1300" dirty="0"/>
          </a:p>
        </p:txBody>
      </p:sp>
      <p:sp>
        <p:nvSpPr>
          <p:cNvPr id="25" name="Text 23"/>
          <p:cNvSpPr/>
          <p:nvPr/>
        </p:nvSpPr>
        <p:spPr>
          <a:xfrm>
            <a:off x="8869680" y="4974336"/>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아이콘 일관성 검증기</a:t>
            </a:r>
            <a:endParaRPr lang="en-US" sz="1300" dirty="0"/>
          </a:p>
        </p:txBody>
      </p:sp>
      <p:sp>
        <p:nvSpPr>
          <p:cNvPr id="26" name="Text 24"/>
          <p:cNvSpPr/>
          <p:nvPr/>
        </p:nvSpPr>
        <p:spPr>
          <a:xfrm>
            <a:off x="7863840" y="5294376"/>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IconConsistencyChecker</a:t>
            </a:r>
            <a:endParaRPr lang="en-US" sz="1000" dirty="0"/>
          </a:p>
        </p:txBody>
      </p:sp>
      <p:sp>
        <p:nvSpPr>
          <p:cNvPr id="27" name="Text 25"/>
          <p:cNvSpPr/>
          <p:nvPr/>
        </p:nvSpPr>
        <p:spPr>
          <a:xfrm>
            <a:off x="7863840" y="5596128"/>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여러 아이콘 이미지를 동시에 받아 라인 굵기, 그림자 방향, 색상 팔레트가 일관되는지 비교 검증한다.</a:t>
            </a:r>
            <a:endParaRPr lang="en-US" sz="1050" dirty="0"/>
          </a:p>
        </p:txBody>
      </p:sp>
      <p:sp>
        <p:nvSpPr>
          <p:cNvPr id="28" name="Text 26"/>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9" name="Text 27"/>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12 · 12A  ─  멀티모달 (이미지)</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UI 스타일 검수기</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A3B66"/>
          </a:solidFill>
          <a:ln/>
        </p:spPr>
      </p:sp>
      <p:sp>
        <p:nvSpPr>
          <p:cNvPr id="8" name="Shape 6"/>
          <p:cNvSpPr/>
          <p:nvPr/>
        </p:nvSpPr>
        <p:spPr>
          <a:xfrm>
            <a:off x="777240" y="1691640"/>
            <a:ext cx="914400" cy="365760"/>
          </a:xfrm>
          <a:prstGeom prst="roundRect">
            <a:avLst>
              <a:gd name="adj" fmla="val 12500"/>
            </a:avLst>
          </a:prstGeom>
          <a:solidFill>
            <a:srgbClr val="0A3B66"/>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UIStyleChecker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A3B66"/>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게임 UI 스크린샷을 받으면 정의된 스타일 가이드(폰트 크기, 색상, 패딩 등)를 준수하는지 검사한다. 위반 사항이 있으면 그 위치를 좌표와 함께 보고한다.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A3B66"/>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이미지 분석 Tool, 스타일 가이드 매칭.</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Tools/VisionAnalysisTool.cs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Agents/StyleAgent.cs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입력: 인벤토리 UI 스크린샷</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출력: "⚠ 슬롯 #3 의 텍스트 14pt (가이드 16pt). 좌측 패딩 8px (가이드 12px)."</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12 · 12B  ─  멀티모달 (이미지)</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캐릭터 모델 검수기</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A3B66"/>
          </a:solidFill>
          <a:ln/>
        </p:spPr>
      </p:sp>
      <p:sp>
        <p:nvSpPr>
          <p:cNvPr id="8" name="Shape 6"/>
          <p:cNvSpPr/>
          <p:nvPr/>
        </p:nvSpPr>
        <p:spPr>
          <a:xfrm>
            <a:off x="777240" y="1691640"/>
            <a:ext cx="914400" cy="365760"/>
          </a:xfrm>
          <a:prstGeom prst="roundRect">
            <a:avLst>
              <a:gd name="adj" fmla="val 12500"/>
            </a:avLst>
          </a:prstGeom>
          <a:solidFill>
            <a:srgbClr val="0A3B66"/>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12B</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CharacterModelChecker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A3B66"/>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3D 캐릭터 모델의 렌더링 결과 이미지를 받아 비율, 실루엣, 색상 톤이 다른 캐릭터와 일관되는지 검수한다. "머리가 너무 큼" 같은 미적 판단도 가능하다.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A3B66"/>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비전 + 텍스트 통합, 비교 검수.</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Tools/ImageAnalyzer.cs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Agents/ProportionAgent.cs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입력: 신규 마법사 캐릭터 렌더</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출력: "머리:몸통 비율 1:7 (기준 1:7.5). 색상 채도 다른 캐릭터 대비 +20% 높음."</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12 · 12C  ─  멀티모달 (이미지)</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아이콘 일관성 검증기</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A3B66"/>
          </a:solidFill>
          <a:ln/>
        </p:spPr>
      </p:sp>
      <p:sp>
        <p:nvSpPr>
          <p:cNvPr id="8" name="Shape 6"/>
          <p:cNvSpPr/>
          <p:nvPr/>
        </p:nvSpPr>
        <p:spPr>
          <a:xfrm>
            <a:off x="777240" y="1691640"/>
            <a:ext cx="914400" cy="365760"/>
          </a:xfrm>
          <a:prstGeom prst="roundRect">
            <a:avLst>
              <a:gd name="adj" fmla="val 12500"/>
            </a:avLst>
          </a:prstGeom>
          <a:solidFill>
            <a:srgbClr val="0A3B66"/>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12C</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IconConsistencyChecker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A3B66"/>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여러 아이콘 이미지를 동시에 받아 라인 굵기, 그림자 방향, 색상 팔레트가 일관되는지 비교 검증한다. 신규 아이콘 추가 시 기존 세트와의 호환성을 자동 점검한다.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A3B66"/>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멀티 이미지 비교, 시각적 일관성 분석.</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Tools/MultiImageTool.cs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Agents/ConsistencyAgent.cs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입력: 32 개 아이콘</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출력: "5 개 아이콘이 라인 굵기 2px (기준 3px). 보정 권장."</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전문가 · STAGE 13</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PM 어시스턴트</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Text 4"/>
          <p:cNvSpPr/>
          <p:nvPr/>
        </p:nvSpPr>
        <p:spPr>
          <a:xfrm>
            <a:off x="548640" y="1554480"/>
            <a:ext cx="6858000" cy="457200"/>
          </a:xfrm>
          <a:prstGeom prst="rect">
            <a:avLst/>
          </a:prstGeom>
          <a:noFill/>
          <a:ln/>
        </p:spPr>
        <p:txBody>
          <a:bodyPr wrap="square" lIns="0" tIns="0" rIns="0" bIns="0" rtlCol="0" anchor="ctr"/>
          <a:lstStyle/>
          <a:p>
            <a:pPr indent="0" marL="0">
              <a:buNone/>
            </a:pPr>
            <a:r>
              <a:rPr lang="en-US" sz="1800" b="1" dirty="0">
                <a:solidFill>
                  <a:srgbClr val="059669"/>
                </a:solidFill>
                <a:latin typeface="Calibri" pitchFamily="34" charset="0"/>
                <a:ea typeface="Calibri" pitchFamily="34" charset="-122"/>
                <a:cs typeface="Calibri" pitchFamily="34" charset="-120"/>
              </a:rPr>
              <a:t>다중 데이터 소스 통합</a:t>
            </a:r>
            <a:endParaRPr lang="en-US" sz="1800" dirty="0"/>
          </a:p>
        </p:txBody>
      </p:sp>
      <p:sp>
        <p:nvSpPr>
          <p:cNvPr id="7" name="Text 5"/>
          <p:cNvSpPr/>
          <p:nvPr/>
        </p:nvSpPr>
        <p:spPr>
          <a:xfrm>
            <a:off x="548640" y="2103120"/>
            <a:ext cx="6858000" cy="1828800"/>
          </a:xfrm>
          <a:prstGeom prst="rect">
            <a:avLst/>
          </a:prstGeom>
          <a:noFill/>
          <a:ln/>
        </p:spPr>
        <p:txBody>
          <a:bodyPr wrap="square" lIns="0" tIns="0" rIns="0" bIns="0" rtlCol="0" anchor="ctr"/>
          <a:lstStyle/>
          <a:p>
            <a:pPr indent="0" marL="0">
              <a:spcAft>
                <a:spcPts val="600"/>
              </a:spcAft>
              <a:buNone/>
            </a:pPr>
            <a:r>
              <a:rPr lang="en-US" sz="1250" dirty="0">
                <a:solidFill>
                  <a:srgbClr val="1F2937"/>
                </a:solidFill>
                <a:latin typeface="Calibri" pitchFamily="34" charset="0"/>
                <a:ea typeface="Calibri" pitchFamily="34" charset="-122"/>
                <a:cs typeface="Calibri" pitchFamily="34" charset="-120"/>
              </a:rPr>
              <a:t>Jira + Git + Slack 등 여러 외부 데이터 소스를 하나로 묶어 프로젝트 매니저 업무를 보조하는 에이전트이다. 복잡한 상태 관리, 장기 메모리, 통합 인사이트가 핵심이다.</a:t>
            </a:r>
            <a:endParaRPr lang="en-US" sz="1250" dirty="0"/>
          </a:p>
        </p:txBody>
      </p:sp>
      <p:sp>
        <p:nvSpPr>
          <p:cNvPr id="8" name="Text 6"/>
          <p:cNvSpPr/>
          <p:nvPr/>
        </p:nvSpPr>
        <p:spPr>
          <a:xfrm>
            <a:off x="365760" y="4023360"/>
            <a:ext cx="3657600" cy="2286000"/>
          </a:xfrm>
          <a:prstGeom prst="rect">
            <a:avLst/>
          </a:prstGeom>
          <a:noFill/>
          <a:ln/>
        </p:spPr>
        <p:txBody>
          <a:bodyPr wrap="square" lIns="0" tIns="0" rIns="0" bIns="0" rtlCol="0" anchor="ctr"/>
          <a:lstStyle/>
          <a:p>
            <a:pPr indent="0" marL="0">
              <a:buNone/>
            </a:pPr>
            <a:r>
              <a:rPr lang="en-US" sz="18000" b="1" dirty="0">
                <a:solidFill>
                  <a:srgbClr val="FED7AA"/>
                </a:solidFill>
                <a:latin typeface="Calibri" pitchFamily="34" charset="0"/>
                <a:ea typeface="Calibri" pitchFamily="34" charset="-122"/>
                <a:cs typeface="Calibri" pitchFamily="34" charset="-120"/>
              </a:rPr>
              <a:t>13</a:t>
            </a:r>
            <a:endParaRPr lang="en-US" sz="18000" dirty="0"/>
          </a:p>
        </p:txBody>
      </p:sp>
      <p:sp>
        <p:nvSpPr>
          <p:cNvPr id="9" name="Text 7"/>
          <p:cNvSpPr/>
          <p:nvPr/>
        </p:nvSpPr>
        <p:spPr>
          <a:xfrm>
            <a:off x="640080" y="4114800"/>
            <a:ext cx="2743200" cy="365760"/>
          </a:xfrm>
          <a:prstGeom prst="rect">
            <a:avLst/>
          </a:prstGeom>
          <a:noFill/>
          <a:ln/>
        </p:spPr>
        <p:txBody>
          <a:bodyPr wrap="square" lIns="0" tIns="0" rIns="0" bIns="0" rtlCol="0" anchor="ctr"/>
          <a:lstStyle/>
          <a:p>
            <a:pPr indent="0" marL="0">
              <a:buNone/>
            </a:pPr>
            <a:r>
              <a:rPr lang="en-US" sz="1400" b="1" spc="400" kern="0" dirty="0">
                <a:solidFill>
                  <a:srgbClr val="F97316"/>
                </a:solidFill>
                <a:latin typeface="Calibri" pitchFamily="34" charset="0"/>
                <a:ea typeface="Calibri" pitchFamily="34" charset="-122"/>
                <a:cs typeface="Calibri" pitchFamily="34" charset="-120"/>
              </a:rPr>
              <a:t>STAGE</a:t>
            </a:r>
            <a:endParaRPr lang="en-US" sz="1400" dirty="0"/>
          </a:p>
        </p:txBody>
      </p:sp>
      <p:sp>
        <p:nvSpPr>
          <p:cNvPr id="10" name="Shape 8"/>
          <p:cNvSpPr/>
          <p:nvPr/>
        </p:nvSpPr>
        <p:spPr>
          <a:xfrm>
            <a:off x="7680960" y="1554480"/>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1" name="Shape 9"/>
          <p:cNvSpPr/>
          <p:nvPr/>
        </p:nvSpPr>
        <p:spPr>
          <a:xfrm>
            <a:off x="7680960" y="1554480"/>
            <a:ext cx="109728" cy="1554480"/>
          </a:xfrm>
          <a:prstGeom prst="rect">
            <a:avLst/>
          </a:prstGeom>
          <a:solidFill>
            <a:srgbClr val="059669"/>
          </a:solidFill>
          <a:ln/>
        </p:spPr>
      </p:sp>
      <p:sp>
        <p:nvSpPr>
          <p:cNvPr id="12" name="Text 10"/>
          <p:cNvSpPr/>
          <p:nvPr/>
        </p:nvSpPr>
        <p:spPr>
          <a:xfrm>
            <a:off x="7863840" y="1645920"/>
            <a:ext cx="10972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13A</a:t>
            </a:r>
            <a:endParaRPr lang="en-US" sz="1300" dirty="0"/>
          </a:p>
        </p:txBody>
      </p:sp>
      <p:sp>
        <p:nvSpPr>
          <p:cNvPr id="13" name="Text 11"/>
          <p:cNvSpPr/>
          <p:nvPr/>
        </p:nvSpPr>
        <p:spPr>
          <a:xfrm>
            <a:off x="8869680" y="1645920"/>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스프린트 계획 어시스턴트</a:t>
            </a:r>
            <a:endParaRPr lang="en-US" sz="1300" dirty="0"/>
          </a:p>
        </p:txBody>
      </p:sp>
      <p:sp>
        <p:nvSpPr>
          <p:cNvPr id="14" name="Text 12"/>
          <p:cNvSpPr/>
          <p:nvPr/>
        </p:nvSpPr>
        <p:spPr>
          <a:xfrm>
            <a:off x="7863840" y="1965960"/>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SprintPlanner</a:t>
            </a:r>
            <a:endParaRPr lang="en-US" sz="1000" dirty="0"/>
          </a:p>
        </p:txBody>
      </p:sp>
      <p:sp>
        <p:nvSpPr>
          <p:cNvPr id="15" name="Text 13"/>
          <p:cNvSpPr/>
          <p:nvPr/>
        </p:nvSpPr>
        <p:spPr>
          <a:xfrm>
            <a:off x="7863840" y="2267712"/>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Jira 백로그와 Git 커밋 이력을 동시에 보고 다음 스프린트의 작업 추정과 우선순위를 제안한다.</a:t>
            </a:r>
            <a:endParaRPr lang="en-US" sz="1050" dirty="0"/>
          </a:p>
        </p:txBody>
      </p:sp>
      <p:sp>
        <p:nvSpPr>
          <p:cNvPr id="16" name="Shape 14"/>
          <p:cNvSpPr/>
          <p:nvPr/>
        </p:nvSpPr>
        <p:spPr>
          <a:xfrm>
            <a:off x="7680960" y="3218688"/>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7" name="Shape 15"/>
          <p:cNvSpPr/>
          <p:nvPr/>
        </p:nvSpPr>
        <p:spPr>
          <a:xfrm>
            <a:off x="7680960" y="3218688"/>
            <a:ext cx="109728" cy="1554480"/>
          </a:xfrm>
          <a:prstGeom prst="rect">
            <a:avLst/>
          </a:prstGeom>
          <a:solidFill>
            <a:srgbClr val="059669"/>
          </a:solidFill>
          <a:ln/>
        </p:spPr>
      </p:sp>
      <p:sp>
        <p:nvSpPr>
          <p:cNvPr id="18" name="Text 16"/>
          <p:cNvSpPr/>
          <p:nvPr/>
        </p:nvSpPr>
        <p:spPr>
          <a:xfrm>
            <a:off x="7863840" y="3310128"/>
            <a:ext cx="10972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13B</a:t>
            </a:r>
            <a:endParaRPr lang="en-US" sz="1300" dirty="0"/>
          </a:p>
        </p:txBody>
      </p:sp>
      <p:sp>
        <p:nvSpPr>
          <p:cNvPr id="19" name="Text 17"/>
          <p:cNvSpPr/>
          <p:nvPr/>
        </p:nvSpPr>
        <p:spPr>
          <a:xfrm>
            <a:off x="8869680" y="3310128"/>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리소스 배분 최적화</a:t>
            </a:r>
            <a:endParaRPr lang="en-US" sz="1300" dirty="0"/>
          </a:p>
        </p:txBody>
      </p:sp>
      <p:sp>
        <p:nvSpPr>
          <p:cNvPr id="20" name="Text 18"/>
          <p:cNvSpPr/>
          <p:nvPr/>
        </p:nvSpPr>
        <p:spPr>
          <a:xfrm>
            <a:off x="7863840" y="3630168"/>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ResourceAllocator</a:t>
            </a:r>
            <a:endParaRPr lang="en-US" sz="1000" dirty="0"/>
          </a:p>
        </p:txBody>
      </p:sp>
      <p:sp>
        <p:nvSpPr>
          <p:cNvPr id="21" name="Text 19"/>
          <p:cNvSpPr/>
          <p:nvPr/>
        </p:nvSpPr>
        <p:spPr>
          <a:xfrm>
            <a:off x="7863840" y="3931920"/>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팀원별 역량과 현재 작업량을 분석해 새 작업을 누구에게 배정할지 추천한다.</a:t>
            </a:r>
            <a:endParaRPr lang="en-US" sz="1050" dirty="0"/>
          </a:p>
        </p:txBody>
      </p:sp>
      <p:sp>
        <p:nvSpPr>
          <p:cNvPr id="22" name="Shape 20"/>
          <p:cNvSpPr/>
          <p:nvPr/>
        </p:nvSpPr>
        <p:spPr>
          <a:xfrm>
            <a:off x="7680960" y="4882896"/>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3" name="Shape 21"/>
          <p:cNvSpPr/>
          <p:nvPr/>
        </p:nvSpPr>
        <p:spPr>
          <a:xfrm>
            <a:off x="7680960" y="4882896"/>
            <a:ext cx="109728" cy="1554480"/>
          </a:xfrm>
          <a:prstGeom prst="rect">
            <a:avLst/>
          </a:prstGeom>
          <a:solidFill>
            <a:srgbClr val="059669"/>
          </a:solidFill>
          <a:ln/>
        </p:spPr>
      </p:sp>
      <p:sp>
        <p:nvSpPr>
          <p:cNvPr id="24" name="Text 22"/>
          <p:cNvSpPr/>
          <p:nvPr/>
        </p:nvSpPr>
        <p:spPr>
          <a:xfrm>
            <a:off x="7863840" y="4974336"/>
            <a:ext cx="10972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13C</a:t>
            </a:r>
            <a:endParaRPr lang="en-US" sz="1300" dirty="0"/>
          </a:p>
        </p:txBody>
      </p:sp>
      <p:sp>
        <p:nvSpPr>
          <p:cNvPr id="25" name="Text 23"/>
          <p:cNvSpPr/>
          <p:nvPr/>
        </p:nvSpPr>
        <p:spPr>
          <a:xfrm>
            <a:off x="8869680" y="4974336"/>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병목 분석 대시보드</a:t>
            </a:r>
            <a:endParaRPr lang="en-US" sz="1300" dirty="0"/>
          </a:p>
        </p:txBody>
      </p:sp>
      <p:sp>
        <p:nvSpPr>
          <p:cNvPr id="26" name="Text 24"/>
          <p:cNvSpPr/>
          <p:nvPr/>
        </p:nvSpPr>
        <p:spPr>
          <a:xfrm>
            <a:off x="7863840" y="5294376"/>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BottleneckAnalyzer</a:t>
            </a:r>
            <a:endParaRPr lang="en-US" sz="1000" dirty="0"/>
          </a:p>
        </p:txBody>
      </p:sp>
      <p:sp>
        <p:nvSpPr>
          <p:cNvPr id="27" name="Text 25"/>
          <p:cNvSpPr/>
          <p:nvPr/>
        </p:nvSpPr>
        <p:spPr>
          <a:xfrm>
            <a:off x="7863840" y="5596128"/>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팀의 PR 머지 시간, 리뷰 대기 시간, 빌드 실패율 등 다양한 메트릭에서 병목 구간을 식별하고 개선안을 제안한다.</a:t>
            </a:r>
            <a:endParaRPr lang="en-US" sz="1050" dirty="0"/>
          </a:p>
        </p:txBody>
      </p:sp>
      <p:sp>
        <p:nvSpPr>
          <p:cNvPr id="28" name="Text 26"/>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9" name="Text 27"/>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13 · 13A  ─  PM 어시스턴트</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스프린트 계획 어시스턴트</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59669"/>
          </a:solidFill>
          <a:ln/>
        </p:spPr>
      </p:sp>
      <p:sp>
        <p:nvSpPr>
          <p:cNvPr id="8" name="Shape 6"/>
          <p:cNvSpPr/>
          <p:nvPr/>
        </p:nvSpPr>
        <p:spPr>
          <a:xfrm>
            <a:off x="777240" y="1691640"/>
            <a:ext cx="914400" cy="365760"/>
          </a:xfrm>
          <a:prstGeom prst="roundRect">
            <a:avLst>
              <a:gd name="adj" fmla="val 12500"/>
            </a:avLst>
          </a:prstGeom>
          <a:solidFill>
            <a:srgbClr val="059669"/>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SprintPlanner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Jira 백로그와 Git 커밋 이력을 동시에 보고 다음 스프린트의 작업 추정과 우선순위를 제안한다. 팀원의 과거 속도(velocity)를 학습해 현실적인 일정을 만든다.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다중 데이터 소스 통합, 추정 모델.</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Agents/JiraAgent.cs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Agents/GitAgent.cs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Services/DataIntegrationService.cs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출력: "다음 스프린트 → 60 SP. PaymentService 마이그레이션은 13 SP 권장 (3 인 × 5 일)."</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13 · 13B  ─  PM 어시스턴트</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리소스 배분 최적화</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59669"/>
          </a:solidFill>
          <a:ln/>
        </p:spPr>
      </p:sp>
      <p:sp>
        <p:nvSpPr>
          <p:cNvPr id="8" name="Shape 6"/>
          <p:cNvSpPr/>
          <p:nvPr/>
        </p:nvSpPr>
        <p:spPr>
          <a:xfrm>
            <a:off x="777240" y="1691640"/>
            <a:ext cx="914400" cy="365760"/>
          </a:xfrm>
          <a:prstGeom prst="roundRect">
            <a:avLst>
              <a:gd name="adj" fmla="val 12500"/>
            </a:avLst>
          </a:prstGeom>
          <a:solidFill>
            <a:srgbClr val="059669"/>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13B</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ResourceAllocator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팀원별 역량과 현재 작업량을 분석해 새 작업을 누구에게 배정할지 추천한다. "이 작업은 김 개발님이 적임이지만 다음 주 휴가" 같은 컨텍스트도 함께 본다.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복잡한 상태 관리, 다차원 최적화.</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Agents/CapacityAgent.cs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Agents/WorkloadAgent.cs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신규 작업 → 후보 3명 → 워크로드 + 역량 + 휴가 고려 → 배정 추천</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13 · 13C  ─  PM 어시스턴트</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병목 분석 대시보드</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59669"/>
          </a:solidFill>
          <a:ln/>
        </p:spPr>
      </p:sp>
      <p:sp>
        <p:nvSpPr>
          <p:cNvPr id="8" name="Shape 6"/>
          <p:cNvSpPr/>
          <p:nvPr/>
        </p:nvSpPr>
        <p:spPr>
          <a:xfrm>
            <a:off x="777240" y="1691640"/>
            <a:ext cx="914400" cy="365760"/>
          </a:xfrm>
          <a:prstGeom prst="roundRect">
            <a:avLst>
              <a:gd name="adj" fmla="val 12500"/>
            </a:avLst>
          </a:prstGeom>
          <a:solidFill>
            <a:srgbClr val="059669"/>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13C</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BottleneckAnalyzer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팀의 PR 머지 시간, 리뷰 대기 시간, 빌드 실패율 등 다양한 메트릭에서 병목 구간을 식별하고 개선안을 제안한다. 장기 메모리에 패턴을 누적해 점점 더 정확한 추천을 만든다.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장기 메모리 구현, 메트릭 누적 분석.</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Agents/MetricAgent.cs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Services/LongTermMemory.cs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분석: "코드 리뷰 평균 대기 36시간 (목표 12시간). 이번 분기 7번째 경보."</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전문가 · STAGE 14</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밸런싱 시뮬레이터</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Text 4"/>
          <p:cNvSpPr/>
          <p:nvPr/>
        </p:nvSpPr>
        <p:spPr>
          <a:xfrm>
            <a:off x="548640" y="1554480"/>
            <a:ext cx="6858000" cy="457200"/>
          </a:xfrm>
          <a:prstGeom prst="rect">
            <a:avLst/>
          </a:prstGeom>
          <a:noFill/>
          <a:ln/>
        </p:spPr>
        <p:txBody>
          <a:bodyPr wrap="square" lIns="0" tIns="0" rIns="0" bIns="0" rtlCol="0" anchor="ctr"/>
          <a:lstStyle/>
          <a:p>
            <a:pPr indent="0" marL="0">
              <a:buNone/>
            </a:pPr>
            <a:r>
              <a:rPr lang="en-US" sz="1800" b="1" dirty="0">
                <a:solidFill>
                  <a:srgbClr val="F97316"/>
                </a:solidFill>
                <a:latin typeface="Calibri" pitchFamily="34" charset="0"/>
                <a:ea typeface="Calibri" pitchFamily="34" charset="-122"/>
                <a:cs typeface="Calibri" pitchFamily="34" charset="-120"/>
              </a:rPr>
              <a:t>몬테카를로와 강화학습</a:t>
            </a:r>
            <a:endParaRPr lang="en-US" sz="1800" dirty="0"/>
          </a:p>
        </p:txBody>
      </p:sp>
      <p:sp>
        <p:nvSpPr>
          <p:cNvPr id="7" name="Text 5"/>
          <p:cNvSpPr/>
          <p:nvPr/>
        </p:nvSpPr>
        <p:spPr>
          <a:xfrm>
            <a:off x="548640" y="2103120"/>
            <a:ext cx="6858000" cy="1828800"/>
          </a:xfrm>
          <a:prstGeom prst="rect">
            <a:avLst/>
          </a:prstGeom>
          <a:noFill/>
          <a:ln/>
        </p:spPr>
        <p:txBody>
          <a:bodyPr wrap="square" lIns="0" tIns="0" rIns="0" bIns="0" rtlCol="0" anchor="ctr"/>
          <a:lstStyle/>
          <a:p>
            <a:pPr indent="0" marL="0">
              <a:spcAft>
                <a:spcPts val="600"/>
              </a:spcAft>
              <a:buNone/>
            </a:pPr>
            <a:r>
              <a:rPr lang="en-US" sz="1250" dirty="0">
                <a:solidFill>
                  <a:srgbClr val="1F2937"/>
                </a:solidFill>
                <a:latin typeface="Calibri" pitchFamily="34" charset="0"/>
                <a:ea typeface="Calibri" pitchFamily="34" charset="-122"/>
                <a:cs typeface="Calibri" pitchFamily="34" charset="-120"/>
              </a:rPr>
              <a:t>다양한 밸런싱 시나리오를 대량 시뮬레이션하고 결과를 분석해 최적 파라미터를 제안한다. 몬테카를로 시뮬레이션, 그리드 서치, 강화학습 같은 실험적 기법을 결합한다.</a:t>
            </a:r>
            <a:endParaRPr lang="en-US" sz="1250" dirty="0"/>
          </a:p>
        </p:txBody>
      </p:sp>
      <p:sp>
        <p:nvSpPr>
          <p:cNvPr id="8" name="Text 6"/>
          <p:cNvSpPr/>
          <p:nvPr/>
        </p:nvSpPr>
        <p:spPr>
          <a:xfrm>
            <a:off x="365760" y="4023360"/>
            <a:ext cx="3657600" cy="2286000"/>
          </a:xfrm>
          <a:prstGeom prst="rect">
            <a:avLst/>
          </a:prstGeom>
          <a:noFill/>
          <a:ln/>
        </p:spPr>
        <p:txBody>
          <a:bodyPr wrap="square" lIns="0" tIns="0" rIns="0" bIns="0" rtlCol="0" anchor="ctr"/>
          <a:lstStyle/>
          <a:p>
            <a:pPr indent="0" marL="0">
              <a:buNone/>
            </a:pPr>
            <a:r>
              <a:rPr lang="en-US" sz="18000" b="1" dirty="0">
                <a:solidFill>
                  <a:srgbClr val="FED7AA"/>
                </a:solidFill>
                <a:latin typeface="Calibri" pitchFamily="34" charset="0"/>
                <a:ea typeface="Calibri" pitchFamily="34" charset="-122"/>
                <a:cs typeface="Calibri" pitchFamily="34" charset="-120"/>
              </a:rPr>
              <a:t>14</a:t>
            </a:r>
            <a:endParaRPr lang="en-US" sz="18000" dirty="0"/>
          </a:p>
        </p:txBody>
      </p:sp>
      <p:sp>
        <p:nvSpPr>
          <p:cNvPr id="9" name="Text 7"/>
          <p:cNvSpPr/>
          <p:nvPr/>
        </p:nvSpPr>
        <p:spPr>
          <a:xfrm>
            <a:off x="640080" y="4114800"/>
            <a:ext cx="2743200" cy="365760"/>
          </a:xfrm>
          <a:prstGeom prst="rect">
            <a:avLst/>
          </a:prstGeom>
          <a:noFill/>
          <a:ln/>
        </p:spPr>
        <p:txBody>
          <a:bodyPr wrap="square" lIns="0" tIns="0" rIns="0" bIns="0" rtlCol="0" anchor="ctr"/>
          <a:lstStyle/>
          <a:p>
            <a:pPr indent="0" marL="0">
              <a:buNone/>
            </a:pPr>
            <a:r>
              <a:rPr lang="en-US" sz="1400" b="1" spc="400" kern="0" dirty="0">
                <a:solidFill>
                  <a:srgbClr val="F97316"/>
                </a:solidFill>
                <a:latin typeface="Calibri" pitchFamily="34" charset="0"/>
                <a:ea typeface="Calibri" pitchFamily="34" charset="-122"/>
                <a:cs typeface="Calibri" pitchFamily="34" charset="-120"/>
              </a:rPr>
              <a:t>STAGE</a:t>
            </a:r>
            <a:endParaRPr lang="en-US" sz="1400" dirty="0"/>
          </a:p>
        </p:txBody>
      </p:sp>
      <p:sp>
        <p:nvSpPr>
          <p:cNvPr id="10" name="Shape 8"/>
          <p:cNvSpPr/>
          <p:nvPr/>
        </p:nvSpPr>
        <p:spPr>
          <a:xfrm>
            <a:off x="7680960" y="1554480"/>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1" name="Shape 9"/>
          <p:cNvSpPr/>
          <p:nvPr/>
        </p:nvSpPr>
        <p:spPr>
          <a:xfrm>
            <a:off x="7680960" y="1554480"/>
            <a:ext cx="109728" cy="1554480"/>
          </a:xfrm>
          <a:prstGeom prst="rect">
            <a:avLst/>
          </a:prstGeom>
          <a:solidFill>
            <a:srgbClr val="F97316"/>
          </a:solidFill>
          <a:ln/>
        </p:spPr>
      </p:sp>
      <p:sp>
        <p:nvSpPr>
          <p:cNvPr id="12" name="Text 10"/>
          <p:cNvSpPr/>
          <p:nvPr/>
        </p:nvSpPr>
        <p:spPr>
          <a:xfrm>
            <a:off x="7863840" y="1645920"/>
            <a:ext cx="10972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14A</a:t>
            </a:r>
            <a:endParaRPr lang="en-US" sz="1300" dirty="0"/>
          </a:p>
        </p:txBody>
      </p:sp>
      <p:sp>
        <p:nvSpPr>
          <p:cNvPr id="13" name="Text 11"/>
          <p:cNvSpPr/>
          <p:nvPr/>
        </p:nvSpPr>
        <p:spPr>
          <a:xfrm>
            <a:off x="8869680" y="1645920"/>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몬테카를로 시뮬레이터</a:t>
            </a:r>
            <a:endParaRPr lang="en-US" sz="1300" dirty="0"/>
          </a:p>
        </p:txBody>
      </p:sp>
      <p:sp>
        <p:nvSpPr>
          <p:cNvPr id="14" name="Text 12"/>
          <p:cNvSpPr/>
          <p:nvPr/>
        </p:nvSpPr>
        <p:spPr>
          <a:xfrm>
            <a:off x="7863840" y="1965960"/>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MonteCarloSimulator</a:t>
            </a:r>
            <a:endParaRPr lang="en-US" sz="1000" dirty="0"/>
          </a:p>
        </p:txBody>
      </p:sp>
      <p:sp>
        <p:nvSpPr>
          <p:cNvPr id="15" name="Text 13"/>
          <p:cNvSpPr/>
          <p:nvPr/>
        </p:nvSpPr>
        <p:spPr>
          <a:xfrm>
            <a:off x="7863840" y="2267712"/>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두 캐릭터의 전투를 1만 회 시뮬레이션해 승률, 평균 라운드 수, 체력 잔량 분포를 분석한다.</a:t>
            </a:r>
            <a:endParaRPr lang="en-US" sz="1050" dirty="0"/>
          </a:p>
        </p:txBody>
      </p:sp>
      <p:sp>
        <p:nvSpPr>
          <p:cNvPr id="16" name="Shape 14"/>
          <p:cNvSpPr/>
          <p:nvPr/>
        </p:nvSpPr>
        <p:spPr>
          <a:xfrm>
            <a:off x="7680960" y="3218688"/>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7" name="Shape 15"/>
          <p:cNvSpPr/>
          <p:nvPr/>
        </p:nvSpPr>
        <p:spPr>
          <a:xfrm>
            <a:off x="7680960" y="3218688"/>
            <a:ext cx="109728" cy="1554480"/>
          </a:xfrm>
          <a:prstGeom prst="rect">
            <a:avLst/>
          </a:prstGeom>
          <a:solidFill>
            <a:srgbClr val="F97316"/>
          </a:solidFill>
          <a:ln/>
        </p:spPr>
      </p:sp>
      <p:sp>
        <p:nvSpPr>
          <p:cNvPr id="18" name="Text 16"/>
          <p:cNvSpPr/>
          <p:nvPr/>
        </p:nvSpPr>
        <p:spPr>
          <a:xfrm>
            <a:off x="7863840" y="3310128"/>
            <a:ext cx="10972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14B</a:t>
            </a:r>
            <a:endParaRPr lang="en-US" sz="1300" dirty="0"/>
          </a:p>
        </p:txBody>
      </p:sp>
      <p:sp>
        <p:nvSpPr>
          <p:cNvPr id="19" name="Text 17"/>
          <p:cNvSpPr/>
          <p:nvPr/>
        </p:nvSpPr>
        <p:spPr>
          <a:xfrm>
            <a:off x="8869680" y="3310128"/>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최적 파라미터 찾기</a:t>
            </a:r>
            <a:endParaRPr lang="en-US" sz="1300" dirty="0"/>
          </a:p>
        </p:txBody>
      </p:sp>
      <p:sp>
        <p:nvSpPr>
          <p:cNvPr id="20" name="Text 18"/>
          <p:cNvSpPr/>
          <p:nvPr/>
        </p:nvSpPr>
        <p:spPr>
          <a:xfrm>
            <a:off x="7863840" y="3630168"/>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ParameterOptimizer</a:t>
            </a:r>
            <a:endParaRPr lang="en-US" sz="1000" dirty="0"/>
          </a:p>
        </p:txBody>
      </p:sp>
      <p:sp>
        <p:nvSpPr>
          <p:cNvPr id="21" name="Text 19"/>
          <p:cNvSpPr/>
          <p:nvPr/>
        </p:nvSpPr>
        <p:spPr>
          <a:xfrm>
            <a:off x="7863840" y="3931920"/>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데미지 공식의 변수 범위를 그리드 서치 또는 베이지안 최적화로 탐색해 "승률 50% ± 2%" 같은 목표를 만족하는 파라미터 조합을 찾는다.</a:t>
            </a:r>
            <a:endParaRPr lang="en-US" sz="1050" dirty="0"/>
          </a:p>
        </p:txBody>
      </p:sp>
      <p:sp>
        <p:nvSpPr>
          <p:cNvPr id="22" name="Shape 20"/>
          <p:cNvSpPr/>
          <p:nvPr/>
        </p:nvSpPr>
        <p:spPr>
          <a:xfrm>
            <a:off x="7680960" y="4882896"/>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3" name="Shape 21"/>
          <p:cNvSpPr/>
          <p:nvPr/>
        </p:nvSpPr>
        <p:spPr>
          <a:xfrm>
            <a:off x="7680960" y="4882896"/>
            <a:ext cx="109728" cy="1554480"/>
          </a:xfrm>
          <a:prstGeom prst="rect">
            <a:avLst/>
          </a:prstGeom>
          <a:solidFill>
            <a:srgbClr val="F97316"/>
          </a:solidFill>
          <a:ln/>
        </p:spPr>
      </p:sp>
      <p:sp>
        <p:nvSpPr>
          <p:cNvPr id="24" name="Text 22"/>
          <p:cNvSpPr/>
          <p:nvPr/>
        </p:nvSpPr>
        <p:spPr>
          <a:xfrm>
            <a:off x="7863840" y="4974336"/>
            <a:ext cx="10972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14C</a:t>
            </a:r>
            <a:endParaRPr lang="en-US" sz="1300" dirty="0"/>
          </a:p>
        </p:txBody>
      </p:sp>
      <p:sp>
        <p:nvSpPr>
          <p:cNvPr id="25" name="Text 23"/>
          <p:cNvSpPr/>
          <p:nvPr/>
        </p:nvSpPr>
        <p:spPr>
          <a:xfrm>
            <a:off x="8869680" y="4974336"/>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강화학습 기반 밸런서</a:t>
            </a:r>
            <a:endParaRPr lang="en-US" sz="1300" dirty="0"/>
          </a:p>
        </p:txBody>
      </p:sp>
      <p:sp>
        <p:nvSpPr>
          <p:cNvPr id="26" name="Text 24"/>
          <p:cNvSpPr/>
          <p:nvPr/>
        </p:nvSpPr>
        <p:spPr>
          <a:xfrm>
            <a:off x="7863840" y="5294376"/>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RLBalancer</a:t>
            </a:r>
            <a:endParaRPr lang="en-US" sz="1000" dirty="0"/>
          </a:p>
        </p:txBody>
      </p:sp>
      <p:sp>
        <p:nvSpPr>
          <p:cNvPr id="27" name="Text 25"/>
          <p:cNvSpPr/>
          <p:nvPr/>
        </p:nvSpPr>
        <p:spPr>
          <a:xfrm>
            <a:off x="7863840" y="5596128"/>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Self-play 로 두 AI 가 서로 대전하며 메타(가장 강한 빌드)를 발견한다.</a:t>
            </a:r>
            <a:endParaRPr lang="en-US" sz="1050" dirty="0"/>
          </a:p>
        </p:txBody>
      </p:sp>
      <p:sp>
        <p:nvSpPr>
          <p:cNvPr id="28" name="Text 26"/>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9" name="Text 27"/>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14 · 14A  ─  밸런싱 시뮬레이터</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몬테카를로 시뮬레이터</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F97316"/>
          </a:solidFill>
          <a:ln/>
        </p:spPr>
      </p:sp>
      <p:sp>
        <p:nvSpPr>
          <p:cNvPr id="8" name="Shape 6"/>
          <p:cNvSpPr/>
          <p:nvPr/>
        </p:nvSpPr>
        <p:spPr>
          <a:xfrm>
            <a:off x="777240" y="1691640"/>
            <a:ext cx="914400" cy="365760"/>
          </a:xfrm>
          <a:prstGeom prst="roundRect">
            <a:avLst>
              <a:gd name="adj" fmla="val 12500"/>
            </a:avLst>
          </a:prstGeom>
          <a:solidFill>
            <a:srgbClr val="F97316"/>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MonteCarloSimulator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두 캐릭터의 전투를 1만 회 시뮬레이션해 승률, 평균 라운드 수, 체력 잔량 분포를 분석한다. "전사 vs 마법사 = 53.2% 승률" 같은 통계를 얻는다.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대량 시뮬레이션, 통계적 분석.</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Agents/SimulationAgent.cs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Agents/AnalysisAgent.cs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Services/MonteCarloEngine.cs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10000회 전투 → 전사 승률 53.2%, 평균 6.3 턴 종료, 표준편차 1.8</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14 · 14B  ─  밸런싱 시뮬레이터</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최적 파라미터 찾기</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F97316"/>
          </a:solidFill>
          <a:ln/>
        </p:spPr>
      </p:sp>
      <p:sp>
        <p:nvSpPr>
          <p:cNvPr id="8" name="Shape 6"/>
          <p:cNvSpPr/>
          <p:nvPr/>
        </p:nvSpPr>
        <p:spPr>
          <a:xfrm>
            <a:off x="777240" y="1691640"/>
            <a:ext cx="914400" cy="365760"/>
          </a:xfrm>
          <a:prstGeom prst="roundRect">
            <a:avLst>
              <a:gd name="adj" fmla="val 12500"/>
            </a:avLst>
          </a:prstGeom>
          <a:solidFill>
            <a:srgbClr val="F97316"/>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14B</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ParameterOptimizer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데미지 공식의 변수 범위를 그리드 서치 또는 베이지안 최적화로 탐색해 "승률 50% ± 2%" 같은 목표를 만족하는 파라미터 조합을 찾는다.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그리드 서치 / 베이지안 최적화, 결과 시각화.</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Agents/GridSearchAgent.cs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Services/OptimizationEngine.cs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탐색: 데미지 1.0~2.0, 방어 0.1~0.5</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결과: "데미지 1.4, 방어 0.32 → 49.8% 승률 (목표 달성)"</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14 · 14C  ─  밸런싱 시뮬레이터</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강화학습 기반 밸런서</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F97316"/>
          </a:solidFill>
          <a:ln/>
        </p:spPr>
      </p:sp>
      <p:sp>
        <p:nvSpPr>
          <p:cNvPr id="8" name="Shape 6"/>
          <p:cNvSpPr/>
          <p:nvPr/>
        </p:nvSpPr>
        <p:spPr>
          <a:xfrm>
            <a:off x="777240" y="1691640"/>
            <a:ext cx="914400" cy="365760"/>
          </a:xfrm>
          <a:prstGeom prst="roundRect">
            <a:avLst>
              <a:gd name="adj" fmla="val 12500"/>
            </a:avLst>
          </a:prstGeom>
          <a:solidFill>
            <a:srgbClr val="F97316"/>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14C</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RLBalancer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Self-play 로 두 AI 가 서로 대전하며 메타(가장 강한 빌드)를 발견한다. 이후 그 메타가 너무 강하지 않도록 데미지 공식을 자동 조정한다.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Self-play, 메타 발견, 자동 조정.</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Agents/SelfPlayAgent.cs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Agents/MetaAnalyzer.cs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Services/RLEngine.cs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1만 게임 학습 → "화염 마법사 + 속도 룬" 메타 발견 → 화염 마법 데미지 8% 감소 권장</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전문가 · STAGE 15</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통합 개발 코파일럿</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Text 4"/>
          <p:cNvSpPr/>
          <p:nvPr/>
        </p:nvSpPr>
        <p:spPr>
          <a:xfrm>
            <a:off x="548640" y="1554480"/>
            <a:ext cx="6858000" cy="457200"/>
          </a:xfrm>
          <a:prstGeom prst="rect">
            <a:avLst/>
          </a:prstGeom>
          <a:noFill/>
          <a:ln/>
        </p:spPr>
        <p:txBody>
          <a:bodyPr wrap="square" lIns="0" tIns="0" rIns="0" bIns="0" rtlCol="0" anchor="ctr"/>
          <a:lstStyle/>
          <a:p>
            <a:pPr indent="0" marL="0">
              <a:buNone/>
            </a:pPr>
            <a:r>
              <a:rPr lang="en-US" sz="1800" b="1" dirty="0">
                <a:solidFill>
                  <a:srgbClr val="0F4C81"/>
                </a:solidFill>
                <a:latin typeface="Calibri" pitchFamily="34" charset="0"/>
                <a:ea typeface="Calibri" pitchFamily="34" charset="-122"/>
                <a:cs typeface="Calibri" pitchFamily="34" charset="-120"/>
              </a:rPr>
              <a:t>DevUI + Observability + 배포</a:t>
            </a:r>
            <a:endParaRPr lang="en-US" sz="1800" dirty="0"/>
          </a:p>
        </p:txBody>
      </p:sp>
      <p:sp>
        <p:nvSpPr>
          <p:cNvPr id="7" name="Text 5"/>
          <p:cNvSpPr/>
          <p:nvPr/>
        </p:nvSpPr>
        <p:spPr>
          <a:xfrm>
            <a:off x="548640" y="2103120"/>
            <a:ext cx="6858000" cy="1828800"/>
          </a:xfrm>
          <a:prstGeom prst="rect">
            <a:avLst/>
          </a:prstGeom>
          <a:noFill/>
          <a:ln/>
        </p:spPr>
        <p:txBody>
          <a:bodyPr wrap="square" lIns="0" tIns="0" rIns="0" bIns="0" rtlCol="0" anchor="ctr"/>
          <a:lstStyle/>
          <a:p>
            <a:pPr indent="0" marL="0">
              <a:spcAft>
                <a:spcPts val="600"/>
              </a:spcAft>
              <a:buNone/>
            </a:pPr>
            <a:r>
              <a:rPr lang="en-US" sz="1250" dirty="0">
                <a:solidFill>
                  <a:srgbClr val="1F2937"/>
                </a:solidFill>
                <a:latin typeface="Calibri" pitchFamily="34" charset="0"/>
                <a:ea typeface="Calibri" pitchFamily="34" charset="-122"/>
                <a:cs typeface="Calibri" pitchFamily="34" charset="-120"/>
              </a:rPr>
              <a:t>코드 생성, 버그 수정, 문서 작성, 리뷰 자동화를 모두 포함한 종합 개발 어시스턴트이다. DevUI 로 워크플로우를 시각화하고 OpenTelemetry 로 성능을 모니터링하며 프로덕션 배포까지 다룬다.</a:t>
            </a:r>
            <a:endParaRPr lang="en-US" sz="1250" dirty="0"/>
          </a:p>
        </p:txBody>
      </p:sp>
      <p:sp>
        <p:nvSpPr>
          <p:cNvPr id="8" name="Text 6"/>
          <p:cNvSpPr/>
          <p:nvPr/>
        </p:nvSpPr>
        <p:spPr>
          <a:xfrm>
            <a:off x="365760" y="4023360"/>
            <a:ext cx="3657600" cy="2286000"/>
          </a:xfrm>
          <a:prstGeom prst="rect">
            <a:avLst/>
          </a:prstGeom>
          <a:noFill/>
          <a:ln/>
        </p:spPr>
        <p:txBody>
          <a:bodyPr wrap="square" lIns="0" tIns="0" rIns="0" bIns="0" rtlCol="0" anchor="ctr"/>
          <a:lstStyle/>
          <a:p>
            <a:pPr indent="0" marL="0">
              <a:buNone/>
            </a:pPr>
            <a:r>
              <a:rPr lang="en-US" sz="18000" b="1" dirty="0">
                <a:solidFill>
                  <a:srgbClr val="FED7AA"/>
                </a:solidFill>
                <a:latin typeface="Calibri" pitchFamily="34" charset="0"/>
                <a:ea typeface="Calibri" pitchFamily="34" charset="-122"/>
                <a:cs typeface="Calibri" pitchFamily="34" charset="-120"/>
              </a:rPr>
              <a:t>15</a:t>
            </a:r>
            <a:endParaRPr lang="en-US" sz="18000" dirty="0"/>
          </a:p>
        </p:txBody>
      </p:sp>
      <p:sp>
        <p:nvSpPr>
          <p:cNvPr id="9" name="Text 7"/>
          <p:cNvSpPr/>
          <p:nvPr/>
        </p:nvSpPr>
        <p:spPr>
          <a:xfrm>
            <a:off x="640080" y="4114800"/>
            <a:ext cx="2743200" cy="365760"/>
          </a:xfrm>
          <a:prstGeom prst="rect">
            <a:avLst/>
          </a:prstGeom>
          <a:noFill/>
          <a:ln/>
        </p:spPr>
        <p:txBody>
          <a:bodyPr wrap="square" lIns="0" tIns="0" rIns="0" bIns="0" rtlCol="0" anchor="ctr"/>
          <a:lstStyle/>
          <a:p>
            <a:pPr indent="0" marL="0">
              <a:buNone/>
            </a:pPr>
            <a:r>
              <a:rPr lang="en-US" sz="1400" b="1" spc="400" kern="0" dirty="0">
                <a:solidFill>
                  <a:srgbClr val="F97316"/>
                </a:solidFill>
                <a:latin typeface="Calibri" pitchFamily="34" charset="0"/>
                <a:ea typeface="Calibri" pitchFamily="34" charset="-122"/>
                <a:cs typeface="Calibri" pitchFamily="34" charset="-120"/>
              </a:rPr>
              <a:t>STAGE</a:t>
            </a:r>
            <a:endParaRPr lang="en-US" sz="1400" dirty="0"/>
          </a:p>
        </p:txBody>
      </p:sp>
      <p:sp>
        <p:nvSpPr>
          <p:cNvPr id="10" name="Shape 8"/>
          <p:cNvSpPr/>
          <p:nvPr/>
        </p:nvSpPr>
        <p:spPr>
          <a:xfrm>
            <a:off x="7680960" y="1554480"/>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1" name="Shape 9"/>
          <p:cNvSpPr/>
          <p:nvPr/>
        </p:nvSpPr>
        <p:spPr>
          <a:xfrm>
            <a:off x="7680960" y="1554480"/>
            <a:ext cx="109728" cy="1554480"/>
          </a:xfrm>
          <a:prstGeom prst="rect">
            <a:avLst/>
          </a:prstGeom>
          <a:solidFill>
            <a:srgbClr val="0F4C81"/>
          </a:solidFill>
          <a:ln/>
        </p:spPr>
      </p:sp>
      <p:sp>
        <p:nvSpPr>
          <p:cNvPr id="12" name="Text 10"/>
          <p:cNvSpPr/>
          <p:nvPr/>
        </p:nvSpPr>
        <p:spPr>
          <a:xfrm>
            <a:off x="7863840" y="1645920"/>
            <a:ext cx="109728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15A</a:t>
            </a:r>
            <a:endParaRPr lang="en-US" sz="1300" dirty="0"/>
          </a:p>
        </p:txBody>
      </p:sp>
      <p:sp>
        <p:nvSpPr>
          <p:cNvPr id="13" name="Text 11"/>
          <p:cNvSpPr/>
          <p:nvPr/>
        </p:nvSpPr>
        <p:spPr>
          <a:xfrm>
            <a:off x="8869680" y="1645920"/>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코드 생성 어시스턴트</a:t>
            </a:r>
            <a:endParaRPr lang="en-US" sz="1300" dirty="0"/>
          </a:p>
        </p:txBody>
      </p:sp>
      <p:sp>
        <p:nvSpPr>
          <p:cNvPr id="14" name="Text 12"/>
          <p:cNvSpPr/>
          <p:nvPr/>
        </p:nvSpPr>
        <p:spPr>
          <a:xfrm>
            <a:off x="7863840" y="1965960"/>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CodeGenerator</a:t>
            </a:r>
            <a:endParaRPr lang="en-US" sz="1000" dirty="0"/>
          </a:p>
        </p:txBody>
      </p:sp>
      <p:sp>
        <p:nvSpPr>
          <p:cNvPr id="15" name="Text 13"/>
          <p:cNvSpPr/>
          <p:nvPr/>
        </p:nvSpPr>
        <p:spPr>
          <a:xfrm>
            <a:off x="7863840" y="2267712"/>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자연어 요구사항("플레이어 인벤토리 클래스 만들어줘")을 받아 C# 코드를 생성하고 동시에 단위 테스트와 XML 주석까지 만들어 준다.</a:t>
            </a:r>
            <a:endParaRPr lang="en-US" sz="1050" dirty="0"/>
          </a:p>
        </p:txBody>
      </p:sp>
      <p:sp>
        <p:nvSpPr>
          <p:cNvPr id="16" name="Shape 14"/>
          <p:cNvSpPr/>
          <p:nvPr/>
        </p:nvSpPr>
        <p:spPr>
          <a:xfrm>
            <a:off x="7680960" y="3218688"/>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7" name="Shape 15"/>
          <p:cNvSpPr/>
          <p:nvPr/>
        </p:nvSpPr>
        <p:spPr>
          <a:xfrm>
            <a:off x="7680960" y="3218688"/>
            <a:ext cx="109728" cy="1554480"/>
          </a:xfrm>
          <a:prstGeom prst="rect">
            <a:avLst/>
          </a:prstGeom>
          <a:solidFill>
            <a:srgbClr val="0F4C81"/>
          </a:solidFill>
          <a:ln/>
        </p:spPr>
      </p:sp>
      <p:sp>
        <p:nvSpPr>
          <p:cNvPr id="18" name="Text 16"/>
          <p:cNvSpPr/>
          <p:nvPr/>
        </p:nvSpPr>
        <p:spPr>
          <a:xfrm>
            <a:off x="7863840" y="3310128"/>
            <a:ext cx="109728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15B</a:t>
            </a:r>
            <a:endParaRPr lang="en-US" sz="1300" dirty="0"/>
          </a:p>
        </p:txBody>
      </p:sp>
      <p:sp>
        <p:nvSpPr>
          <p:cNvPr id="19" name="Text 17"/>
          <p:cNvSpPr/>
          <p:nvPr/>
        </p:nvSpPr>
        <p:spPr>
          <a:xfrm>
            <a:off x="8869680" y="3310128"/>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버그 수정 제안기</a:t>
            </a:r>
            <a:endParaRPr lang="en-US" sz="1300" dirty="0"/>
          </a:p>
        </p:txBody>
      </p:sp>
      <p:sp>
        <p:nvSpPr>
          <p:cNvPr id="20" name="Text 18"/>
          <p:cNvSpPr/>
          <p:nvPr/>
        </p:nvSpPr>
        <p:spPr>
          <a:xfrm>
            <a:off x="7863840" y="3630168"/>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BugFixer</a:t>
            </a:r>
            <a:endParaRPr lang="en-US" sz="1000" dirty="0"/>
          </a:p>
        </p:txBody>
      </p:sp>
      <p:sp>
        <p:nvSpPr>
          <p:cNvPr id="21" name="Text 19"/>
          <p:cNvSpPr/>
          <p:nvPr/>
        </p:nvSpPr>
        <p:spPr>
          <a:xfrm>
            <a:off x="7863840" y="3931920"/>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에러 로그와 스택 트레이스를 받으면 원인을 진단하고 수정 코드를 제안한다.</a:t>
            </a:r>
            <a:endParaRPr lang="en-US" sz="1050" dirty="0"/>
          </a:p>
        </p:txBody>
      </p:sp>
      <p:sp>
        <p:nvSpPr>
          <p:cNvPr id="22" name="Shape 20"/>
          <p:cNvSpPr/>
          <p:nvPr/>
        </p:nvSpPr>
        <p:spPr>
          <a:xfrm>
            <a:off x="7680960" y="4882896"/>
            <a:ext cx="4069080" cy="155448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3" name="Shape 21"/>
          <p:cNvSpPr/>
          <p:nvPr/>
        </p:nvSpPr>
        <p:spPr>
          <a:xfrm>
            <a:off x="7680960" y="4882896"/>
            <a:ext cx="109728" cy="1554480"/>
          </a:xfrm>
          <a:prstGeom prst="rect">
            <a:avLst/>
          </a:prstGeom>
          <a:solidFill>
            <a:srgbClr val="0F4C81"/>
          </a:solidFill>
          <a:ln/>
        </p:spPr>
      </p:sp>
      <p:sp>
        <p:nvSpPr>
          <p:cNvPr id="24" name="Text 22"/>
          <p:cNvSpPr/>
          <p:nvPr/>
        </p:nvSpPr>
        <p:spPr>
          <a:xfrm>
            <a:off x="7863840" y="4974336"/>
            <a:ext cx="109728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15C</a:t>
            </a:r>
            <a:endParaRPr lang="en-US" sz="1300" dirty="0"/>
          </a:p>
        </p:txBody>
      </p:sp>
      <p:sp>
        <p:nvSpPr>
          <p:cNvPr id="25" name="Text 23"/>
          <p:cNvSpPr/>
          <p:nvPr/>
        </p:nvSpPr>
        <p:spPr>
          <a:xfrm>
            <a:off x="8869680" y="4974336"/>
            <a:ext cx="278892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종합 개발 워크플로우</a:t>
            </a:r>
            <a:endParaRPr lang="en-US" sz="1300" dirty="0"/>
          </a:p>
        </p:txBody>
      </p:sp>
      <p:sp>
        <p:nvSpPr>
          <p:cNvPr id="26" name="Text 24"/>
          <p:cNvSpPr/>
          <p:nvPr/>
        </p:nvSpPr>
        <p:spPr>
          <a:xfrm>
            <a:off x="7863840" y="5294376"/>
            <a:ext cx="3794760" cy="292608"/>
          </a:xfrm>
          <a:prstGeom prst="rect">
            <a:avLst/>
          </a:prstGeom>
          <a:noFill/>
          <a:ln/>
        </p:spPr>
        <p:txBody>
          <a:bodyPr wrap="square" lIns="0" tIns="0" rIns="0" bIns="0" rtlCol="0" anchor="ctr"/>
          <a:lstStyle/>
          <a:p>
            <a:pPr indent="0" marL="0">
              <a:buNone/>
            </a:pPr>
            <a:r>
              <a:rPr lang="en-US" sz="1000" i="1" dirty="0">
                <a:solidFill>
                  <a:srgbClr val="64748B"/>
                </a:solidFill>
                <a:latin typeface="Consolas" pitchFamily="34" charset="0"/>
                <a:ea typeface="Consolas" pitchFamily="34" charset="-122"/>
                <a:cs typeface="Consolas" pitchFamily="34" charset="-120"/>
              </a:rPr>
              <a:t>FullDevelopmentCopilot</a:t>
            </a:r>
            <a:endParaRPr lang="en-US" sz="1000" dirty="0"/>
          </a:p>
        </p:txBody>
      </p:sp>
      <p:sp>
        <p:nvSpPr>
          <p:cNvPr id="27" name="Text 25"/>
          <p:cNvSpPr/>
          <p:nvPr/>
        </p:nvSpPr>
        <p:spPr>
          <a:xfrm>
            <a:off x="7863840" y="5596128"/>
            <a:ext cx="3794760" cy="7772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요구사항 → 설계 → 코드 생성 → 테스트 → PR 생성 → 배포까지의 전체 SDLC 를 자동화하는 종합판이다.</a:t>
            </a:r>
            <a:endParaRPr lang="en-US" sz="1050" dirty="0"/>
          </a:p>
        </p:txBody>
      </p:sp>
      <p:sp>
        <p:nvSpPr>
          <p:cNvPr id="28" name="Text 26"/>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9" name="Text 27"/>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15 · 15A  ─  통합 개발 코파일럿</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코드 생성 어시스턴트</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F4C81"/>
          </a:solidFill>
          <a:ln/>
        </p:spPr>
      </p:sp>
      <p:sp>
        <p:nvSpPr>
          <p:cNvPr id="8" name="Shape 6"/>
          <p:cNvSpPr/>
          <p:nvPr/>
        </p:nvSpPr>
        <p:spPr>
          <a:xfrm>
            <a:off x="777240" y="1691640"/>
            <a:ext cx="914400" cy="365760"/>
          </a:xfrm>
          <a:prstGeom prst="roundRect">
            <a:avLst>
              <a:gd name="adj" fmla="val 12500"/>
            </a:avLst>
          </a:prstGeom>
          <a:solidFill>
            <a:srgbClr val="0F4C81"/>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15A</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CodeGenerator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자연어 요구사항("플레이어 인벤토리 클래스 만들어줘")을 받아 C# 코드를 생성하고 동시에 단위 테스트와 XML 주석까지 만들어 준다. DevUI 로 생성 단계를 시각적으로 볼 수 있다.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DevUI 시각화, 코드 + 테스트 + 문서 동시 생성.</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Agents/CodeAgent.cs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Services/DevUIService.cs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입력: "인벤토리 클래스, 슬롯 30 개, 아이템 추가/제거/검색"</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출력: Inventory.cs + InventoryTests.cs</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15 · 15B  ─  통합 개발 코파일럿</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버그 수정 제안기</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F4C81"/>
          </a:solidFill>
          <a:ln/>
        </p:spPr>
      </p:sp>
      <p:sp>
        <p:nvSpPr>
          <p:cNvPr id="8" name="Shape 6"/>
          <p:cNvSpPr/>
          <p:nvPr/>
        </p:nvSpPr>
        <p:spPr>
          <a:xfrm>
            <a:off x="777240" y="1691640"/>
            <a:ext cx="914400" cy="365760"/>
          </a:xfrm>
          <a:prstGeom prst="roundRect">
            <a:avLst>
              <a:gd name="adj" fmla="val 12500"/>
            </a:avLst>
          </a:prstGeom>
          <a:solidFill>
            <a:srgbClr val="0F4C81"/>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15B</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BugFixer</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에러 로그와 스택 트레이스를 받으면 원인을 진단하고 수정 코드를 제안한다. OpenTelemetry 로 진단 과정의 토큰 사용량과 응답 시간을 추적해 비용을 모니터링한다.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Observability 통합, 진단 → 수정 제안.</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Agents/DiagnosisAgent.cs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Agents/FixAgent.cs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Services/ObservabilityService.cs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입력: NullReferenceException 스택 트레이스</a:t>
            </a:r>
            <a:endParaRPr lang="en-US" sz="1050" dirty="0"/>
          </a:p>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출력: "PlayerService.cs:142 의 player 변수 null 체크 누락. 수정 패치 첨부."</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STAGE 15 · 15C  ─  통합 개발 코파일럿</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종합 개발 워크플로우</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58368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F4C81"/>
          </a:solidFill>
          <a:ln/>
        </p:spPr>
      </p:sp>
      <p:sp>
        <p:nvSpPr>
          <p:cNvPr id="8" name="Shape 6"/>
          <p:cNvSpPr/>
          <p:nvPr/>
        </p:nvSpPr>
        <p:spPr>
          <a:xfrm>
            <a:off x="777240" y="1691640"/>
            <a:ext cx="914400" cy="365760"/>
          </a:xfrm>
          <a:prstGeom prst="roundRect">
            <a:avLst>
              <a:gd name="adj" fmla="val 12500"/>
            </a:avLst>
          </a:prstGeom>
          <a:solidFill>
            <a:srgbClr val="0F4C81"/>
          </a:solidFill>
          <a:ln/>
        </p:spPr>
      </p:sp>
      <p:sp>
        <p:nvSpPr>
          <p:cNvPr id="9" name="Text 7"/>
          <p:cNvSpPr/>
          <p:nvPr/>
        </p:nvSpPr>
        <p:spPr>
          <a:xfrm>
            <a:off x="777240" y="169164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15C</a:t>
            </a:r>
            <a:endParaRPr lang="en-US" sz="1300" dirty="0"/>
          </a:p>
        </p:txBody>
      </p:sp>
      <p:sp>
        <p:nvSpPr>
          <p:cNvPr id="10" name="Text 8"/>
          <p:cNvSpPr/>
          <p:nvPr/>
        </p:nvSpPr>
        <p:spPr>
          <a:xfrm>
            <a:off x="1783080" y="1691640"/>
            <a:ext cx="521208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FullDevelopmentCopilot</a:t>
            </a:r>
            <a:endParaRPr lang="en-US" sz="1400" dirty="0"/>
          </a:p>
        </p:txBody>
      </p:sp>
      <p:sp>
        <p:nvSpPr>
          <p:cNvPr id="11" name="Text 9"/>
          <p:cNvSpPr/>
          <p:nvPr/>
        </p:nvSpPr>
        <p:spPr>
          <a:xfrm>
            <a:off x="777240" y="2240280"/>
            <a:ext cx="612648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  이 프로그램은</a:t>
            </a:r>
            <a:endParaRPr lang="en-US" sz="1300" dirty="0"/>
          </a:p>
        </p:txBody>
      </p:sp>
      <p:sp>
        <p:nvSpPr>
          <p:cNvPr id="12" name="Text 10"/>
          <p:cNvSpPr/>
          <p:nvPr/>
        </p:nvSpPr>
        <p:spPr>
          <a:xfrm>
            <a:off x="777240" y="2606040"/>
            <a:ext cx="6126480" cy="2194560"/>
          </a:xfrm>
          <a:prstGeom prst="rect">
            <a:avLst/>
          </a:prstGeom>
          <a:noFill/>
          <a:ln/>
        </p:spPr>
        <p:txBody>
          <a:bodyPr wrap="square" lIns="0" tIns="0" rIns="0" bIns="0" rtlCol="0" anchor="ctr"/>
          <a:lstStyle/>
          <a:p>
            <a:pPr indent="0" marL="0">
              <a:spcAft>
                <a:spcPts val="400"/>
              </a:spcAft>
              <a:buNone/>
            </a:pPr>
            <a:r>
              <a:rPr lang="en-US" sz="1200" dirty="0">
                <a:solidFill>
                  <a:srgbClr val="1F2937"/>
                </a:solidFill>
                <a:latin typeface="Calibri" pitchFamily="34" charset="0"/>
                <a:ea typeface="Calibri" pitchFamily="34" charset="-122"/>
                <a:cs typeface="Calibri" pitchFamily="34" charset="-120"/>
              </a:rPr>
              <a:t>요구사항 → 설계 → 코드 생성 → 테스트 → PR 생성 → 배포까지의 전체 SDLC 를 자동화하는 종합판이다. 인간은 핵심 의사결정 지점에서만 개입한다.</a:t>
            </a:r>
            <a:endParaRPr lang="en-US" sz="1200" dirty="0"/>
          </a:p>
        </p:txBody>
      </p:sp>
      <p:sp>
        <p:nvSpPr>
          <p:cNvPr id="13" name="Shape 11"/>
          <p:cNvSpPr/>
          <p:nvPr/>
        </p:nvSpPr>
        <p:spPr>
          <a:xfrm>
            <a:off x="777240" y="4937760"/>
            <a:ext cx="6126480" cy="0"/>
          </a:xfrm>
          <a:prstGeom prst="line">
            <a:avLst/>
          </a:prstGeom>
          <a:noFill/>
          <a:ln w="9525">
            <a:solidFill>
              <a:srgbClr val="CBD5E1"/>
            </a:solidFill>
            <a:prstDash val="solid"/>
          </a:ln>
        </p:spPr>
      </p:sp>
      <p:sp>
        <p:nvSpPr>
          <p:cNvPr id="14" name="Text 12"/>
          <p:cNvSpPr/>
          <p:nvPr/>
        </p:nvSpPr>
        <p:spPr>
          <a:xfrm>
            <a:off x="777240" y="5029200"/>
            <a:ext cx="612648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12648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SDLC 자동화, 프로덕션 배포, 보안 고려사항.</a:t>
            </a:r>
            <a:endParaRPr lang="en-US" sz="1200" dirty="0"/>
          </a:p>
        </p:txBody>
      </p:sp>
      <p:sp>
        <p:nvSpPr>
          <p:cNvPr id="16" name="Shape 14"/>
          <p:cNvSpPr/>
          <p:nvPr/>
        </p:nvSpPr>
        <p:spPr>
          <a:xfrm>
            <a:off x="7269480" y="1554480"/>
            <a:ext cx="4480560" cy="2468880"/>
          </a:xfrm>
          <a:prstGeom prst="rect">
            <a:avLst/>
          </a:prstGeom>
          <a:solidFill>
            <a:srgbClr val="F1F5F9"/>
          </a:solidFill>
          <a:ln w="9525">
            <a:solidFill>
              <a:srgbClr val="E2E8F0"/>
            </a:solidFill>
            <a:prstDash val="solid"/>
          </a:ln>
        </p:spPr>
      </p:sp>
      <p:sp>
        <p:nvSpPr>
          <p:cNvPr id="17" name="Text 15"/>
          <p:cNvSpPr/>
          <p:nvPr/>
        </p:nvSpPr>
        <p:spPr>
          <a:xfrm>
            <a:off x="7406640" y="1691640"/>
            <a:ext cx="420624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구조</a:t>
            </a:r>
            <a:endParaRPr lang="en-US" sz="1200" dirty="0"/>
          </a:p>
        </p:txBody>
      </p:sp>
      <p:sp>
        <p:nvSpPr>
          <p:cNvPr id="18" name="Text 16"/>
          <p:cNvSpPr/>
          <p:nvPr/>
        </p:nvSpPr>
        <p:spPr>
          <a:xfrm>
            <a:off x="7406640" y="2057400"/>
            <a:ext cx="420624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Agents/CodeAgent.cs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Agents/TestAgent.cs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Agents/DocAgent.cs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Services/DeploymentService.cs</a:t>
            </a:r>
            <a:endParaRPr lang="en-US" sz="1100" dirty="0"/>
          </a:p>
        </p:txBody>
      </p:sp>
      <p:sp>
        <p:nvSpPr>
          <p:cNvPr id="19" name="Shape 17"/>
          <p:cNvSpPr/>
          <p:nvPr/>
        </p:nvSpPr>
        <p:spPr>
          <a:xfrm>
            <a:off x="7269480" y="4160520"/>
            <a:ext cx="448056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269480" y="4160520"/>
            <a:ext cx="4480560" cy="457200"/>
          </a:xfrm>
          <a:prstGeom prst="rect">
            <a:avLst/>
          </a:prstGeom>
          <a:solidFill>
            <a:srgbClr val="0F4C81"/>
          </a:solidFill>
          <a:ln/>
        </p:spPr>
      </p:sp>
      <p:sp>
        <p:nvSpPr>
          <p:cNvPr id="21" name="Text 19"/>
          <p:cNvSpPr/>
          <p:nvPr/>
        </p:nvSpPr>
        <p:spPr>
          <a:xfrm>
            <a:off x="7406640" y="416052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406640" y="4709160"/>
            <a:ext cx="4206240" cy="1600200"/>
          </a:xfrm>
          <a:prstGeom prst="rect">
            <a:avLst/>
          </a:prstGeom>
          <a:noFill/>
          <a:ln/>
        </p:spPr>
        <p:txBody>
          <a:bodyPr wrap="square" lIns="0" tIns="0" rIns="0" bIns="0" rtlCol="0" anchor="ctr"/>
          <a:lstStyle/>
          <a:p>
            <a:pPr indent="0" marL="0">
              <a:spcAft>
                <a:spcPts val="400"/>
              </a:spcAft>
              <a:buNone/>
            </a:pPr>
            <a:r>
              <a:rPr lang="en-US" sz="1050" dirty="0">
                <a:solidFill>
                  <a:srgbClr val="1F2937"/>
                </a:solidFill>
                <a:latin typeface="Consolas" pitchFamily="34" charset="0"/>
                <a:ea typeface="Consolas" pitchFamily="34" charset="-122"/>
                <a:cs typeface="Consolas" pitchFamily="34" charset="-120"/>
              </a:rPr>
              <a:t>요구사항 "신규 결제 모듈" → 설계도 → 코드 → 테스트 100% → PR → CI 통과 → 스테이징 배포</a:t>
            </a:r>
            <a:endParaRPr lang="en-US" sz="10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463040"/>
            <a:ext cx="3657600" cy="2926080"/>
          </a:xfrm>
          <a:prstGeom prst="rect">
            <a:avLst/>
          </a:prstGeom>
          <a:noFill/>
          <a:ln/>
        </p:spPr>
        <p:txBody>
          <a:bodyPr wrap="square" lIns="0" tIns="0" rIns="0" bIns="0" rtlCol="0" anchor="ctr"/>
          <a:lstStyle/>
          <a:p>
            <a:pPr indent="0" marL="0">
              <a:buNone/>
            </a:pPr>
            <a:r>
              <a:rPr lang="en-US" sz="22000" b="1" dirty="0">
                <a:solidFill>
                  <a:srgbClr val="FED7AA"/>
                </a:solidFill>
                <a:latin typeface="Calibri" pitchFamily="34" charset="0"/>
                <a:ea typeface="Calibri" pitchFamily="34" charset="-122"/>
                <a:cs typeface="Calibri" pitchFamily="34" charset="-120"/>
              </a:rPr>
              <a:t>04</a:t>
            </a:r>
            <a:endParaRPr lang="en-US" sz="22000" dirty="0"/>
          </a:p>
        </p:txBody>
      </p:sp>
      <p:sp>
        <p:nvSpPr>
          <p:cNvPr id="3" name="Text 1"/>
          <p:cNvSpPr/>
          <p:nvPr/>
        </p:nvSpPr>
        <p:spPr>
          <a:xfrm>
            <a:off x="4389120" y="2560320"/>
            <a:ext cx="7315200" cy="365760"/>
          </a:xfrm>
          <a:prstGeom prst="rect">
            <a:avLst/>
          </a:prstGeom>
          <a:noFill/>
          <a:ln/>
        </p:spPr>
        <p:txBody>
          <a:bodyPr wrap="square" lIns="0" tIns="0" rIns="0" bIns="0" rtlCol="0" anchor="ctr"/>
          <a:lstStyle/>
          <a:p>
            <a:pPr indent="0" marL="0">
              <a:buNone/>
            </a:pPr>
            <a:r>
              <a:rPr lang="en-US" sz="1300" b="1" spc="600" kern="0" dirty="0">
                <a:solidFill>
                  <a:srgbClr val="F97316"/>
                </a:solidFill>
                <a:latin typeface="Calibri" pitchFamily="34" charset="0"/>
                <a:ea typeface="Calibri" pitchFamily="34" charset="-122"/>
                <a:cs typeface="Calibri" pitchFamily="34" charset="-120"/>
              </a:rPr>
              <a:t>EXTRA MODULES</a:t>
            </a:r>
            <a:endParaRPr lang="en-US" sz="1300" dirty="0"/>
          </a:p>
        </p:txBody>
      </p:sp>
      <p:sp>
        <p:nvSpPr>
          <p:cNvPr id="4" name="Text 2"/>
          <p:cNvSpPr/>
          <p:nvPr/>
        </p:nvSpPr>
        <p:spPr>
          <a:xfrm>
            <a:off x="4389120" y="2926080"/>
            <a:ext cx="7315200" cy="914400"/>
          </a:xfrm>
          <a:prstGeom prst="rect">
            <a:avLst/>
          </a:prstGeom>
          <a:noFill/>
          <a:ln/>
        </p:spPr>
        <p:txBody>
          <a:bodyPr wrap="square" lIns="0" tIns="0" rIns="0" bIns="0" rtlCol="0" anchor="ctr"/>
          <a:lstStyle/>
          <a:p>
            <a:pPr indent="0" marL="0">
              <a:buNone/>
            </a:pPr>
            <a:r>
              <a:rPr lang="en-US" sz="3800" b="1" dirty="0">
                <a:solidFill>
                  <a:srgbClr val="0F4C81"/>
                </a:solidFill>
                <a:latin typeface="Calibri" pitchFamily="34" charset="0"/>
                <a:ea typeface="Calibri" pitchFamily="34" charset="-122"/>
                <a:cs typeface="Calibri" pitchFamily="34" charset="-120"/>
              </a:rPr>
              <a:t>src 추가 모듈 4 종</a:t>
            </a:r>
            <a:endParaRPr lang="en-US" sz="3800" dirty="0"/>
          </a:p>
        </p:txBody>
      </p:sp>
      <p:sp>
        <p:nvSpPr>
          <p:cNvPr id="5" name="Text 3"/>
          <p:cNvSpPr/>
          <p:nvPr/>
        </p:nvSpPr>
        <p:spPr>
          <a:xfrm>
            <a:off x="4389120" y="3931920"/>
            <a:ext cx="7315200" cy="137160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정규 15 단계 외에 "한 가지 개념을 깊이" 다루는 보너스 모듈입니다. SkillSystem 의 두 버전, SoulAgent, StageMemoryAgent.</a:t>
            </a:r>
            <a:endParaRPr lang="en-US" sz="1400" dirty="0"/>
          </a:p>
        </p:txBody>
      </p:sp>
      <p:sp>
        <p:nvSpPr>
          <p:cNvPr id="6" name="Shape 4"/>
          <p:cNvSpPr/>
          <p:nvPr/>
        </p:nvSpPr>
        <p:spPr>
          <a:xfrm>
            <a:off x="640080" y="4754880"/>
            <a:ext cx="1371600" cy="54864"/>
          </a:xfrm>
          <a:prstGeom prst="rect">
            <a:avLst/>
          </a:prstGeom>
          <a:solidFill>
            <a:srgbClr val="F97316"/>
          </a:solidFill>
          <a:ln/>
        </p:spPr>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EXTRA MODULE · SKILLSYSTEM</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마크다운 기반 스킬 시스템 v1</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94944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F97316"/>
          </a:solidFill>
          <a:ln/>
        </p:spPr>
      </p:sp>
      <p:sp>
        <p:nvSpPr>
          <p:cNvPr id="8" name="Text 6"/>
          <p:cNvSpPr/>
          <p:nvPr/>
        </p:nvSpPr>
        <p:spPr>
          <a:xfrm>
            <a:off x="777240" y="1691640"/>
            <a:ext cx="6400800" cy="365760"/>
          </a:xfrm>
          <a:prstGeom prst="rect">
            <a:avLst/>
          </a:prstGeom>
          <a:noFill/>
          <a:ln/>
        </p:spPr>
        <p:txBody>
          <a:bodyPr wrap="square" lIns="0" tIns="0" rIns="0" bIns="0"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  이 모듈은</a:t>
            </a:r>
            <a:endParaRPr lang="en-US" sz="1400" dirty="0"/>
          </a:p>
        </p:txBody>
      </p:sp>
      <p:sp>
        <p:nvSpPr>
          <p:cNvPr id="9" name="Text 7"/>
          <p:cNvSpPr/>
          <p:nvPr/>
        </p:nvSpPr>
        <p:spPr>
          <a:xfrm>
            <a:off x="777240" y="2103120"/>
            <a:ext cx="6400800" cy="2286000"/>
          </a:xfrm>
          <a:prstGeom prst="rect">
            <a:avLst/>
          </a:prstGeom>
          <a:noFill/>
          <a:ln/>
        </p:spPr>
        <p:txBody>
          <a:bodyPr wrap="square" lIns="0" tIns="0" rIns="0" bIns="0" rtlCol="0" anchor="ctr"/>
          <a:lstStyle/>
          <a:p>
            <a:pPr indent="0" marL="0">
              <a:spcAft>
                <a:spcPts val="500"/>
              </a:spcAft>
              <a:buNone/>
            </a:pPr>
            <a:r>
              <a:rPr lang="en-US" sz="1300" dirty="0">
                <a:solidFill>
                  <a:srgbClr val="1F2937"/>
                </a:solidFill>
                <a:latin typeface="Calibri" pitchFamily="34" charset="0"/>
                <a:ea typeface="Calibri" pitchFamily="34" charset="-122"/>
                <a:cs typeface="Calibri" pitchFamily="34" charset="-120"/>
              </a:rPr>
              <a:t>skill.md 파일 한 장으로 새 도구를 추가할 수 있는 동적 스킬 로딩 시스템이다. Calculator, Translator, Weather, SystemTools, WebTools 등 5 개 스킬에 26 개 함수가 마크다운만으로 등록되어 있다. C# 코드 변경 없이 마크다운 추가만으로 기능 확장이 가능하다.</a:t>
            </a:r>
            <a:endParaRPr lang="en-US" sz="1300" dirty="0"/>
          </a:p>
        </p:txBody>
      </p:sp>
      <p:sp>
        <p:nvSpPr>
          <p:cNvPr id="10" name="Shape 8"/>
          <p:cNvSpPr/>
          <p:nvPr/>
        </p:nvSpPr>
        <p:spPr>
          <a:xfrm>
            <a:off x="777240" y="4572000"/>
            <a:ext cx="6400800" cy="0"/>
          </a:xfrm>
          <a:prstGeom prst="line">
            <a:avLst/>
          </a:prstGeom>
          <a:noFill/>
          <a:ln w="9525">
            <a:solidFill>
              <a:srgbClr val="CBD5E1"/>
            </a:solidFill>
            <a:prstDash val="solid"/>
          </a:ln>
        </p:spPr>
      </p:sp>
      <p:sp>
        <p:nvSpPr>
          <p:cNvPr id="11" name="Text 9"/>
          <p:cNvSpPr/>
          <p:nvPr/>
        </p:nvSpPr>
        <p:spPr>
          <a:xfrm>
            <a:off x="777240" y="4663440"/>
            <a:ext cx="6400800" cy="365760"/>
          </a:xfrm>
          <a:prstGeom prst="rect">
            <a:avLst/>
          </a:prstGeom>
          <a:noFill/>
          <a:ln/>
        </p:spPr>
        <p:txBody>
          <a:bodyPr wrap="square" lIns="0" tIns="0" rIns="0" bIns="0"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  학습 목표</a:t>
            </a:r>
            <a:endParaRPr lang="en-US" sz="1400" dirty="0"/>
          </a:p>
        </p:txBody>
      </p:sp>
      <p:sp>
        <p:nvSpPr>
          <p:cNvPr id="12" name="Text 10"/>
          <p:cNvSpPr/>
          <p:nvPr/>
        </p:nvSpPr>
        <p:spPr>
          <a:xfrm>
            <a:off x="777240" y="5074920"/>
            <a:ext cx="6400800" cy="128016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동적 Tool 등록, 마크다운 파서 구현, 코드-스킬 분리.</a:t>
            </a:r>
            <a:endParaRPr lang="en-US" sz="1300" dirty="0"/>
          </a:p>
        </p:txBody>
      </p:sp>
      <p:sp>
        <p:nvSpPr>
          <p:cNvPr id="13" name="Shape 11"/>
          <p:cNvSpPr/>
          <p:nvPr/>
        </p:nvSpPr>
        <p:spPr>
          <a:xfrm>
            <a:off x="7635240" y="1554480"/>
            <a:ext cx="4114800" cy="4846320"/>
          </a:xfrm>
          <a:prstGeom prst="rect">
            <a:avLst/>
          </a:prstGeom>
          <a:solidFill>
            <a:srgbClr val="F1F5F9"/>
          </a:solidFill>
          <a:ln w="9525">
            <a:solidFill>
              <a:srgbClr val="E2E8F0"/>
            </a:solidFill>
            <a:prstDash val="solid"/>
          </a:ln>
        </p:spPr>
      </p:sp>
      <p:sp>
        <p:nvSpPr>
          <p:cNvPr id="14" name="Text 12"/>
          <p:cNvSpPr/>
          <p:nvPr/>
        </p:nvSpPr>
        <p:spPr>
          <a:xfrm>
            <a:off x="7772400" y="1691640"/>
            <a:ext cx="3840480" cy="36576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 폴더 구조</a:t>
            </a:r>
            <a:endParaRPr lang="en-US" sz="1200" dirty="0"/>
          </a:p>
        </p:txBody>
      </p:sp>
      <p:sp>
        <p:nvSpPr>
          <p:cNvPr id="15" name="Text 13"/>
          <p:cNvSpPr/>
          <p:nvPr/>
        </p:nvSpPr>
        <p:spPr>
          <a:xfrm>
            <a:off x="7772400" y="2103120"/>
            <a:ext cx="3840480" cy="4206240"/>
          </a:xfrm>
          <a:prstGeom prst="rect">
            <a:avLst/>
          </a:prstGeom>
          <a:noFill/>
          <a:ln/>
        </p:spPr>
        <p:txBody>
          <a:bodyPr wrap="square" lIns="0" tIns="0" rIns="0" bIns="0" rtlCol="0" anchor="ctr"/>
          <a:lstStyle/>
          <a:p>
            <a:pPr indent="0" marL="0">
              <a:spcAft>
                <a:spcPts val="400"/>
              </a:spcAft>
              <a:buNone/>
            </a:pPr>
            <a:r>
              <a:rPr lang="en-US" sz="1200" dirty="0">
                <a:solidFill>
                  <a:srgbClr val="0F172A"/>
                </a:solidFill>
                <a:latin typeface="Consolas" pitchFamily="34" charset="0"/>
                <a:ea typeface="Consolas" pitchFamily="34" charset="-122"/>
                <a:cs typeface="Consolas" pitchFamily="34" charset="-120"/>
              </a:rPr>
              <a:t>├─ Program.cs</a:t>
            </a:r>
            <a:endParaRPr lang="en-US" sz="1200" dirty="0"/>
          </a:p>
          <a:p>
            <a:pPr indent="0" marL="0">
              <a:spcAft>
                <a:spcPts val="400"/>
              </a:spcAft>
              <a:buNone/>
            </a:pPr>
            <a:r>
              <a:rPr lang="en-US" sz="1200" dirty="0">
                <a:solidFill>
                  <a:srgbClr val="0F172A"/>
                </a:solidFill>
                <a:latin typeface="Consolas" pitchFamily="34" charset="0"/>
                <a:ea typeface="Consolas" pitchFamily="34" charset="-122"/>
                <a:cs typeface="Consolas" pitchFamily="34" charset="-120"/>
              </a:rPr>
              <a:t>├─ SkillLoader.cs</a:t>
            </a:r>
            <a:endParaRPr lang="en-US" sz="1200" dirty="0"/>
          </a:p>
          <a:p>
            <a:pPr indent="0" marL="0">
              <a:spcAft>
                <a:spcPts val="400"/>
              </a:spcAft>
              <a:buNone/>
            </a:pPr>
            <a:r>
              <a:rPr lang="en-US" sz="1200" dirty="0">
                <a:solidFill>
                  <a:srgbClr val="0F172A"/>
                </a:solidFill>
                <a:latin typeface="Consolas" pitchFamily="34" charset="0"/>
                <a:ea typeface="Consolas" pitchFamily="34" charset="-122"/>
                <a:cs typeface="Consolas" pitchFamily="34" charset="-120"/>
              </a:rPr>
              <a:t>├─ SkillDefinition.cs</a:t>
            </a:r>
            <a:endParaRPr lang="en-US" sz="1200" dirty="0"/>
          </a:p>
          <a:p>
            <a:pPr indent="0" marL="0">
              <a:spcAft>
                <a:spcPts val="400"/>
              </a:spcAft>
              <a:buNone/>
            </a:pPr>
            <a:r>
              <a:rPr lang="en-US" sz="1200" dirty="0">
                <a:solidFill>
                  <a:srgbClr val="0F172A"/>
                </a:solidFill>
                <a:latin typeface="Consolas" pitchFamily="34" charset="0"/>
                <a:ea typeface="Consolas" pitchFamily="34" charset="-122"/>
                <a:cs typeface="Consolas" pitchFamily="34" charset="-120"/>
              </a:rPr>
              <a:t>├─ GenericTools.cs</a:t>
            </a:r>
            <a:endParaRPr lang="en-US" sz="1200" dirty="0"/>
          </a:p>
          <a:p>
            <a:pPr indent="0" marL="0">
              <a:spcAft>
                <a:spcPts val="400"/>
              </a:spcAft>
              <a:buNone/>
            </a:pPr>
            <a:r>
              <a:rPr lang="en-US" sz="1200" dirty="0">
                <a:solidFill>
                  <a:srgbClr val="0F172A"/>
                </a:solidFill>
                <a:latin typeface="Consolas" pitchFamily="34" charset="0"/>
                <a:ea typeface="Consolas" pitchFamily="34" charset="-122"/>
                <a:cs typeface="Consolas" pitchFamily="34" charset="-120"/>
              </a:rPr>
              <a:t>├─ skills/*/skill.md</a:t>
            </a:r>
            <a:endParaRPr lang="en-US" sz="1200" dirty="0"/>
          </a:p>
        </p:txBody>
      </p:sp>
      <p:sp>
        <p:nvSpPr>
          <p:cNvPr id="16" name="Text 14"/>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17" name="Text 15"/>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69</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EXTRA MODULE · SKILLSYSTEM2</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마크다운 스킬 시스템 v2</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94944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078D4"/>
          </a:solidFill>
          <a:ln/>
        </p:spPr>
      </p:sp>
      <p:sp>
        <p:nvSpPr>
          <p:cNvPr id="8" name="Text 6"/>
          <p:cNvSpPr/>
          <p:nvPr/>
        </p:nvSpPr>
        <p:spPr>
          <a:xfrm>
            <a:off x="777240" y="1691640"/>
            <a:ext cx="6400800" cy="365760"/>
          </a:xfrm>
          <a:prstGeom prst="rect">
            <a:avLst/>
          </a:prstGeom>
          <a:noFill/>
          <a:ln/>
        </p:spPr>
        <p:txBody>
          <a:bodyPr wrap="square" lIns="0" tIns="0" rIns="0" bIns="0" rtlCol="0" anchor="ctr"/>
          <a:lstStyle/>
          <a:p>
            <a:pPr indent="0" marL="0">
              <a:buNone/>
            </a:pPr>
            <a:r>
              <a:rPr lang="en-US" sz="1400" b="1" dirty="0">
                <a:solidFill>
                  <a:srgbClr val="0078D4"/>
                </a:solidFill>
                <a:latin typeface="Calibri" pitchFamily="34" charset="0"/>
                <a:ea typeface="Calibri" pitchFamily="34" charset="-122"/>
                <a:cs typeface="Calibri" pitchFamily="34" charset="-120"/>
              </a:rPr>
              <a:t>📌  이 모듈은</a:t>
            </a:r>
            <a:endParaRPr lang="en-US" sz="1400" dirty="0"/>
          </a:p>
        </p:txBody>
      </p:sp>
      <p:sp>
        <p:nvSpPr>
          <p:cNvPr id="9" name="Text 7"/>
          <p:cNvSpPr/>
          <p:nvPr/>
        </p:nvSpPr>
        <p:spPr>
          <a:xfrm>
            <a:off x="777240" y="2103120"/>
            <a:ext cx="6400800" cy="2286000"/>
          </a:xfrm>
          <a:prstGeom prst="rect">
            <a:avLst/>
          </a:prstGeom>
          <a:noFill/>
          <a:ln/>
        </p:spPr>
        <p:txBody>
          <a:bodyPr wrap="square" lIns="0" tIns="0" rIns="0" bIns="0" rtlCol="0" anchor="ctr"/>
          <a:lstStyle/>
          <a:p>
            <a:pPr indent="0" marL="0">
              <a:spcAft>
                <a:spcPts val="500"/>
              </a:spcAft>
              <a:buNone/>
            </a:pPr>
            <a:r>
              <a:rPr lang="en-US" sz="1300" dirty="0">
                <a:solidFill>
                  <a:srgbClr val="1F2937"/>
                </a:solidFill>
                <a:latin typeface="Calibri" pitchFamily="34" charset="0"/>
                <a:ea typeface="Calibri" pitchFamily="34" charset="-122"/>
                <a:cs typeface="Calibri" pitchFamily="34" charset="-120"/>
              </a:rPr>
              <a:t>v1 의 진화 버전으로 SkillMatcher 가 추가되어 사용자 질문에서 적합한 스킬을 자동 매칭하는 기능이 강화되었다. 또한 .slnx 솔루션 형식을 사용해 .NET 10 의 최신 빌드 시스템을 채택했다.</a:t>
            </a:r>
            <a:endParaRPr lang="en-US" sz="1300" dirty="0"/>
          </a:p>
        </p:txBody>
      </p:sp>
      <p:sp>
        <p:nvSpPr>
          <p:cNvPr id="10" name="Shape 8"/>
          <p:cNvSpPr/>
          <p:nvPr/>
        </p:nvSpPr>
        <p:spPr>
          <a:xfrm>
            <a:off x="777240" y="4572000"/>
            <a:ext cx="6400800" cy="0"/>
          </a:xfrm>
          <a:prstGeom prst="line">
            <a:avLst/>
          </a:prstGeom>
          <a:noFill/>
          <a:ln w="9525">
            <a:solidFill>
              <a:srgbClr val="CBD5E1"/>
            </a:solidFill>
            <a:prstDash val="solid"/>
          </a:ln>
        </p:spPr>
      </p:sp>
      <p:sp>
        <p:nvSpPr>
          <p:cNvPr id="11" name="Text 9"/>
          <p:cNvSpPr/>
          <p:nvPr/>
        </p:nvSpPr>
        <p:spPr>
          <a:xfrm>
            <a:off x="777240" y="4663440"/>
            <a:ext cx="6400800" cy="365760"/>
          </a:xfrm>
          <a:prstGeom prst="rect">
            <a:avLst/>
          </a:prstGeom>
          <a:noFill/>
          <a:ln/>
        </p:spPr>
        <p:txBody>
          <a:bodyPr wrap="square" lIns="0" tIns="0" rIns="0" bIns="0" rtlCol="0" anchor="ctr"/>
          <a:lstStyle/>
          <a:p>
            <a:pPr indent="0" marL="0">
              <a:buNone/>
            </a:pPr>
            <a:r>
              <a:rPr lang="en-US" sz="1400" b="1" dirty="0">
                <a:solidFill>
                  <a:srgbClr val="0078D4"/>
                </a:solidFill>
                <a:latin typeface="Calibri" pitchFamily="34" charset="0"/>
                <a:ea typeface="Calibri" pitchFamily="34" charset="-122"/>
                <a:cs typeface="Calibri" pitchFamily="34" charset="-120"/>
              </a:rPr>
              <a:t>🎯  학습 목표</a:t>
            </a:r>
            <a:endParaRPr lang="en-US" sz="1400" dirty="0"/>
          </a:p>
        </p:txBody>
      </p:sp>
      <p:sp>
        <p:nvSpPr>
          <p:cNvPr id="12" name="Text 10"/>
          <p:cNvSpPr/>
          <p:nvPr/>
        </p:nvSpPr>
        <p:spPr>
          <a:xfrm>
            <a:off x="777240" y="5074920"/>
            <a:ext cx="6400800" cy="128016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스킬 매칭 알고리즘, .slnx 빌드 시스템, v1 대비 개선점.</a:t>
            </a:r>
            <a:endParaRPr lang="en-US" sz="1300" dirty="0"/>
          </a:p>
        </p:txBody>
      </p:sp>
      <p:sp>
        <p:nvSpPr>
          <p:cNvPr id="13" name="Shape 11"/>
          <p:cNvSpPr/>
          <p:nvPr/>
        </p:nvSpPr>
        <p:spPr>
          <a:xfrm>
            <a:off x="7635240" y="1554480"/>
            <a:ext cx="4114800" cy="4846320"/>
          </a:xfrm>
          <a:prstGeom prst="rect">
            <a:avLst/>
          </a:prstGeom>
          <a:solidFill>
            <a:srgbClr val="F1F5F9"/>
          </a:solidFill>
          <a:ln w="9525">
            <a:solidFill>
              <a:srgbClr val="E2E8F0"/>
            </a:solidFill>
            <a:prstDash val="solid"/>
          </a:ln>
        </p:spPr>
      </p:sp>
      <p:sp>
        <p:nvSpPr>
          <p:cNvPr id="14" name="Text 12"/>
          <p:cNvSpPr/>
          <p:nvPr/>
        </p:nvSpPr>
        <p:spPr>
          <a:xfrm>
            <a:off x="7772400" y="1691640"/>
            <a:ext cx="3840480" cy="36576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 폴더 구조</a:t>
            </a:r>
            <a:endParaRPr lang="en-US" sz="1200" dirty="0"/>
          </a:p>
        </p:txBody>
      </p:sp>
      <p:sp>
        <p:nvSpPr>
          <p:cNvPr id="15" name="Text 13"/>
          <p:cNvSpPr/>
          <p:nvPr/>
        </p:nvSpPr>
        <p:spPr>
          <a:xfrm>
            <a:off x="7772400" y="2103120"/>
            <a:ext cx="3840480" cy="4206240"/>
          </a:xfrm>
          <a:prstGeom prst="rect">
            <a:avLst/>
          </a:prstGeom>
          <a:noFill/>
          <a:ln/>
        </p:spPr>
        <p:txBody>
          <a:bodyPr wrap="square" lIns="0" tIns="0" rIns="0" bIns="0" rtlCol="0" anchor="ctr"/>
          <a:lstStyle/>
          <a:p>
            <a:pPr indent="0" marL="0">
              <a:spcAft>
                <a:spcPts val="400"/>
              </a:spcAft>
              <a:buNone/>
            </a:pPr>
            <a:r>
              <a:rPr lang="en-US" sz="1200" dirty="0">
                <a:solidFill>
                  <a:srgbClr val="0F172A"/>
                </a:solidFill>
                <a:latin typeface="Consolas" pitchFamily="34" charset="0"/>
                <a:ea typeface="Consolas" pitchFamily="34" charset="-122"/>
                <a:cs typeface="Consolas" pitchFamily="34" charset="-120"/>
              </a:rPr>
              <a:t>├─ Program.cs</a:t>
            </a:r>
            <a:endParaRPr lang="en-US" sz="1200" dirty="0"/>
          </a:p>
          <a:p>
            <a:pPr indent="0" marL="0">
              <a:spcAft>
                <a:spcPts val="400"/>
              </a:spcAft>
              <a:buNone/>
            </a:pPr>
            <a:r>
              <a:rPr lang="en-US" sz="1200" dirty="0">
                <a:solidFill>
                  <a:srgbClr val="0F172A"/>
                </a:solidFill>
                <a:latin typeface="Consolas" pitchFamily="34" charset="0"/>
                <a:ea typeface="Consolas" pitchFamily="34" charset="-122"/>
                <a:cs typeface="Consolas" pitchFamily="34" charset="-120"/>
              </a:rPr>
              <a:t>├─ SkillLoader.cs</a:t>
            </a:r>
            <a:endParaRPr lang="en-US" sz="1200" dirty="0"/>
          </a:p>
          <a:p>
            <a:pPr indent="0" marL="0">
              <a:spcAft>
                <a:spcPts val="400"/>
              </a:spcAft>
              <a:buNone/>
            </a:pPr>
            <a:r>
              <a:rPr lang="en-US" sz="1200" dirty="0">
                <a:solidFill>
                  <a:srgbClr val="0F172A"/>
                </a:solidFill>
                <a:latin typeface="Consolas" pitchFamily="34" charset="0"/>
                <a:ea typeface="Consolas" pitchFamily="34" charset="-122"/>
                <a:cs typeface="Consolas" pitchFamily="34" charset="-120"/>
              </a:rPr>
              <a:t>├─ SkillMatcher.cs</a:t>
            </a:r>
            <a:endParaRPr lang="en-US" sz="1200" dirty="0"/>
          </a:p>
          <a:p>
            <a:pPr indent="0" marL="0">
              <a:spcAft>
                <a:spcPts val="400"/>
              </a:spcAft>
              <a:buNone/>
            </a:pPr>
            <a:r>
              <a:rPr lang="en-US" sz="1200" dirty="0">
                <a:solidFill>
                  <a:srgbClr val="0F172A"/>
                </a:solidFill>
                <a:latin typeface="Consolas" pitchFamily="34" charset="0"/>
                <a:ea typeface="Consolas" pitchFamily="34" charset="-122"/>
                <a:cs typeface="Consolas" pitchFamily="34" charset="-120"/>
              </a:rPr>
              <a:t>├─ SkillSystem2.slnx</a:t>
            </a:r>
            <a:endParaRPr lang="en-US" sz="1200" dirty="0"/>
          </a:p>
        </p:txBody>
      </p:sp>
      <p:sp>
        <p:nvSpPr>
          <p:cNvPr id="16" name="Text 14"/>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17" name="Text 15"/>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70</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EXTRA MODULE · SOULAGENT</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핵심 가치/원칙을 가진 에이전트</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94944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F4C81"/>
          </a:solidFill>
          <a:ln/>
        </p:spPr>
      </p:sp>
      <p:sp>
        <p:nvSpPr>
          <p:cNvPr id="8" name="Text 6"/>
          <p:cNvSpPr/>
          <p:nvPr/>
        </p:nvSpPr>
        <p:spPr>
          <a:xfrm>
            <a:off x="777240" y="1691640"/>
            <a:ext cx="6400800" cy="365760"/>
          </a:xfrm>
          <a:prstGeom prst="rect">
            <a:avLst/>
          </a:prstGeom>
          <a:noFill/>
          <a:ln/>
        </p:spPr>
        <p:txBody>
          <a:bodyPr wrap="square" lIns="0" tIns="0" rIns="0" bIns="0" rtlCol="0" anchor="ctr"/>
          <a:lstStyle/>
          <a:p>
            <a:pPr indent="0" marL="0">
              <a:buNone/>
            </a:pPr>
            <a:r>
              <a:rPr lang="en-US" sz="1400" b="1" dirty="0">
                <a:solidFill>
                  <a:srgbClr val="0F4C81"/>
                </a:solidFill>
                <a:latin typeface="Calibri" pitchFamily="34" charset="0"/>
                <a:ea typeface="Calibri" pitchFamily="34" charset="-122"/>
                <a:cs typeface="Calibri" pitchFamily="34" charset="-120"/>
              </a:rPr>
              <a:t>📌  이 모듈은</a:t>
            </a:r>
            <a:endParaRPr lang="en-US" sz="1400" dirty="0"/>
          </a:p>
        </p:txBody>
      </p:sp>
      <p:sp>
        <p:nvSpPr>
          <p:cNvPr id="9" name="Text 7"/>
          <p:cNvSpPr/>
          <p:nvPr/>
        </p:nvSpPr>
        <p:spPr>
          <a:xfrm>
            <a:off x="777240" y="2103120"/>
            <a:ext cx="6400800" cy="2286000"/>
          </a:xfrm>
          <a:prstGeom prst="rect">
            <a:avLst/>
          </a:prstGeom>
          <a:noFill/>
          <a:ln/>
        </p:spPr>
        <p:txBody>
          <a:bodyPr wrap="square" lIns="0" tIns="0" rIns="0" bIns="0" rtlCol="0" anchor="ctr"/>
          <a:lstStyle/>
          <a:p>
            <a:pPr indent="0" marL="0">
              <a:spcAft>
                <a:spcPts val="500"/>
              </a:spcAft>
              <a:buNone/>
            </a:pPr>
            <a:r>
              <a:rPr lang="en-US" sz="1300" dirty="0">
                <a:solidFill>
                  <a:srgbClr val="1F2937"/>
                </a:solidFill>
                <a:latin typeface="Calibri" pitchFamily="34" charset="0"/>
                <a:ea typeface="Calibri" pitchFamily="34" charset="-122"/>
                <a:cs typeface="Calibri" pitchFamily="34" charset="-120"/>
              </a:rPr>
              <a:t>에이전트의 정체성과 행동 원칙을 JSON 한 파일에 정의해 일관된 페르소나를 유지하는 에이전트이다. Identity, Mission, CoreValues, Principles, SpeakingStyle, Taboos 7 개 속성으로 "성격" 을 만든다. 런타임에 Soul 을 동적으로 업데이트할 수도 있다.</a:t>
            </a:r>
            <a:endParaRPr lang="en-US" sz="1300" dirty="0"/>
          </a:p>
        </p:txBody>
      </p:sp>
      <p:sp>
        <p:nvSpPr>
          <p:cNvPr id="10" name="Shape 8"/>
          <p:cNvSpPr/>
          <p:nvPr/>
        </p:nvSpPr>
        <p:spPr>
          <a:xfrm>
            <a:off x="777240" y="4572000"/>
            <a:ext cx="6400800" cy="0"/>
          </a:xfrm>
          <a:prstGeom prst="line">
            <a:avLst/>
          </a:prstGeom>
          <a:noFill/>
          <a:ln w="9525">
            <a:solidFill>
              <a:srgbClr val="CBD5E1"/>
            </a:solidFill>
            <a:prstDash val="solid"/>
          </a:ln>
        </p:spPr>
      </p:sp>
      <p:sp>
        <p:nvSpPr>
          <p:cNvPr id="11" name="Text 9"/>
          <p:cNvSpPr/>
          <p:nvPr/>
        </p:nvSpPr>
        <p:spPr>
          <a:xfrm>
            <a:off x="777240" y="4663440"/>
            <a:ext cx="6400800" cy="365760"/>
          </a:xfrm>
          <a:prstGeom prst="rect">
            <a:avLst/>
          </a:prstGeom>
          <a:noFill/>
          <a:ln/>
        </p:spPr>
        <p:txBody>
          <a:bodyPr wrap="square" lIns="0" tIns="0" rIns="0" bIns="0" rtlCol="0" anchor="ctr"/>
          <a:lstStyle/>
          <a:p>
            <a:pPr indent="0" marL="0">
              <a:buNone/>
            </a:pPr>
            <a:r>
              <a:rPr lang="en-US" sz="1400" b="1" dirty="0">
                <a:solidFill>
                  <a:srgbClr val="0F4C81"/>
                </a:solidFill>
                <a:latin typeface="Calibri" pitchFamily="34" charset="0"/>
                <a:ea typeface="Calibri" pitchFamily="34" charset="-122"/>
                <a:cs typeface="Calibri" pitchFamily="34" charset="-120"/>
              </a:rPr>
              <a:t>🎯  학습 목표</a:t>
            </a:r>
            <a:endParaRPr lang="en-US" sz="1400" dirty="0"/>
          </a:p>
        </p:txBody>
      </p:sp>
      <p:sp>
        <p:nvSpPr>
          <p:cNvPr id="12" name="Text 10"/>
          <p:cNvSpPr/>
          <p:nvPr/>
        </p:nvSpPr>
        <p:spPr>
          <a:xfrm>
            <a:off x="777240" y="5074920"/>
            <a:ext cx="6400800" cy="128016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에이전트 페르소나 설계, 일관된 행동 보장.</a:t>
            </a:r>
            <a:endParaRPr lang="en-US" sz="1300" dirty="0"/>
          </a:p>
        </p:txBody>
      </p:sp>
      <p:sp>
        <p:nvSpPr>
          <p:cNvPr id="13" name="Shape 11"/>
          <p:cNvSpPr/>
          <p:nvPr/>
        </p:nvSpPr>
        <p:spPr>
          <a:xfrm>
            <a:off x="7635240" y="1554480"/>
            <a:ext cx="4114800" cy="4846320"/>
          </a:xfrm>
          <a:prstGeom prst="rect">
            <a:avLst/>
          </a:prstGeom>
          <a:solidFill>
            <a:srgbClr val="F1F5F9"/>
          </a:solidFill>
          <a:ln w="9525">
            <a:solidFill>
              <a:srgbClr val="E2E8F0"/>
            </a:solidFill>
            <a:prstDash val="solid"/>
          </a:ln>
        </p:spPr>
      </p:sp>
      <p:sp>
        <p:nvSpPr>
          <p:cNvPr id="14" name="Text 12"/>
          <p:cNvSpPr/>
          <p:nvPr/>
        </p:nvSpPr>
        <p:spPr>
          <a:xfrm>
            <a:off x="7772400" y="1691640"/>
            <a:ext cx="3840480" cy="36576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 폴더 구조</a:t>
            </a:r>
            <a:endParaRPr lang="en-US" sz="1200" dirty="0"/>
          </a:p>
        </p:txBody>
      </p:sp>
      <p:sp>
        <p:nvSpPr>
          <p:cNvPr id="15" name="Text 13"/>
          <p:cNvSpPr/>
          <p:nvPr/>
        </p:nvSpPr>
        <p:spPr>
          <a:xfrm>
            <a:off x="7772400" y="2103120"/>
            <a:ext cx="3840480" cy="4206240"/>
          </a:xfrm>
          <a:prstGeom prst="rect">
            <a:avLst/>
          </a:prstGeom>
          <a:noFill/>
          <a:ln/>
        </p:spPr>
        <p:txBody>
          <a:bodyPr wrap="square" lIns="0" tIns="0" rIns="0" bIns="0" rtlCol="0" anchor="ctr"/>
          <a:lstStyle/>
          <a:p>
            <a:pPr indent="0" marL="0">
              <a:spcAft>
                <a:spcPts val="400"/>
              </a:spcAft>
              <a:buNone/>
            </a:pPr>
            <a:r>
              <a:rPr lang="en-US" sz="1200" dirty="0">
                <a:solidFill>
                  <a:srgbClr val="0F172A"/>
                </a:solidFill>
                <a:latin typeface="Consolas" pitchFamily="34" charset="0"/>
                <a:ea typeface="Consolas" pitchFamily="34" charset="-122"/>
                <a:cs typeface="Consolas" pitchFamily="34" charset="-120"/>
              </a:rPr>
              <a:t>├─ Program.cs</a:t>
            </a:r>
            <a:endParaRPr lang="en-US" sz="1200" dirty="0"/>
          </a:p>
          <a:p>
            <a:pPr indent="0" marL="0">
              <a:spcAft>
                <a:spcPts val="400"/>
              </a:spcAft>
              <a:buNone/>
            </a:pPr>
            <a:r>
              <a:rPr lang="en-US" sz="1200" dirty="0">
                <a:solidFill>
                  <a:srgbClr val="0F172A"/>
                </a:solidFill>
                <a:latin typeface="Consolas" pitchFamily="34" charset="0"/>
                <a:ea typeface="Consolas" pitchFamily="34" charset="-122"/>
                <a:cs typeface="Consolas" pitchFamily="34" charset="-120"/>
              </a:rPr>
              <a:t>├─ Agents/SoulAgent.cs</a:t>
            </a:r>
            <a:endParaRPr lang="en-US" sz="1200" dirty="0"/>
          </a:p>
          <a:p>
            <a:pPr indent="0" marL="0">
              <a:spcAft>
                <a:spcPts val="400"/>
              </a:spcAft>
              <a:buNone/>
            </a:pPr>
            <a:r>
              <a:rPr lang="en-US" sz="1200" dirty="0">
                <a:solidFill>
                  <a:srgbClr val="0F172A"/>
                </a:solidFill>
                <a:latin typeface="Consolas" pitchFamily="34" charset="0"/>
                <a:ea typeface="Consolas" pitchFamily="34" charset="-122"/>
                <a:cs typeface="Consolas" pitchFamily="34" charset="-120"/>
              </a:rPr>
              <a:t>├─ Soul/SoulDefinition.cs</a:t>
            </a:r>
            <a:endParaRPr lang="en-US" sz="1200" dirty="0"/>
          </a:p>
          <a:p>
            <a:pPr indent="0" marL="0">
              <a:spcAft>
                <a:spcPts val="400"/>
              </a:spcAft>
              <a:buNone/>
            </a:pPr>
            <a:r>
              <a:rPr lang="en-US" sz="1200" dirty="0">
                <a:solidFill>
                  <a:srgbClr val="0F172A"/>
                </a:solidFill>
                <a:latin typeface="Consolas" pitchFamily="34" charset="0"/>
                <a:ea typeface="Consolas" pitchFamily="34" charset="-122"/>
                <a:cs typeface="Consolas" pitchFamily="34" charset="-120"/>
              </a:rPr>
              <a:t>├─ Soul/SoulLoader.cs</a:t>
            </a:r>
            <a:endParaRPr lang="en-US" sz="1200" dirty="0"/>
          </a:p>
          <a:p>
            <a:pPr indent="0" marL="0">
              <a:spcAft>
                <a:spcPts val="400"/>
              </a:spcAft>
              <a:buNone/>
            </a:pPr>
            <a:r>
              <a:rPr lang="en-US" sz="1200" dirty="0">
                <a:solidFill>
                  <a:srgbClr val="0F172A"/>
                </a:solidFill>
                <a:latin typeface="Consolas" pitchFamily="34" charset="0"/>
                <a:ea typeface="Consolas" pitchFamily="34" charset="-122"/>
                <a:cs typeface="Consolas" pitchFamily="34" charset="-120"/>
              </a:rPr>
              <a:t>├─ data/soul_profile.json</a:t>
            </a:r>
            <a:endParaRPr lang="en-US" sz="1200" dirty="0"/>
          </a:p>
        </p:txBody>
      </p:sp>
      <p:sp>
        <p:nvSpPr>
          <p:cNvPr id="16" name="Text 14"/>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17" name="Text 15"/>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71</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EXTRA MODULE · STAGEMEMORYAGENT</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마크다운 기반 장기 기억 에이전트</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94944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59669"/>
          </a:solidFill>
          <a:ln/>
        </p:spPr>
      </p:sp>
      <p:sp>
        <p:nvSpPr>
          <p:cNvPr id="8" name="Text 6"/>
          <p:cNvSpPr/>
          <p:nvPr/>
        </p:nvSpPr>
        <p:spPr>
          <a:xfrm>
            <a:off x="777240" y="1691640"/>
            <a:ext cx="6400800" cy="365760"/>
          </a:xfrm>
          <a:prstGeom prst="rect">
            <a:avLst/>
          </a:prstGeom>
          <a:noFill/>
          <a:ln/>
        </p:spPr>
        <p:txBody>
          <a:bodyPr wrap="square" lIns="0" tIns="0" rIns="0" bIns="0" rtlCol="0" anchor="ctr"/>
          <a:lstStyle/>
          <a:p>
            <a:pPr indent="0" marL="0">
              <a:buNone/>
            </a:pPr>
            <a:r>
              <a:rPr lang="en-US" sz="1400" b="1" dirty="0">
                <a:solidFill>
                  <a:srgbClr val="059669"/>
                </a:solidFill>
                <a:latin typeface="Calibri" pitchFamily="34" charset="0"/>
                <a:ea typeface="Calibri" pitchFamily="34" charset="-122"/>
                <a:cs typeface="Calibri" pitchFamily="34" charset="-120"/>
              </a:rPr>
              <a:t>📌  이 모듈은</a:t>
            </a:r>
            <a:endParaRPr lang="en-US" sz="1400" dirty="0"/>
          </a:p>
        </p:txBody>
      </p:sp>
      <p:sp>
        <p:nvSpPr>
          <p:cNvPr id="9" name="Text 7"/>
          <p:cNvSpPr/>
          <p:nvPr/>
        </p:nvSpPr>
        <p:spPr>
          <a:xfrm>
            <a:off x="777240" y="2103120"/>
            <a:ext cx="6400800" cy="2286000"/>
          </a:xfrm>
          <a:prstGeom prst="rect">
            <a:avLst/>
          </a:prstGeom>
          <a:noFill/>
          <a:ln/>
        </p:spPr>
        <p:txBody>
          <a:bodyPr wrap="square" lIns="0" tIns="0" rIns="0" bIns="0" rtlCol="0" anchor="ctr"/>
          <a:lstStyle/>
          <a:p>
            <a:pPr indent="0" marL="0">
              <a:spcAft>
                <a:spcPts val="500"/>
              </a:spcAft>
              <a:buNone/>
            </a:pPr>
            <a:r>
              <a:rPr lang="en-US" sz="1300" dirty="0">
                <a:solidFill>
                  <a:srgbClr val="1F2937"/>
                </a:solidFill>
                <a:latin typeface="Calibri" pitchFamily="34" charset="0"/>
                <a:ea typeface="Calibri" pitchFamily="34" charset="-122"/>
                <a:cs typeface="Calibri" pitchFamily="34" charset="-120"/>
              </a:rPr>
              <a:t>이전 세션의 정보를 마크다운 파일에 저장하고 다음 세션에서 자동 불러오는 에이전트이다. 단기/장기 기억을 분리하고, 5 턴마다 LLM 이 "기억할 가치가 있는 정보" 를 자동 추출해 저장한다. 중요도(1~5) 기반으로 검색 결과를 정렬한다.</a:t>
            </a:r>
            <a:endParaRPr lang="en-US" sz="1300" dirty="0"/>
          </a:p>
        </p:txBody>
      </p:sp>
      <p:sp>
        <p:nvSpPr>
          <p:cNvPr id="10" name="Shape 8"/>
          <p:cNvSpPr/>
          <p:nvPr/>
        </p:nvSpPr>
        <p:spPr>
          <a:xfrm>
            <a:off x="777240" y="4572000"/>
            <a:ext cx="6400800" cy="0"/>
          </a:xfrm>
          <a:prstGeom prst="line">
            <a:avLst/>
          </a:prstGeom>
          <a:noFill/>
          <a:ln w="9525">
            <a:solidFill>
              <a:srgbClr val="CBD5E1"/>
            </a:solidFill>
            <a:prstDash val="solid"/>
          </a:ln>
        </p:spPr>
      </p:sp>
      <p:sp>
        <p:nvSpPr>
          <p:cNvPr id="11" name="Text 9"/>
          <p:cNvSpPr/>
          <p:nvPr/>
        </p:nvSpPr>
        <p:spPr>
          <a:xfrm>
            <a:off x="777240" y="4663440"/>
            <a:ext cx="6400800" cy="365760"/>
          </a:xfrm>
          <a:prstGeom prst="rect">
            <a:avLst/>
          </a:prstGeom>
          <a:noFill/>
          <a:ln/>
        </p:spPr>
        <p:txBody>
          <a:bodyPr wrap="square" lIns="0" tIns="0" rIns="0" bIns="0" rtlCol="0" anchor="ctr"/>
          <a:lstStyle/>
          <a:p>
            <a:pPr indent="0" marL="0">
              <a:buNone/>
            </a:pPr>
            <a:r>
              <a:rPr lang="en-US" sz="1400" b="1" dirty="0">
                <a:solidFill>
                  <a:srgbClr val="059669"/>
                </a:solidFill>
                <a:latin typeface="Calibri" pitchFamily="34" charset="0"/>
                <a:ea typeface="Calibri" pitchFamily="34" charset="-122"/>
                <a:cs typeface="Calibri" pitchFamily="34" charset="-120"/>
              </a:rPr>
              <a:t>🎯  학습 목표</a:t>
            </a:r>
            <a:endParaRPr lang="en-US" sz="1400" dirty="0"/>
          </a:p>
        </p:txBody>
      </p:sp>
      <p:sp>
        <p:nvSpPr>
          <p:cNvPr id="12" name="Text 10"/>
          <p:cNvSpPr/>
          <p:nvPr/>
        </p:nvSpPr>
        <p:spPr>
          <a:xfrm>
            <a:off x="777240" y="5074920"/>
            <a:ext cx="6400800" cy="128016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지속적 기억, 자동 정보 추출, 마크다운 영속화.</a:t>
            </a:r>
            <a:endParaRPr lang="en-US" sz="1300" dirty="0"/>
          </a:p>
        </p:txBody>
      </p:sp>
      <p:sp>
        <p:nvSpPr>
          <p:cNvPr id="13" name="Shape 11"/>
          <p:cNvSpPr/>
          <p:nvPr/>
        </p:nvSpPr>
        <p:spPr>
          <a:xfrm>
            <a:off x="7635240" y="1554480"/>
            <a:ext cx="4114800" cy="4846320"/>
          </a:xfrm>
          <a:prstGeom prst="rect">
            <a:avLst/>
          </a:prstGeom>
          <a:solidFill>
            <a:srgbClr val="F1F5F9"/>
          </a:solidFill>
          <a:ln w="9525">
            <a:solidFill>
              <a:srgbClr val="E2E8F0"/>
            </a:solidFill>
            <a:prstDash val="solid"/>
          </a:ln>
        </p:spPr>
      </p:sp>
      <p:sp>
        <p:nvSpPr>
          <p:cNvPr id="14" name="Text 12"/>
          <p:cNvSpPr/>
          <p:nvPr/>
        </p:nvSpPr>
        <p:spPr>
          <a:xfrm>
            <a:off x="7772400" y="1691640"/>
            <a:ext cx="3840480" cy="36576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 폴더 구조</a:t>
            </a:r>
            <a:endParaRPr lang="en-US" sz="1200" dirty="0"/>
          </a:p>
        </p:txBody>
      </p:sp>
      <p:sp>
        <p:nvSpPr>
          <p:cNvPr id="15" name="Text 13"/>
          <p:cNvSpPr/>
          <p:nvPr/>
        </p:nvSpPr>
        <p:spPr>
          <a:xfrm>
            <a:off x="7772400" y="2103120"/>
            <a:ext cx="3840480" cy="4206240"/>
          </a:xfrm>
          <a:prstGeom prst="rect">
            <a:avLst/>
          </a:prstGeom>
          <a:noFill/>
          <a:ln/>
        </p:spPr>
        <p:txBody>
          <a:bodyPr wrap="square" lIns="0" tIns="0" rIns="0" bIns="0" rtlCol="0" anchor="ctr"/>
          <a:lstStyle/>
          <a:p>
            <a:pPr indent="0" marL="0">
              <a:spcAft>
                <a:spcPts val="400"/>
              </a:spcAft>
              <a:buNone/>
            </a:pPr>
            <a:r>
              <a:rPr lang="en-US" sz="1200" dirty="0">
                <a:solidFill>
                  <a:srgbClr val="0F172A"/>
                </a:solidFill>
                <a:latin typeface="Consolas" pitchFamily="34" charset="0"/>
                <a:ea typeface="Consolas" pitchFamily="34" charset="-122"/>
                <a:cs typeface="Consolas" pitchFamily="34" charset="-120"/>
              </a:rPr>
              <a:t>├─ Program.cs</a:t>
            </a:r>
            <a:endParaRPr lang="en-US" sz="1200" dirty="0"/>
          </a:p>
          <a:p>
            <a:pPr indent="0" marL="0">
              <a:spcAft>
                <a:spcPts val="400"/>
              </a:spcAft>
              <a:buNone/>
            </a:pPr>
            <a:r>
              <a:rPr lang="en-US" sz="1200" dirty="0">
                <a:solidFill>
                  <a:srgbClr val="0F172A"/>
                </a:solidFill>
                <a:latin typeface="Consolas" pitchFamily="34" charset="0"/>
                <a:ea typeface="Consolas" pitchFamily="34" charset="-122"/>
                <a:cs typeface="Consolas" pitchFamily="34" charset="-120"/>
              </a:rPr>
              <a:t>├─ Agents/MemoryAgent.cs</a:t>
            </a:r>
            <a:endParaRPr lang="en-US" sz="1200" dirty="0"/>
          </a:p>
          <a:p>
            <a:pPr indent="0" marL="0">
              <a:spcAft>
                <a:spcPts val="400"/>
              </a:spcAft>
              <a:buNone/>
            </a:pPr>
            <a:r>
              <a:rPr lang="en-US" sz="1200" dirty="0">
                <a:solidFill>
                  <a:srgbClr val="0F172A"/>
                </a:solidFill>
                <a:latin typeface="Consolas" pitchFamily="34" charset="0"/>
                <a:ea typeface="Consolas" pitchFamily="34" charset="-122"/>
                <a:cs typeface="Consolas" pitchFamily="34" charset="-120"/>
              </a:rPr>
              <a:t>├─ Services/MemoryEntry.cs</a:t>
            </a:r>
            <a:endParaRPr lang="en-US" sz="1200" dirty="0"/>
          </a:p>
          <a:p>
            <a:pPr indent="0" marL="0">
              <a:spcAft>
                <a:spcPts val="400"/>
              </a:spcAft>
              <a:buNone/>
            </a:pPr>
            <a:r>
              <a:rPr lang="en-US" sz="1200" dirty="0">
                <a:solidFill>
                  <a:srgbClr val="0F172A"/>
                </a:solidFill>
                <a:latin typeface="Consolas" pitchFamily="34" charset="0"/>
                <a:ea typeface="Consolas" pitchFamily="34" charset="-122"/>
                <a:cs typeface="Consolas" pitchFamily="34" charset="-120"/>
              </a:rPr>
              <a:t>├─ Services/MemoryStore.cs</a:t>
            </a:r>
            <a:endParaRPr lang="en-US" sz="1200" dirty="0"/>
          </a:p>
        </p:txBody>
      </p:sp>
      <p:sp>
        <p:nvSpPr>
          <p:cNvPr id="16" name="Text 14"/>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17" name="Text 15"/>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72</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463040"/>
            <a:ext cx="3657600" cy="2926080"/>
          </a:xfrm>
          <a:prstGeom prst="rect">
            <a:avLst/>
          </a:prstGeom>
          <a:noFill/>
          <a:ln/>
        </p:spPr>
        <p:txBody>
          <a:bodyPr wrap="square" lIns="0" tIns="0" rIns="0" bIns="0" rtlCol="0" anchor="ctr"/>
          <a:lstStyle/>
          <a:p>
            <a:pPr indent="0" marL="0">
              <a:buNone/>
            </a:pPr>
            <a:r>
              <a:rPr lang="en-US" sz="22000" b="1" dirty="0">
                <a:solidFill>
                  <a:srgbClr val="FED7AA"/>
                </a:solidFill>
                <a:latin typeface="Calibri" pitchFamily="34" charset="0"/>
                <a:ea typeface="Calibri" pitchFamily="34" charset="-122"/>
                <a:cs typeface="Calibri" pitchFamily="34" charset="-120"/>
              </a:rPr>
              <a:t>05</a:t>
            </a:r>
            <a:endParaRPr lang="en-US" sz="22000" dirty="0"/>
          </a:p>
        </p:txBody>
      </p:sp>
      <p:sp>
        <p:nvSpPr>
          <p:cNvPr id="3" name="Text 1"/>
          <p:cNvSpPr/>
          <p:nvPr/>
        </p:nvSpPr>
        <p:spPr>
          <a:xfrm>
            <a:off x="4389120" y="2560320"/>
            <a:ext cx="7315200" cy="365760"/>
          </a:xfrm>
          <a:prstGeom prst="rect">
            <a:avLst/>
          </a:prstGeom>
          <a:noFill/>
          <a:ln/>
        </p:spPr>
        <p:txBody>
          <a:bodyPr wrap="square" lIns="0" tIns="0" rIns="0" bIns="0" rtlCol="0" anchor="ctr"/>
          <a:lstStyle/>
          <a:p>
            <a:pPr indent="0" marL="0">
              <a:buNone/>
            </a:pPr>
            <a:r>
              <a:rPr lang="en-US" sz="1300" b="1" spc="600" kern="0" dirty="0">
                <a:solidFill>
                  <a:srgbClr val="F97316"/>
                </a:solidFill>
                <a:latin typeface="Calibri" pitchFamily="34" charset="0"/>
                <a:ea typeface="Calibri" pitchFamily="34" charset="-122"/>
                <a:cs typeface="Calibri" pitchFamily="34" charset="-120"/>
              </a:rPr>
              <a:t>CORE CONCEPT · AICONTEXTPROVIDER</a:t>
            </a:r>
            <a:endParaRPr lang="en-US" sz="1300" dirty="0"/>
          </a:p>
        </p:txBody>
      </p:sp>
      <p:sp>
        <p:nvSpPr>
          <p:cNvPr id="4" name="Text 2"/>
          <p:cNvSpPr/>
          <p:nvPr/>
        </p:nvSpPr>
        <p:spPr>
          <a:xfrm>
            <a:off x="4389120" y="2926080"/>
            <a:ext cx="7315200" cy="914400"/>
          </a:xfrm>
          <a:prstGeom prst="rect">
            <a:avLst/>
          </a:prstGeom>
          <a:noFill/>
          <a:ln/>
        </p:spPr>
        <p:txBody>
          <a:bodyPr wrap="square" lIns="0" tIns="0" rIns="0" bIns="0" rtlCol="0" anchor="ctr"/>
          <a:lstStyle/>
          <a:p>
            <a:pPr indent="0" marL="0">
              <a:buNone/>
            </a:pPr>
            <a:r>
              <a:rPr lang="en-US" sz="3800" b="1" dirty="0">
                <a:solidFill>
                  <a:srgbClr val="0F4C81"/>
                </a:solidFill>
                <a:latin typeface="Calibri" pitchFamily="34" charset="0"/>
                <a:ea typeface="Calibri" pitchFamily="34" charset="-122"/>
                <a:cs typeface="Calibri" pitchFamily="34" charset="-120"/>
              </a:rPr>
              <a:t>AIContextProvider 핵심 개념</a:t>
            </a:r>
            <a:endParaRPr lang="en-US" sz="3800" dirty="0"/>
          </a:p>
        </p:txBody>
      </p:sp>
      <p:sp>
        <p:nvSpPr>
          <p:cNvPr id="5" name="Text 3"/>
          <p:cNvSpPr/>
          <p:nvPr/>
        </p:nvSpPr>
        <p:spPr>
          <a:xfrm>
            <a:off x="4389120" y="3931920"/>
            <a:ext cx="7315200" cy="137160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MAF 의 가장 중요한 추상화 — LLM 호출의 직전과 직후에 개입해 메모리·컨텍스트·도구를 동적으로 조립하는 플러그인 메커니즘.</a:t>
            </a:r>
            <a:endParaRPr lang="en-US" sz="1400" dirty="0"/>
          </a:p>
        </p:txBody>
      </p:sp>
      <p:sp>
        <p:nvSpPr>
          <p:cNvPr id="6" name="Shape 4"/>
          <p:cNvSpPr/>
          <p:nvPr/>
        </p:nvSpPr>
        <p:spPr>
          <a:xfrm>
            <a:off x="640080" y="4754880"/>
            <a:ext cx="1371600" cy="54864"/>
          </a:xfrm>
          <a:prstGeom prst="rect">
            <a:avLst/>
          </a:prstGeom>
          <a:solidFill>
            <a:srgbClr val="F97316"/>
          </a:solidFill>
          <a:ln/>
        </p:spPr>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AICONTEXTPROVIDER · LIFECYCLE</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READ → MODEL → WRITE 의 2 단계 생명주기</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Text 4"/>
          <p:cNvSpPr/>
          <p:nvPr/>
        </p:nvSpPr>
        <p:spPr>
          <a:xfrm>
            <a:off x="548640" y="1554480"/>
            <a:ext cx="11064240" cy="91440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AIContextProvider 는 사용자 입력이 LLM 으로 전달되기 전에 컨텍스트를 "읽어서 주입" 하고, LLM 응답이 돌아온 후 변화를 감지해 "써서 저장" 합니다. 즉, 모든 대화 턴이 READ → MODEL → WRITE 의 명확한 3 단계로 진행되며 개발자는 READ 와 WRITE 단계에 훅을 끼웁니다.</a:t>
            </a:r>
            <a:endParaRPr lang="en-US" sz="1250" dirty="0"/>
          </a:p>
        </p:txBody>
      </p:sp>
      <p:sp>
        <p:nvSpPr>
          <p:cNvPr id="7" name="Shape 5"/>
          <p:cNvSpPr/>
          <p:nvPr/>
        </p:nvSpPr>
        <p:spPr>
          <a:xfrm>
            <a:off x="548640" y="2788920"/>
            <a:ext cx="2029968" cy="228600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8" name="Shape 6"/>
          <p:cNvSpPr/>
          <p:nvPr/>
        </p:nvSpPr>
        <p:spPr>
          <a:xfrm>
            <a:off x="548640" y="2788920"/>
            <a:ext cx="2029968" cy="594360"/>
          </a:xfrm>
          <a:prstGeom prst="rect">
            <a:avLst/>
          </a:prstGeom>
          <a:solidFill>
            <a:srgbClr val="64748B"/>
          </a:solidFill>
          <a:ln/>
        </p:spPr>
      </p:sp>
      <p:sp>
        <p:nvSpPr>
          <p:cNvPr id="9" name="Text 7"/>
          <p:cNvSpPr/>
          <p:nvPr/>
        </p:nvSpPr>
        <p:spPr>
          <a:xfrm>
            <a:off x="594360" y="2834640"/>
            <a:ext cx="1938528"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사용자 입력</a:t>
            </a:r>
            <a:endParaRPr lang="en-US" sz="1050" dirty="0"/>
          </a:p>
        </p:txBody>
      </p:sp>
      <p:sp>
        <p:nvSpPr>
          <p:cNvPr id="10" name="Shape 8"/>
          <p:cNvSpPr/>
          <p:nvPr/>
        </p:nvSpPr>
        <p:spPr>
          <a:xfrm>
            <a:off x="1517904" y="4023360"/>
            <a:ext cx="91440" cy="91440"/>
          </a:xfrm>
          <a:prstGeom prst="ellipse">
            <a:avLst/>
          </a:prstGeom>
          <a:solidFill>
            <a:srgbClr val="CBD5E1"/>
          </a:solidFill>
          <a:ln/>
        </p:spPr>
      </p:sp>
      <p:sp>
        <p:nvSpPr>
          <p:cNvPr id="11" name="Shape 9"/>
          <p:cNvSpPr/>
          <p:nvPr/>
        </p:nvSpPr>
        <p:spPr>
          <a:xfrm rot="5400000">
            <a:off x="2615184" y="3822192"/>
            <a:ext cx="164592" cy="219456"/>
          </a:xfrm>
          <a:prstGeom prst="rtTriangle">
            <a:avLst/>
          </a:prstGeom>
          <a:solidFill>
            <a:srgbClr val="F97316"/>
          </a:solidFill>
          <a:ln/>
        </p:spPr>
      </p:sp>
      <p:sp>
        <p:nvSpPr>
          <p:cNvPr id="12" name="Shape 10"/>
          <p:cNvSpPr/>
          <p:nvPr/>
        </p:nvSpPr>
        <p:spPr>
          <a:xfrm>
            <a:off x="2807208" y="2788920"/>
            <a:ext cx="2029968" cy="228600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3" name="Shape 11"/>
          <p:cNvSpPr/>
          <p:nvPr/>
        </p:nvSpPr>
        <p:spPr>
          <a:xfrm>
            <a:off x="2807208" y="2788920"/>
            <a:ext cx="2029968" cy="594360"/>
          </a:xfrm>
          <a:prstGeom prst="rect">
            <a:avLst/>
          </a:prstGeom>
          <a:solidFill>
            <a:srgbClr val="059669"/>
          </a:solidFill>
          <a:ln/>
        </p:spPr>
      </p:sp>
      <p:sp>
        <p:nvSpPr>
          <p:cNvPr id="14" name="Text 12"/>
          <p:cNvSpPr/>
          <p:nvPr/>
        </p:nvSpPr>
        <p:spPr>
          <a:xfrm>
            <a:off x="2852928" y="2834640"/>
            <a:ext cx="1938528"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READ Phase</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InvokingAsync (C#)</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invoking (Python)</a:t>
            </a:r>
            <a:endParaRPr lang="en-US" sz="1050" dirty="0"/>
          </a:p>
        </p:txBody>
      </p:sp>
      <p:sp>
        <p:nvSpPr>
          <p:cNvPr id="15" name="Text 13"/>
          <p:cNvSpPr/>
          <p:nvPr/>
        </p:nvSpPr>
        <p:spPr>
          <a:xfrm>
            <a:off x="2898648" y="3429000"/>
            <a:ext cx="1847088" cy="1554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메모리에서 정보 조회 → AIContext 로 Instructions/Messages/Tools 주입</a:t>
            </a:r>
            <a:endParaRPr lang="en-US" sz="1000" dirty="0"/>
          </a:p>
        </p:txBody>
      </p:sp>
      <p:sp>
        <p:nvSpPr>
          <p:cNvPr id="16" name="Shape 14"/>
          <p:cNvSpPr/>
          <p:nvPr/>
        </p:nvSpPr>
        <p:spPr>
          <a:xfrm rot="5400000">
            <a:off x="4873752" y="3822192"/>
            <a:ext cx="164592" cy="219456"/>
          </a:xfrm>
          <a:prstGeom prst="rtTriangle">
            <a:avLst/>
          </a:prstGeom>
          <a:solidFill>
            <a:srgbClr val="F97316"/>
          </a:solidFill>
          <a:ln/>
        </p:spPr>
      </p:sp>
      <p:sp>
        <p:nvSpPr>
          <p:cNvPr id="17" name="Shape 15"/>
          <p:cNvSpPr/>
          <p:nvPr/>
        </p:nvSpPr>
        <p:spPr>
          <a:xfrm>
            <a:off x="5065776" y="2788920"/>
            <a:ext cx="2029968" cy="228600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8" name="Shape 16"/>
          <p:cNvSpPr/>
          <p:nvPr/>
        </p:nvSpPr>
        <p:spPr>
          <a:xfrm>
            <a:off x="5065776" y="2788920"/>
            <a:ext cx="2029968" cy="594360"/>
          </a:xfrm>
          <a:prstGeom prst="rect">
            <a:avLst/>
          </a:prstGeom>
          <a:solidFill>
            <a:srgbClr val="0F4C81"/>
          </a:solidFill>
          <a:ln/>
        </p:spPr>
      </p:sp>
      <p:sp>
        <p:nvSpPr>
          <p:cNvPr id="19" name="Text 17"/>
          <p:cNvSpPr/>
          <p:nvPr/>
        </p:nvSpPr>
        <p:spPr>
          <a:xfrm>
            <a:off x="5111496" y="2834640"/>
            <a:ext cx="1938528"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LLM 호출</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p>
        </p:txBody>
      </p:sp>
      <p:sp>
        <p:nvSpPr>
          <p:cNvPr id="20" name="Text 18"/>
          <p:cNvSpPr/>
          <p:nvPr/>
        </p:nvSpPr>
        <p:spPr>
          <a:xfrm>
            <a:off x="5157216" y="3429000"/>
            <a:ext cx="1847088" cy="1554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주입된 컨텍스트 + 프롬프트로 추론 실행</a:t>
            </a:r>
            <a:endParaRPr lang="en-US" sz="1000" dirty="0"/>
          </a:p>
        </p:txBody>
      </p:sp>
      <p:sp>
        <p:nvSpPr>
          <p:cNvPr id="21" name="Shape 19"/>
          <p:cNvSpPr/>
          <p:nvPr/>
        </p:nvSpPr>
        <p:spPr>
          <a:xfrm rot="5400000">
            <a:off x="7132320" y="3822192"/>
            <a:ext cx="164592" cy="219456"/>
          </a:xfrm>
          <a:prstGeom prst="rtTriangle">
            <a:avLst/>
          </a:prstGeom>
          <a:solidFill>
            <a:srgbClr val="F97316"/>
          </a:solidFill>
          <a:ln/>
        </p:spPr>
      </p:sp>
      <p:sp>
        <p:nvSpPr>
          <p:cNvPr id="22" name="Shape 20"/>
          <p:cNvSpPr/>
          <p:nvPr/>
        </p:nvSpPr>
        <p:spPr>
          <a:xfrm>
            <a:off x="7324344" y="2788920"/>
            <a:ext cx="2029968" cy="228600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3" name="Shape 21"/>
          <p:cNvSpPr/>
          <p:nvPr/>
        </p:nvSpPr>
        <p:spPr>
          <a:xfrm>
            <a:off x="7324344" y="2788920"/>
            <a:ext cx="2029968" cy="594360"/>
          </a:xfrm>
          <a:prstGeom prst="rect">
            <a:avLst/>
          </a:prstGeom>
          <a:solidFill>
            <a:srgbClr val="F97316"/>
          </a:solidFill>
          <a:ln/>
        </p:spPr>
      </p:sp>
      <p:sp>
        <p:nvSpPr>
          <p:cNvPr id="24" name="Text 22"/>
          <p:cNvSpPr/>
          <p:nvPr/>
        </p:nvSpPr>
        <p:spPr>
          <a:xfrm>
            <a:off x="7370064" y="2834640"/>
            <a:ext cx="1938528"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WRITE Phase</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InvokedAsync (C#)</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invoked (Python)</a:t>
            </a:r>
            <a:endParaRPr lang="en-US" sz="1050" dirty="0"/>
          </a:p>
        </p:txBody>
      </p:sp>
      <p:sp>
        <p:nvSpPr>
          <p:cNvPr id="25" name="Text 23"/>
          <p:cNvSpPr/>
          <p:nvPr/>
        </p:nvSpPr>
        <p:spPr>
          <a:xfrm>
            <a:off x="7415784" y="3429000"/>
            <a:ext cx="1847088" cy="1554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응답 분석 → 새 정보 메모리에 저장 / 상태 갱신</a:t>
            </a:r>
            <a:endParaRPr lang="en-US" sz="1000" dirty="0"/>
          </a:p>
        </p:txBody>
      </p:sp>
      <p:sp>
        <p:nvSpPr>
          <p:cNvPr id="26" name="Shape 24"/>
          <p:cNvSpPr/>
          <p:nvPr/>
        </p:nvSpPr>
        <p:spPr>
          <a:xfrm rot="5400000">
            <a:off x="9390888" y="3822192"/>
            <a:ext cx="164592" cy="219456"/>
          </a:xfrm>
          <a:prstGeom prst="rtTriangle">
            <a:avLst/>
          </a:prstGeom>
          <a:solidFill>
            <a:srgbClr val="F97316"/>
          </a:solidFill>
          <a:ln/>
        </p:spPr>
      </p:sp>
      <p:sp>
        <p:nvSpPr>
          <p:cNvPr id="27" name="Shape 25"/>
          <p:cNvSpPr/>
          <p:nvPr/>
        </p:nvSpPr>
        <p:spPr>
          <a:xfrm>
            <a:off x="9582912" y="2788920"/>
            <a:ext cx="2029968" cy="228600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8" name="Shape 26"/>
          <p:cNvSpPr/>
          <p:nvPr/>
        </p:nvSpPr>
        <p:spPr>
          <a:xfrm>
            <a:off x="9582912" y="2788920"/>
            <a:ext cx="2029968" cy="594360"/>
          </a:xfrm>
          <a:prstGeom prst="rect">
            <a:avLst/>
          </a:prstGeom>
          <a:solidFill>
            <a:srgbClr val="64748B"/>
          </a:solidFill>
          <a:ln/>
        </p:spPr>
      </p:sp>
      <p:sp>
        <p:nvSpPr>
          <p:cNvPr id="29" name="Text 27"/>
          <p:cNvSpPr/>
          <p:nvPr/>
        </p:nvSpPr>
        <p:spPr>
          <a:xfrm>
            <a:off x="9628632" y="2834640"/>
            <a:ext cx="1938528"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에이전트 응답</a:t>
            </a:r>
            <a:endParaRPr lang="en-US" sz="1050" dirty="0"/>
          </a:p>
        </p:txBody>
      </p:sp>
      <p:sp>
        <p:nvSpPr>
          <p:cNvPr id="30" name="Shape 28"/>
          <p:cNvSpPr/>
          <p:nvPr/>
        </p:nvSpPr>
        <p:spPr>
          <a:xfrm>
            <a:off x="10552176" y="4023360"/>
            <a:ext cx="91440" cy="91440"/>
          </a:xfrm>
          <a:prstGeom prst="ellipse">
            <a:avLst/>
          </a:prstGeom>
          <a:solidFill>
            <a:srgbClr val="CBD5E1"/>
          </a:solidFill>
          <a:ln/>
        </p:spPr>
      </p:sp>
      <p:sp>
        <p:nvSpPr>
          <p:cNvPr id="31" name="Text 29"/>
          <p:cNvSpPr/>
          <p:nvPr/>
        </p:nvSpPr>
        <p:spPr>
          <a:xfrm>
            <a:off x="548640" y="5669280"/>
            <a:ext cx="11064240" cy="36576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  Python SDK 에는 추가로 thread_created 메서드가 있어 새 대화 스레드 생성 시 외부 저장소에서 관련 데이터를 미리 불러올 수 있습니다.</a:t>
            </a:r>
            <a:endParaRPr lang="en-US" sz="1100" dirty="0"/>
          </a:p>
        </p:txBody>
      </p:sp>
      <p:sp>
        <p:nvSpPr>
          <p:cNvPr id="32" name="Text 30"/>
          <p:cNvSpPr/>
          <p:nvPr/>
        </p:nvSpPr>
        <p:spPr>
          <a:xfrm>
            <a:off x="548640" y="6035040"/>
            <a:ext cx="11064240" cy="365760"/>
          </a:xfrm>
          <a:prstGeom prst="rect">
            <a:avLst/>
          </a:prstGeom>
          <a:noFill/>
          <a:ln/>
        </p:spPr>
        <p:txBody>
          <a:bodyPr wrap="square" lIns="0" tIns="0" rIns="0" bIns="0" rtlCol="0" anchor="ctr"/>
          <a:lstStyle/>
          <a:p>
            <a:pPr indent="0" marL="0">
              <a:buNone/>
            </a:pPr>
            <a:r>
              <a:rPr lang="en-US" sz="1100" b="1" dirty="0">
                <a:solidFill>
                  <a:srgbClr val="0F4C81"/>
                </a:solidFill>
                <a:latin typeface="Calibri" pitchFamily="34" charset="0"/>
                <a:ea typeface="Calibri" pitchFamily="34" charset="-122"/>
                <a:cs typeface="Calibri" pitchFamily="34" charset="-120"/>
              </a:rPr>
              <a:t>AIContext (C#) / Context (Python) 객체에 담아 반환하는 3 가지 ─ Instructions(시스템 프롬프트 추가) · Messages(추가 메시지) · Tools(이번 턴에만 쓸 도구) ─ 이 핵심입니다.</a:t>
            </a:r>
            <a:endParaRPr lang="en-US" sz="1100" dirty="0"/>
          </a:p>
        </p:txBody>
      </p:sp>
      <p:sp>
        <p:nvSpPr>
          <p:cNvPr id="33" name="Text 3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34" name="Text 3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74</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AICONTEXTPROVIDER · DYNAMIC TOOLS</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동적 Function Tool 제공 — "매 턴마다 다른 도구"</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Text 4"/>
          <p:cNvSpPr/>
          <p:nvPr/>
        </p:nvSpPr>
        <p:spPr>
          <a:xfrm>
            <a:off x="548640" y="1554480"/>
            <a:ext cx="11064240" cy="91440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기본적으로 도구는 정적으로 등록됩니다. 하지만 도구가 50~100 개 이상이거나, 사용자 역할·대화 단계별로 노출 도구가 달라야 한다면 정적 등록은 한계에 부딪힙니다. AIContextProvider 의 Tools 속성은 "매 대화 턴마다 다른 도구 목록" 을 동적으로 LLM 에 공급할 수 있게 해주는 핵심 기능입니다.</a:t>
            </a:r>
            <a:endParaRPr lang="en-US" sz="1200" dirty="0"/>
          </a:p>
        </p:txBody>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548640" y="2606040"/>
          <a:ext cx="6858000" cy="3200400"/>
        </p:xfrm>
        <a:graphic>
          <a:graphicData uri="http://schemas.openxmlformats.org/drawingml/2006/table">
            <a:tbl>
              <a:tblPr/>
              <a:tblGrid>
                <a:gridCol w="1645920"/>
                <a:gridCol w="2377440"/>
                <a:gridCol w="2834640"/>
              </a:tblGrid>
              <a:tr h="457200">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비교 항목</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4C81"/>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정적 도구 등록</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64748B"/>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AIContextProvider 동적 도구</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97316"/>
                    </a:solidFill>
                  </a:tcPr>
                </a:tc>
              </a:tr>
              <a:tr h="45720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도구 결정 시점</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에이전트 생성 시 고정</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매 턴(turn) 마다 결정</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5720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사용자 역할 반영</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불가</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가능</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5720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토큰 효율</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항상 전체 도구 전달</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필요한 도구만 선택 전달</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5720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대화 흐름 연동</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불가</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상태에 따라 단계별 활성화</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5720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보안 제어</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런타임 제어 불가</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권한에 따라 실시간 제어</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5720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도구 수 확장성</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소규모에 적합</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수백 개 이상도 대응 가능</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8" name="Shape 5"/>
          <p:cNvSpPr/>
          <p:nvPr/>
        </p:nvSpPr>
        <p:spPr>
          <a:xfrm>
            <a:off x="7680960" y="2606040"/>
            <a:ext cx="4023360" cy="3566160"/>
          </a:xfrm>
          <a:prstGeom prst="rect">
            <a:avLst/>
          </a:prstGeom>
          <a:solidFill>
            <a:srgbClr val="F8FAFC"/>
          </a:solidFill>
          <a:ln w="9525">
            <a:solidFill>
              <a:srgbClr val="E2E8F0"/>
            </a:solidFill>
            <a:prstDash val="solid"/>
          </a:ln>
        </p:spPr>
      </p:sp>
      <p:sp>
        <p:nvSpPr>
          <p:cNvPr id="9" name="Text 6"/>
          <p:cNvSpPr/>
          <p:nvPr/>
        </p:nvSpPr>
        <p:spPr>
          <a:xfrm>
            <a:off x="7818120" y="2697480"/>
            <a:ext cx="3749040" cy="36576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핵심 활용 시나리오 3가지</a:t>
            </a:r>
            <a:endParaRPr lang="en-US" sz="1300" dirty="0"/>
          </a:p>
        </p:txBody>
      </p:sp>
      <p:sp>
        <p:nvSpPr>
          <p:cNvPr id="10" name="Text 7"/>
          <p:cNvSpPr/>
          <p:nvPr/>
        </p:nvSpPr>
        <p:spPr>
          <a:xfrm>
            <a:off x="7818120" y="3108960"/>
            <a:ext cx="3749040" cy="3017520"/>
          </a:xfrm>
          <a:prstGeom prst="rect">
            <a:avLst/>
          </a:prstGeom>
          <a:noFill/>
          <a:ln/>
        </p:spPr>
        <p:txBody>
          <a:bodyPr wrap="square" lIns="0" tIns="0" rIns="0" bIns="0" rtlCol="0" anchor="ctr"/>
          <a:lstStyle/>
          <a:p>
            <a:pPr indent="0" marL="0">
              <a:spcAft>
                <a:spcPts val="400"/>
              </a:spcAft>
              <a:buNone/>
            </a:pPr>
            <a:r>
              <a:rPr lang="en-US" sz="1100" b="1" dirty="0">
                <a:solidFill>
                  <a:srgbClr val="F97316"/>
                </a:solidFill>
                <a:latin typeface="Calibri" pitchFamily="34" charset="0"/>
                <a:ea typeface="Calibri" pitchFamily="34" charset="-122"/>
                <a:cs typeface="Calibri" pitchFamily="34" charset="-120"/>
              </a:rPr>
              <a:t>🔐  사용자 역할 기반 제어</a:t>
            </a:r>
            <a:endParaRPr lang="en-US" sz="11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    Admin 에게는 삭제 도구, User 에게는 조회만.</a:t>
            </a:r>
            <a:endParaRPr lang="en-US" sz="1100" dirty="0"/>
          </a:p>
          <a:p>
            <a:pPr indent="0" marL="0">
              <a:spcAft>
                <a:spcPts val="400"/>
              </a:spcAft>
              <a:buNone/>
            </a:pPr>
            <a:r>
              <a:rPr lang="en-US" sz="1100" b="1" dirty="0">
                <a:solidFill>
                  <a:srgbClr val="F97316"/>
                </a:solidFill>
                <a:latin typeface="Calibri" pitchFamily="34" charset="0"/>
                <a:ea typeface="Calibri" pitchFamily="34" charset="-122"/>
                <a:cs typeface="Calibri" pitchFamily="34" charset="-120"/>
              </a:rPr>
              <a:t>🎬  대화 단계별 활성화</a:t>
            </a:r>
            <a:endParaRPr lang="en-US" sz="11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    상품 선택→결제→영수증 단계마다 다른 도구.</a:t>
            </a:r>
            <a:endParaRPr lang="en-US" sz="1100" dirty="0"/>
          </a:p>
          <a:p>
            <a:pPr indent="0" marL="0">
              <a:spcAft>
                <a:spcPts val="400"/>
              </a:spcAft>
              <a:buNone/>
            </a:pPr>
            <a:r>
              <a:rPr lang="en-US" sz="1100" b="1" dirty="0">
                <a:solidFill>
                  <a:srgbClr val="F97316"/>
                </a:solidFill>
                <a:latin typeface="Calibri" pitchFamily="34" charset="0"/>
                <a:ea typeface="Calibri" pitchFamily="34" charset="-122"/>
                <a:cs typeface="Calibri" pitchFamily="34" charset="-120"/>
              </a:rPr>
              <a:t>🔍  RAG 기반 동적 선택</a:t>
            </a:r>
            <a:endParaRPr lang="en-US" sz="11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    ContextualFunctionProvider 가 100개 도구 중 관련 5개만 선별.</a:t>
            </a:r>
            <a:endParaRPr lang="en-US" sz="1100" dirty="0"/>
          </a:p>
        </p:txBody>
      </p:sp>
      <p:sp>
        <p:nvSpPr>
          <p:cNvPr id="11" name="Text 8"/>
          <p:cNvSpPr/>
          <p:nvPr/>
        </p:nvSpPr>
        <p:spPr>
          <a:xfrm>
            <a:off x="548640" y="5989320"/>
            <a:ext cx="11064240" cy="365760"/>
          </a:xfrm>
          <a:prstGeom prst="rect">
            <a:avLst/>
          </a:prstGeom>
          <a:noFill/>
          <a:ln/>
        </p:spPr>
        <p:txBody>
          <a:bodyPr wrap="square" lIns="0" tIns="0" rIns="0" bIns="0" rtlCol="0" anchor="ctr"/>
          <a:lstStyle/>
          <a:p>
            <a:pPr algn="ctr" indent="0" marL="0">
              <a:buNone/>
            </a:pPr>
            <a:r>
              <a:rPr lang="en-US" sz="1100" b="1" i="1" dirty="0">
                <a:solidFill>
                  <a:srgbClr val="0F4C81"/>
                </a:solidFill>
                <a:latin typeface="Calibri" pitchFamily="34" charset="0"/>
                <a:ea typeface="Calibri" pitchFamily="34" charset="-122"/>
                <a:cs typeface="Calibri" pitchFamily="34" charset="-120"/>
              </a:rPr>
              <a:t>🔑 "어떤 도구가 있는가" 를 넘어 "지금 이 대화에서 어떤 도구가 필요한가" 를 런타임에 결정할 수 있게 해주는 메커니즘입니다.</a:t>
            </a:r>
            <a:endParaRPr lang="en-US" sz="1100" dirty="0"/>
          </a:p>
        </p:txBody>
      </p:sp>
      <p:sp>
        <p:nvSpPr>
          <p:cNvPr id="12" name="Text 9"/>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13" name="Text 10"/>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75</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463040"/>
            <a:ext cx="3657600" cy="2926080"/>
          </a:xfrm>
          <a:prstGeom prst="rect">
            <a:avLst/>
          </a:prstGeom>
          <a:noFill/>
          <a:ln/>
        </p:spPr>
        <p:txBody>
          <a:bodyPr wrap="square" lIns="0" tIns="0" rIns="0" bIns="0" rtlCol="0" anchor="ctr"/>
          <a:lstStyle/>
          <a:p>
            <a:pPr indent="0" marL="0">
              <a:buNone/>
            </a:pPr>
            <a:r>
              <a:rPr lang="en-US" sz="22000" b="1" dirty="0">
                <a:solidFill>
                  <a:srgbClr val="FED7AA"/>
                </a:solidFill>
                <a:latin typeface="Calibri" pitchFamily="34" charset="0"/>
                <a:ea typeface="Calibri" pitchFamily="34" charset="-122"/>
                <a:cs typeface="Calibri" pitchFamily="34" charset="-120"/>
              </a:rPr>
              <a:t>06</a:t>
            </a:r>
            <a:endParaRPr lang="en-US" sz="22000" dirty="0"/>
          </a:p>
        </p:txBody>
      </p:sp>
      <p:sp>
        <p:nvSpPr>
          <p:cNvPr id="3" name="Text 1"/>
          <p:cNvSpPr/>
          <p:nvPr/>
        </p:nvSpPr>
        <p:spPr>
          <a:xfrm>
            <a:off x="4389120" y="2560320"/>
            <a:ext cx="7315200" cy="365760"/>
          </a:xfrm>
          <a:prstGeom prst="rect">
            <a:avLst/>
          </a:prstGeom>
          <a:noFill/>
          <a:ln/>
        </p:spPr>
        <p:txBody>
          <a:bodyPr wrap="square" lIns="0" tIns="0" rIns="0" bIns="0" rtlCol="0" anchor="ctr"/>
          <a:lstStyle/>
          <a:p>
            <a:pPr indent="0" marL="0">
              <a:buNone/>
            </a:pPr>
            <a:r>
              <a:rPr lang="en-US" sz="1300" b="1" spc="600" kern="0" dirty="0">
                <a:solidFill>
                  <a:srgbClr val="F97316"/>
                </a:solidFill>
                <a:latin typeface="Calibri" pitchFamily="34" charset="0"/>
                <a:ea typeface="Calibri" pitchFamily="34" charset="-122"/>
                <a:cs typeface="Calibri" pitchFamily="34" charset="-120"/>
              </a:rPr>
              <a:t>SRC2 TRACK · 11 PROGRESSIVE STAGES</a:t>
            </a:r>
            <a:endParaRPr lang="en-US" sz="1300" dirty="0"/>
          </a:p>
        </p:txBody>
      </p:sp>
      <p:sp>
        <p:nvSpPr>
          <p:cNvPr id="4" name="Text 2"/>
          <p:cNvSpPr/>
          <p:nvPr/>
        </p:nvSpPr>
        <p:spPr>
          <a:xfrm>
            <a:off x="4389120" y="2926080"/>
            <a:ext cx="7315200" cy="914400"/>
          </a:xfrm>
          <a:prstGeom prst="rect">
            <a:avLst/>
          </a:prstGeom>
          <a:noFill/>
          <a:ln/>
        </p:spPr>
        <p:txBody>
          <a:bodyPr wrap="square" lIns="0" tIns="0" rIns="0" bIns="0" rtlCol="0" anchor="ctr"/>
          <a:lstStyle/>
          <a:p>
            <a:pPr indent="0" marL="0">
              <a:buNone/>
            </a:pPr>
            <a:r>
              <a:rPr lang="en-US" sz="3800" b="1" dirty="0">
                <a:solidFill>
                  <a:srgbClr val="0F4C81"/>
                </a:solidFill>
                <a:latin typeface="Calibri" pitchFamily="34" charset="0"/>
                <a:ea typeface="Calibri" pitchFamily="34" charset="-122"/>
                <a:cs typeface="Calibri" pitchFamily="34" charset="-120"/>
              </a:rPr>
              <a:t>src2 트랙: OpenClaw 11 단계</a:t>
            </a:r>
            <a:endParaRPr lang="en-US" sz="3800" dirty="0"/>
          </a:p>
        </p:txBody>
      </p:sp>
      <p:sp>
        <p:nvSpPr>
          <p:cNvPr id="5" name="Text 3"/>
          <p:cNvSpPr/>
          <p:nvPr/>
        </p:nvSpPr>
        <p:spPr>
          <a:xfrm>
            <a:off x="4389120" y="3931920"/>
            <a:ext cx="7315200" cy="137160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콘솔 → 단일/복수 Tool → WebChat → Telegram → 메모리 → 멀티에이전트 → 브라우저 → Canvas → 음성 → 게이트웨이까지, 작은 코드에서 큰 코드로 자연스럽게 진화.</a:t>
            </a:r>
            <a:endParaRPr lang="en-US" sz="1400" dirty="0"/>
          </a:p>
        </p:txBody>
      </p:sp>
      <p:sp>
        <p:nvSpPr>
          <p:cNvPr id="6" name="Shape 4"/>
          <p:cNvSpPr/>
          <p:nvPr/>
        </p:nvSpPr>
        <p:spPr>
          <a:xfrm>
            <a:off x="640080" y="4754880"/>
            <a:ext cx="1371600" cy="54864"/>
          </a:xfrm>
          <a:prstGeom prst="rect">
            <a:avLst/>
          </a:prstGeom>
          <a:solidFill>
            <a:srgbClr val="F97316"/>
          </a:solidFill>
          <a:ln/>
        </p:spPr>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SRC2 · STAGE 01</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Hello Agent</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94944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59669"/>
          </a:solidFill>
          <a:ln/>
        </p:spPr>
      </p:sp>
      <p:sp>
        <p:nvSpPr>
          <p:cNvPr id="8" name="Shape 6"/>
          <p:cNvSpPr/>
          <p:nvPr/>
        </p:nvSpPr>
        <p:spPr>
          <a:xfrm>
            <a:off x="777240" y="1691640"/>
            <a:ext cx="1371600" cy="365760"/>
          </a:xfrm>
          <a:prstGeom prst="roundRect">
            <a:avLst>
              <a:gd name="adj" fmla="val 12500"/>
            </a:avLst>
          </a:prstGeom>
          <a:solidFill>
            <a:srgbClr val="059669"/>
          </a:solidFill>
          <a:ln/>
        </p:spPr>
      </p:sp>
      <p:sp>
        <p:nvSpPr>
          <p:cNvPr id="9" name="Text 7"/>
          <p:cNvSpPr/>
          <p:nvPr/>
        </p:nvSpPr>
        <p:spPr>
          <a:xfrm>
            <a:off x="777240" y="1691640"/>
            <a:ext cx="13716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Stage 01</a:t>
            </a:r>
            <a:endParaRPr lang="en-US" sz="1200" dirty="0"/>
          </a:p>
        </p:txBody>
      </p:sp>
      <p:sp>
        <p:nvSpPr>
          <p:cNvPr id="10" name="Text 8"/>
          <p:cNvSpPr/>
          <p:nvPr/>
        </p:nvSpPr>
        <p:spPr>
          <a:xfrm>
            <a:off x="2240280" y="1691640"/>
            <a:ext cx="502920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TextAgent</a:t>
            </a:r>
            <a:endParaRPr lang="en-US" sz="1400" dirty="0"/>
          </a:p>
        </p:txBody>
      </p:sp>
      <p:sp>
        <p:nvSpPr>
          <p:cNvPr id="11" name="Text 9"/>
          <p:cNvSpPr/>
          <p:nvPr/>
        </p:nvSpPr>
        <p:spPr>
          <a:xfrm>
            <a:off x="777240" y="2240280"/>
            <a:ext cx="6400800" cy="365760"/>
          </a:xfrm>
          <a:prstGeom prst="rect">
            <a:avLst/>
          </a:prstGeom>
          <a:noFill/>
          <a:ln/>
        </p:spPr>
        <p:txBody>
          <a:bodyPr wrap="square" lIns="0" tIns="0" rIns="0" bIns="0" rtlCol="0" anchor="ctr"/>
          <a:lstStyle/>
          <a:p>
            <a:pPr indent="0" marL="0">
              <a:buNone/>
            </a:pPr>
            <a:r>
              <a:rPr lang="en-US" sz="1400" b="1" dirty="0">
                <a:solidFill>
                  <a:srgbClr val="059669"/>
                </a:solidFill>
                <a:latin typeface="Calibri" pitchFamily="34" charset="0"/>
                <a:ea typeface="Calibri" pitchFamily="34" charset="-122"/>
                <a:cs typeface="Calibri" pitchFamily="34" charset="-120"/>
              </a:rPr>
              <a:t>📌  이 단계는</a:t>
            </a:r>
            <a:endParaRPr lang="en-US" sz="1400" dirty="0"/>
          </a:p>
        </p:txBody>
      </p:sp>
      <p:sp>
        <p:nvSpPr>
          <p:cNvPr id="12" name="Text 10"/>
          <p:cNvSpPr/>
          <p:nvPr/>
        </p:nvSpPr>
        <p:spPr>
          <a:xfrm>
            <a:off x="777240" y="2651760"/>
            <a:ext cx="6400800" cy="2103120"/>
          </a:xfrm>
          <a:prstGeom prst="rect">
            <a:avLst/>
          </a:prstGeom>
          <a:noFill/>
          <a:ln/>
        </p:spPr>
        <p:txBody>
          <a:bodyPr wrap="square" lIns="0" tIns="0" rIns="0" bIns="0" rtlCol="0" anchor="ctr"/>
          <a:lstStyle/>
          <a:p>
            <a:pPr indent="0" marL="0">
              <a:spcAft>
                <a:spcPts val="500"/>
              </a:spcAft>
              <a:buNone/>
            </a:pPr>
            <a:r>
              <a:rPr lang="en-US" sz="1250" dirty="0">
                <a:solidFill>
                  <a:srgbClr val="1F2937"/>
                </a:solidFill>
                <a:latin typeface="Calibri" pitchFamily="34" charset="0"/>
                <a:ea typeface="Calibri" pitchFamily="34" charset="-122"/>
                <a:cs typeface="Calibri" pitchFamily="34" charset="-120"/>
              </a:rPr>
              <a:t>src2 트랙의 시작점이다. IChatClient.GetResponseAsync() 라는 가장 짧은 골격으로 콘솔에서 LLM 과 1:1 대화를 주고받는다. 모든 후속 단계의 기반이 된다.</a:t>
            </a:r>
            <a:endParaRPr lang="en-US" sz="1250" dirty="0"/>
          </a:p>
        </p:txBody>
      </p:sp>
      <p:sp>
        <p:nvSpPr>
          <p:cNvPr id="13" name="Shape 11"/>
          <p:cNvSpPr/>
          <p:nvPr/>
        </p:nvSpPr>
        <p:spPr>
          <a:xfrm>
            <a:off x="777240" y="4937760"/>
            <a:ext cx="6400800" cy="0"/>
          </a:xfrm>
          <a:prstGeom prst="line">
            <a:avLst/>
          </a:prstGeom>
          <a:noFill/>
          <a:ln w="9525">
            <a:solidFill>
              <a:srgbClr val="CBD5E1"/>
            </a:solidFill>
            <a:prstDash val="solid"/>
          </a:ln>
        </p:spPr>
      </p:sp>
      <p:sp>
        <p:nvSpPr>
          <p:cNvPr id="14" name="Text 12"/>
          <p:cNvSpPr/>
          <p:nvPr/>
        </p:nvSpPr>
        <p:spPr>
          <a:xfrm>
            <a:off x="777240" y="5029200"/>
            <a:ext cx="640080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40080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MAF 기본 메시징, IChatClient 사용법.</a:t>
            </a:r>
            <a:endParaRPr lang="en-US" sz="1200" dirty="0"/>
          </a:p>
        </p:txBody>
      </p:sp>
      <p:sp>
        <p:nvSpPr>
          <p:cNvPr id="16" name="Shape 14"/>
          <p:cNvSpPr/>
          <p:nvPr/>
        </p:nvSpPr>
        <p:spPr>
          <a:xfrm>
            <a:off x="7635240" y="1554480"/>
            <a:ext cx="4114800" cy="2468880"/>
          </a:xfrm>
          <a:prstGeom prst="rect">
            <a:avLst/>
          </a:prstGeom>
          <a:solidFill>
            <a:srgbClr val="F1F5F9"/>
          </a:solidFill>
          <a:ln w="9525">
            <a:solidFill>
              <a:srgbClr val="E2E8F0"/>
            </a:solidFill>
            <a:prstDash val="solid"/>
          </a:ln>
        </p:spPr>
      </p:sp>
      <p:sp>
        <p:nvSpPr>
          <p:cNvPr id="17" name="Text 15"/>
          <p:cNvSpPr/>
          <p:nvPr/>
        </p:nvSpPr>
        <p:spPr>
          <a:xfrm>
            <a:off x="7772400" y="1691640"/>
            <a:ext cx="384048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 구조</a:t>
            </a:r>
            <a:endParaRPr lang="en-US" sz="1200" dirty="0"/>
          </a:p>
        </p:txBody>
      </p:sp>
      <p:sp>
        <p:nvSpPr>
          <p:cNvPr id="18" name="Text 16"/>
          <p:cNvSpPr/>
          <p:nvPr/>
        </p:nvSpPr>
        <p:spPr>
          <a:xfrm>
            <a:off x="7772400" y="2057400"/>
            <a:ext cx="384048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Stage01_TextAgent.csproj</a:t>
            </a:r>
            <a:endParaRPr lang="en-US" sz="1100" dirty="0"/>
          </a:p>
        </p:txBody>
      </p:sp>
      <p:sp>
        <p:nvSpPr>
          <p:cNvPr id="19" name="Shape 17"/>
          <p:cNvSpPr/>
          <p:nvPr/>
        </p:nvSpPr>
        <p:spPr>
          <a:xfrm>
            <a:off x="7635240" y="4160520"/>
            <a:ext cx="411480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635240" y="4160520"/>
            <a:ext cx="4114800" cy="457200"/>
          </a:xfrm>
          <a:prstGeom prst="rect">
            <a:avLst/>
          </a:prstGeom>
          <a:solidFill>
            <a:srgbClr val="0F4C81"/>
          </a:solidFill>
          <a:ln/>
        </p:spPr>
      </p:sp>
      <p:sp>
        <p:nvSpPr>
          <p:cNvPr id="21" name="Text 19"/>
          <p:cNvSpPr/>
          <p:nvPr/>
        </p:nvSpPr>
        <p:spPr>
          <a:xfrm>
            <a:off x="7772400" y="4160520"/>
            <a:ext cx="384048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772400" y="4709160"/>
            <a:ext cx="3840480" cy="1600200"/>
          </a:xfrm>
          <a:prstGeom prst="rect">
            <a:avLst/>
          </a:prstGeom>
          <a:noFill/>
          <a:ln/>
        </p:spPr>
        <p:txBody>
          <a:bodyPr wrap="square" lIns="0" tIns="0" rIns="0" bIns="0" rtlCol="0" anchor="ctr"/>
          <a:lstStyle/>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You: 안녕</a:t>
            </a:r>
            <a:endParaRPr lang="en-US" sz="1100" dirty="0"/>
          </a:p>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Agent: 안녕하세요! 무엇을 도와드릴까요?</a:t>
            </a:r>
            <a:endParaRPr lang="en-US" sz="110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77</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SRC2 · STAGE 02</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단일 Tool 사용</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94944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078D4"/>
          </a:solidFill>
          <a:ln/>
        </p:spPr>
      </p:sp>
      <p:sp>
        <p:nvSpPr>
          <p:cNvPr id="8" name="Shape 6"/>
          <p:cNvSpPr/>
          <p:nvPr/>
        </p:nvSpPr>
        <p:spPr>
          <a:xfrm>
            <a:off x="777240" y="1691640"/>
            <a:ext cx="1371600" cy="365760"/>
          </a:xfrm>
          <a:prstGeom prst="roundRect">
            <a:avLst>
              <a:gd name="adj" fmla="val 12500"/>
            </a:avLst>
          </a:prstGeom>
          <a:solidFill>
            <a:srgbClr val="0078D4"/>
          </a:solidFill>
          <a:ln/>
        </p:spPr>
      </p:sp>
      <p:sp>
        <p:nvSpPr>
          <p:cNvPr id="9" name="Text 7"/>
          <p:cNvSpPr/>
          <p:nvPr/>
        </p:nvSpPr>
        <p:spPr>
          <a:xfrm>
            <a:off x="777240" y="1691640"/>
            <a:ext cx="13716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Stage 02</a:t>
            </a:r>
            <a:endParaRPr lang="en-US" sz="1200" dirty="0"/>
          </a:p>
        </p:txBody>
      </p:sp>
      <p:sp>
        <p:nvSpPr>
          <p:cNvPr id="10" name="Text 8"/>
          <p:cNvSpPr/>
          <p:nvPr/>
        </p:nvSpPr>
        <p:spPr>
          <a:xfrm>
            <a:off x="2240280" y="1691640"/>
            <a:ext cx="502920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SingleTool</a:t>
            </a:r>
            <a:endParaRPr lang="en-US" sz="1400" dirty="0"/>
          </a:p>
        </p:txBody>
      </p:sp>
      <p:sp>
        <p:nvSpPr>
          <p:cNvPr id="11" name="Text 9"/>
          <p:cNvSpPr/>
          <p:nvPr/>
        </p:nvSpPr>
        <p:spPr>
          <a:xfrm>
            <a:off x="777240" y="2240280"/>
            <a:ext cx="6400800" cy="365760"/>
          </a:xfrm>
          <a:prstGeom prst="rect">
            <a:avLst/>
          </a:prstGeom>
          <a:noFill/>
          <a:ln/>
        </p:spPr>
        <p:txBody>
          <a:bodyPr wrap="square" lIns="0" tIns="0" rIns="0" bIns="0" rtlCol="0" anchor="ctr"/>
          <a:lstStyle/>
          <a:p>
            <a:pPr indent="0" marL="0">
              <a:buNone/>
            </a:pPr>
            <a:r>
              <a:rPr lang="en-US" sz="1400" b="1" dirty="0">
                <a:solidFill>
                  <a:srgbClr val="0078D4"/>
                </a:solidFill>
                <a:latin typeface="Calibri" pitchFamily="34" charset="0"/>
                <a:ea typeface="Calibri" pitchFamily="34" charset="-122"/>
                <a:cs typeface="Calibri" pitchFamily="34" charset="-120"/>
              </a:rPr>
              <a:t>📌  이 단계는</a:t>
            </a:r>
            <a:endParaRPr lang="en-US" sz="1400" dirty="0"/>
          </a:p>
        </p:txBody>
      </p:sp>
      <p:sp>
        <p:nvSpPr>
          <p:cNvPr id="12" name="Text 10"/>
          <p:cNvSpPr/>
          <p:nvPr/>
        </p:nvSpPr>
        <p:spPr>
          <a:xfrm>
            <a:off x="777240" y="2651760"/>
            <a:ext cx="6400800" cy="2103120"/>
          </a:xfrm>
          <a:prstGeom prst="rect">
            <a:avLst/>
          </a:prstGeom>
          <a:noFill/>
          <a:ln/>
        </p:spPr>
        <p:txBody>
          <a:bodyPr wrap="square" lIns="0" tIns="0" rIns="0" bIns="0" rtlCol="0" anchor="ctr"/>
          <a:lstStyle/>
          <a:p>
            <a:pPr indent="0" marL="0">
              <a:spcAft>
                <a:spcPts val="500"/>
              </a:spcAft>
              <a:buNone/>
            </a:pPr>
            <a:r>
              <a:rPr lang="en-US" sz="1250" dirty="0">
                <a:solidFill>
                  <a:srgbClr val="1F2937"/>
                </a:solidFill>
                <a:latin typeface="Calibri" pitchFamily="34" charset="0"/>
                <a:ea typeface="Calibri" pitchFamily="34" charset="-122"/>
                <a:cs typeface="Calibri" pitchFamily="34" charset="-120"/>
              </a:rPr>
              <a:t>날씨 조회 Tool 1 개를 등록해 자연어 질문에 LLM 이 자동으로 함수를 호출하도록 한다. ToolAttribute 와 ToolResult 처리의 기초이다.</a:t>
            </a:r>
            <a:endParaRPr lang="en-US" sz="1250" dirty="0"/>
          </a:p>
        </p:txBody>
      </p:sp>
      <p:sp>
        <p:nvSpPr>
          <p:cNvPr id="13" name="Shape 11"/>
          <p:cNvSpPr/>
          <p:nvPr/>
        </p:nvSpPr>
        <p:spPr>
          <a:xfrm>
            <a:off x="777240" y="4937760"/>
            <a:ext cx="6400800" cy="0"/>
          </a:xfrm>
          <a:prstGeom prst="line">
            <a:avLst/>
          </a:prstGeom>
          <a:noFill/>
          <a:ln w="9525">
            <a:solidFill>
              <a:srgbClr val="CBD5E1"/>
            </a:solidFill>
            <a:prstDash val="solid"/>
          </a:ln>
        </p:spPr>
      </p:sp>
      <p:sp>
        <p:nvSpPr>
          <p:cNvPr id="14" name="Text 12"/>
          <p:cNvSpPr/>
          <p:nvPr/>
        </p:nvSpPr>
        <p:spPr>
          <a:xfrm>
            <a:off x="777240" y="5029200"/>
            <a:ext cx="6400800" cy="320040"/>
          </a:xfrm>
          <a:prstGeom prst="rect">
            <a:avLst/>
          </a:prstGeom>
          <a:noFill/>
          <a:ln/>
        </p:spPr>
        <p:txBody>
          <a:bodyPr wrap="square" lIns="0" tIns="0" rIns="0" bIns="0" rtlCol="0" anchor="ctr"/>
          <a:lstStyle/>
          <a:p>
            <a:pPr indent="0" marL="0">
              <a:buNone/>
            </a:pPr>
            <a:r>
              <a:rPr lang="en-US" sz="1300" b="1" dirty="0">
                <a:solidFill>
                  <a:srgbClr val="0078D4"/>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40080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Function Calling 의 기본 흐름.</a:t>
            </a:r>
            <a:endParaRPr lang="en-US" sz="1200" dirty="0"/>
          </a:p>
        </p:txBody>
      </p:sp>
      <p:sp>
        <p:nvSpPr>
          <p:cNvPr id="16" name="Shape 14"/>
          <p:cNvSpPr/>
          <p:nvPr/>
        </p:nvSpPr>
        <p:spPr>
          <a:xfrm>
            <a:off x="7635240" y="1554480"/>
            <a:ext cx="4114800" cy="2468880"/>
          </a:xfrm>
          <a:prstGeom prst="rect">
            <a:avLst/>
          </a:prstGeom>
          <a:solidFill>
            <a:srgbClr val="F1F5F9"/>
          </a:solidFill>
          <a:ln w="9525">
            <a:solidFill>
              <a:srgbClr val="E2E8F0"/>
            </a:solidFill>
            <a:prstDash val="solid"/>
          </a:ln>
        </p:spPr>
      </p:sp>
      <p:sp>
        <p:nvSpPr>
          <p:cNvPr id="17" name="Text 15"/>
          <p:cNvSpPr/>
          <p:nvPr/>
        </p:nvSpPr>
        <p:spPr>
          <a:xfrm>
            <a:off x="7772400" y="1691640"/>
            <a:ext cx="384048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 구조</a:t>
            </a:r>
            <a:endParaRPr lang="en-US" sz="1200" dirty="0"/>
          </a:p>
        </p:txBody>
      </p:sp>
      <p:sp>
        <p:nvSpPr>
          <p:cNvPr id="18" name="Text 16"/>
          <p:cNvSpPr/>
          <p:nvPr/>
        </p:nvSpPr>
        <p:spPr>
          <a:xfrm>
            <a:off x="7772400" y="2057400"/>
            <a:ext cx="384048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Stage02_SingleTool.csproj</a:t>
            </a:r>
            <a:endParaRPr lang="en-US" sz="1100" dirty="0"/>
          </a:p>
        </p:txBody>
      </p:sp>
      <p:sp>
        <p:nvSpPr>
          <p:cNvPr id="19" name="Shape 17"/>
          <p:cNvSpPr/>
          <p:nvPr/>
        </p:nvSpPr>
        <p:spPr>
          <a:xfrm>
            <a:off x="7635240" y="4160520"/>
            <a:ext cx="411480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635240" y="4160520"/>
            <a:ext cx="4114800" cy="457200"/>
          </a:xfrm>
          <a:prstGeom prst="rect">
            <a:avLst/>
          </a:prstGeom>
          <a:solidFill>
            <a:srgbClr val="0F4C81"/>
          </a:solidFill>
          <a:ln/>
        </p:spPr>
      </p:sp>
      <p:sp>
        <p:nvSpPr>
          <p:cNvPr id="21" name="Text 19"/>
          <p:cNvSpPr/>
          <p:nvPr/>
        </p:nvSpPr>
        <p:spPr>
          <a:xfrm>
            <a:off x="7772400" y="4160520"/>
            <a:ext cx="384048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772400" y="4709160"/>
            <a:ext cx="3840480" cy="1600200"/>
          </a:xfrm>
          <a:prstGeom prst="rect">
            <a:avLst/>
          </a:prstGeom>
          <a:noFill/>
          <a:ln/>
        </p:spPr>
        <p:txBody>
          <a:bodyPr wrap="square" lIns="0" tIns="0" rIns="0" bIns="0" rtlCol="0" anchor="ctr"/>
          <a:lstStyle/>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You: 서울 날씨 어때?</a:t>
            </a:r>
            <a:endParaRPr lang="en-US" sz="1100" dirty="0"/>
          </a:p>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Agent: [GetWeather 호출] → "서울 25도, 맑음"</a:t>
            </a:r>
            <a:endParaRPr lang="en-US" sz="110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78</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SRC2 · STAGE 03</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다중 Tool</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94944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F97316"/>
          </a:solidFill>
          <a:ln/>
        </p:spPr>
      </p:sp>
      <p:sp>
        <p:nvSpPr>
          <p:cNvPr id="8" name="Shape 6"/>
          <p:cNvSpPr/>
          <p:nvPr/>
        </p:nvSpPr>
        <p:spPr>
          <a:xfrm>
            <a:off x="777240" y="1691640"/>
            <a:ext cx="1371600" cy="365760"/>
          </a:xfrm>
          <a:prstGeom prst="roundRect">
            <a:avLst>
              <a:gd name="adj" fmla="val 12500"/>
            </a:avLst>
          </a:prstGeom>
          <a:solidFill>
            <a:srgbClr val="F97316"/>
          </a:solidFill>
          <a:ln/>
        </p:spPr>
      </p:sp>
      <p:sp>
        <p:nvSpPr>
          <p:cNvPr id="9" name="Text 7"/>
          <p:cNvSpPr/>
          <p:nvPr/>
        </p:nvSpPr>
        <p:spPr>
          <a:xfrm>
            <a:off x="777240" y="1691640"/>
            <a:ext cx="13716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Stage 03</a:t>
            </a:r>
            <a:endParaRPr lang="en-US" sz="1200" dirty="0"/>
          </a:p>
        </p:txBody>
      </p:sp>
      <p:sp>
        <p:nvSpPr>
          <p:cNvPr id="10" name="Text 8"/>
          <p:cNvSpPr/>
          <p:nvPr/>
        </p:nvSpPr>
        <p:spPr>
          <a:xfrm>
            <a:off x="2240280" y="1691640"/>
            <a:ext cx="502920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MultiTool</a:t>
            </a:r>
            <a:endParaRPr lang="en-US" sz="1400" dirty="0"/>
          </a:p>
        </p:txBody>
      </p:sp>
      <p:sp>
        <p:nvSpPr>
          <p:cNvPr id="11" name="Text 9"/>
          <p:cNvSpPr/>
          <p:nvPr/>
        </p:nvSpPr>
        <p:spPr>
          <a:xfrm>
            <a:off x="777240" y="2240280"/>
            <a:ext cx="6400800" cy="365760"/>
          </a:xfrm>
          <a:prstGeom prst="rect">
            <a:avLst/>
          </a:prstGeom>
          <a:noFill/>
          <a:ln/>
        </p:spPr>
        <p:txBody>
          <a:bodyPr wrap="square" lIns="0" tIns="0" rIns="0" bIns="0"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  이 단계는</a:t>
            </a:r>
            <a:endParaRPr lang="en-US" sz="1400" dirty="0"/>
          </a:p>
        </p:txBody>
      </p:sp>
      <p:sp>
        <p:nvSpPr>
          <p:cNvPr id="12" name="Text 10"/>
          <p:cNvSpPr/>
          <p:nvPr/>
        </p:nvSpPr>
        <p:spPr>
          <a:xfrm>
            <a:off x="777240" y="2651760"/>
            <a:ext cx="6400800" cy="2103120"/>
          </a:xfrm>
          <a:prstGeom prst="rect">
            <a:avLst/>
          </a:prstGeom>
          <a:noFill/>
          <a:ln/>
        </p:spPr>
        <p:txBody>
          <a:bodyPr wrap="square" lIns="0" tIns="0" rIns="0" bIns="0" rtlCol="0" anchor="ctr"/>
          <a:lstStyle/>
          <a:p>
            <a:pPr indent="0" marL="0">
              <a:spcAft>
                <a:spcPts val="500"/>
              </a:spcAft>
              <a:buNone/>
            </a:pPr>
            <a:r>
              <a:rPr lang="en-US" sz="1250" dirty="0">
                <a:solidFill>
                  <a:srgbClr val="1F2937"/>
                </a:solidFill>
                <a:latin typeface="Calibri" pitchFamily="34" charset="0"/>
                <a:ea typeface="Calibri" pitchFamily="34" charset="-122"/>
                <a:cs typeface="Calibri" pitchFamily="34" charset="-120"/>
              </a:rPr>
              <a:t>날씨, 시간, 계산기 같은 여러 Tool 을 등록하고 LLM 이 상황에 맞게 선택해 호출하도록 한다. Tool 체이닝(연속 호출)도 지원한다.</a:t>
            </a:r>
            <a:endParaRPr lang="en-US" sz="1250" dirty="0"/>
          </a:p>
        </p:txBody>
      </p:sp>
      <p:sp>
        <p:nvSpPr>
          <p:cNvPr id="13" name="Shape 11"/>
          <p:cNvSpPr/>
          <p:nvPr/>
        </p:nvSpPr>
        <p:spPr>
          <a:xfrm>
            <a:off x="777240" y="4937760"/>
            <a:ext cx="6400800" cy="0"/>
          </a:xfrm>
          <a:prstGeom prst="line">
            <a:avLst/>
          </a:prstGeom>
          <a:noFill/>
          <a:ln w="9525">
            <a:solidFill>
              <a:srgbClr val="CBD5E1"/>
            </a:solidFill>
            <a:prstDash val="solid"/>
          </a:ln>
        </p:spPr>
      </p:sp>
      <p:sp>
        <p:nvSpPr>
          <p:cNvPr id="14" name="Text 12"/>
          <p:cNvSpPr/>
          <p:nvPr/>
        </p:nvSpPr>
        <p:spPr>
          <a:xfrm>
            <a:off x="777240" y="5029200"/>
            <a:ext cx="640080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40080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복수 Tool 등록, 우선순위, ToolGroup 개념.</a:t>
            </a:r>
            <a:endParaRPr lang="en-US" sz="1200" dirty="0"/>
          </a:p>
        </p:txBody>
      </p:sp>
      <p:sp>
        <p:nvSpPr>
          <p:cNvPr id="16" name="Shape 14"/>
          <p:cNvSpPr/>
          <p:nvPr/>
        </p:nvSpPr>
        <p:spPr>
          <a:xfrm>
            <a:off x="7635240" y="1554480"/>
            <a:ext cx="4114800" cy="2468880"/>
          </a:xfrm>
          <a:prstGeom prst="rect">
            <a:avLst/>
          </a:prstGeom>
          <a:solidFill>
            <a:srgbClr val="F1F5F9"/>
          </a:solidFill>
          <a:ln w="9525">
            <a:solidFill>
              <a:srgbClr val="E2E8F0"/>
            </a:solidFill>
            <a:prstDash val="solid"/>
          </a:ln>
        </p:spPr>
      </p:sp>
      <p:sp>
        <p:nvSpPr>
          <p:cNvPr id="17" name="Text 15"/>
          <p:cNvSpPr/>
          <p:nvPr/>
        </p:nvSpPr>
        <p:spPr>
          <a:xfrm>
            <a:off x="7772400" y="1691640"/>
            <a:ext cx="384048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 구조</a:t>
            </a:r>
            <a:endParaRPr lang="en-US" sz="1200" dirty="0"/>
          </a:p>
        </p:txBody>
      </p:sp>
      <p:sp>
        <p:nvSpPr>
          <p:cNvPr id="18" name="Text 16"/>
          <p:cNvSpPr/>
          <p:nvPr/>
        </p:nvSpPr>
        <p:spPr>
          <a:xfrm>
            <a:off x="7772400" y="2057400"/>
            <a:ext cx="384048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Stage03_MultiTool.csproj</a:t>
            </a:r>
            <a:endParaRPr lang="en-US" sz="1100" dirty="0"/>
          </a:p>
        </p:txBody>
      </p:sp>
      <p:sp>
        <p:nvSpPr>
          <p:cNvPr id="19" name="Shape 17"/>
          <p:cNvSpPr/>
          <p:nvPr/>
        </p:nvSpPr>
        <p:spPr>
          <a:xfrm>
            <a:off x="7635240" y="4160520"/>
            <a:ext cx="411480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635240" y="4160520"/>
            <a:ext cx="4114800" cy="457200"/>
          </a:xfrm>
          <a:prstGeom prst="rect">
            <a:avLst/>
          </a:prstGeom>
          <a:solidFill>
            <a:srgbClr val="0F4C81"/>
          </a:solidFill>
          <a:ln/>
        </p:spPr>
      </p:sp>
      <p:sp>
        <p:nvSpPr>
          <p:cNvPr id="21" name="Text 19"/>
          <p:cNvSpPr/>
          <p:nvPr/>
        </p:nvSpPr>
        <p:spPr>
          <a:xfrm>
            <a:off x="7772400" y="4160520"/>
            <a:ext cx="384048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772400" y="4709160"/>
            <a:ext cx="3840480" cy="1600200"/>
          </a:xfrm>
          <a:prstGeom prst="rect">
            <a:avLst/>
          </a:prstGeom>
          <a:noFill/>
          <a:ln/>
        </p:spPr>
        <p:txBody>
          <a:bodyPr wrap="square" lIns="0" tIns="0" rIns="0" bIns="0" rtlCol="0" anchor="ctr"/>
          <a:lstStyle/>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You: 지금 부산 시간과 날씨 알려줘</a:t>
            </a:r>
            <a:endParaRPr lang="en-US" sz="1100" dirty="0"/>
          </a:p>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 GetTime + GetWeather 연속 호출</a:t>
            </a:r>
            <a:endParaRPr lang="en-US" sz="110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79</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SRC2 · STAGE 04</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WebChat 채널 통합</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94944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F4C81"/>
          </a:solidFill>
          <a:ln/>
        </p:spPr>
      </p:sp>
      <p:sp>
        <p:nvSpPr>
          <p:cNvPr id="8" name="Shape 6"/>
          <p:cNvSpPr/>
          <p:nvPr/>
        </p:nvSpPr>
        <p:spPr>
          <a:xfrm>
            <a:off x="777240" y="1691640"/>
            <a:ext cx="1371600" cy="365760"/>
          </a:xfrm>
          <a:prstGeom prst="roundRect">
            <a:avLst>
              <a:gd name="adj" fmla="val 12500"/>
            </a:avLst>
          </a:prstGeom>
          <a:solidFill>
            <a:srgbClr val="0F4C81"/>
          </a:solidFill>
          <a:ln/>
        </p:spPr>
      </p:sp>
      <p:sp>
        <p:nvSpPr>
          <p:cNvPr id="9" name="Text 7"/>
          <p:cNvSpPr/>
          <p:nvPr/>
        </p:nvSpPr>
        <p:spPr>
          <a:xfrm>
            <a:off x="777240" y="1691640"/>
            <a:ext cx="13716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Stage 04</a:t>
            </a:r>
            <a:endParaRPr lang="en-US" sz="1200" dirty="0"/>
          </a:p>
        </p:txBody>
      </p:sp>
      <p:sp>
        <p:nvSpPr>
          <p:cNvPr id="10" name="Text 8"/>
          <p:cNvSpPr/>
          <p:nvPr/>
        </p:nvSpPr>
        <p:spPr>
          <a:xfrm>
            <a:off x="2240280" y="1691640"/>
            <a:ext cx="502920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WebChat</a:t>
            </a:r>
            <a:endParaRPr lang="en-US" sz="1400" dirty="0"/>
          </a:p>
        </p:txBody>
      </p:sp>
      <p:sp>
        <p:nvSpPr>
          <p:cNvPr id="11" name="Text 9"/>
          <p:cNvSpPr/>
          <p:nvPr/>
        </p:nvSpPr>
        <p:spPr>
          <a:xfrm>
            <a:off x="777240" y="2240280"/>
            <a:ext cx="6400800" cy="365760"/>
          </a:xfrm>
          <a:prstGeom prst="rect">
            <a:avLst/>
          </a:prstGeom>
          <a:noFill/>
          <a:ln/>
        </p:spPr>
        <p:txBody>
          <a:bodyPr wrap="square" lIns="0" tIns="0" rIns="0" bIns="0" rtlCol="0" anchor="ctr"/>
          <a:lstStyle/>
          <a:p>
            <a:pPr indent="0" marL="0">
              <a:buNone/>
            </a:pPr>
            <a:r>
              <a:rPr lang="en-US" sz="1400" b="1" dirty="0">
                <a:solidFill>
                  <a:srgbClr val="0F4C81"/>
                </a:solidFill>
                <a:latin typeface="Calibri" pitchFamily="34" charset="0"/>
                <a:ea typeface="Calibri" pitchFamily="34" charset="-122"/>
                <a:cs typeface="Calibri" pitchFamily="34" charset="-120"/>
              </a:rPr>
              <a:t>📌  이 단계는</a:t>
            </a:r>
            <a:endParaRPr lang="en-US" sz="1400" dirty="0"/>
          </a:p>
        </p:txBody>
      </p:sp>
      <p:sp>
        <p:nvSpPr>
          <p:cNvPr id="12" name="Text 10"/>
          <p:cNvSpPr/>
          <p:nvPr/>
        </p:nvSpPr>
        <p:spPr>
          <a:xfrm>
            <a:off x="777240" y="2651760"/>
            <a:ext cx="6400800" cy="2103120"/>
          </a:xfrm>
          <a:prstGeom prst="rect">
            <a:avLst/>
          </a:prstGeom>
          <a:noFill/>
          <a:ln/>
        </p:spPr>
        <p:txBody>
          <a:bodyPr wrap="square" lIns="0" tIns="0" rIns="0" bIns="0" rtlCol="0" anchor="ctr"/>
          <a:lstStyle/>
          <a:p>
            <a:pPr indent="0" marL="0">
              <a:spcAft>
                <a:spcPts val="500"/>
              </a:spcAft>
              <a:buNone/>
            </a:pPr>
            <a:r>
              <a:rPr lang="en-US" sz="1250" dirty="0">
                <a:solidFill>
                  <a:srgbClr val="1F2937"/>
                </a:solidFill>
                <a:latin typeface="Calibri" pitchFamily="34" charset="0"/>
                <a:ea typeface="Calibri" pitchFamily="34" charset="-122"/>
                <a:cs typeface="Calibri" pitchFamily="34" charset="-120"/>
              </a:rPr>
              <a:t>콘솔을 벗어나 ASP.NET Core 웹서버 + WebSocket 기반 브라우저 채팅 UI 를 구축한다. wwwroot/index.html 의 프론트와 Program.cs 의 백엔드가 양방향 실시간 통신한다.</a:t>
            </a:r>
            <a:endParaRPr lang="en-US" sz="1250" dirty="0"/>
          </a:p>
        </p:txBody>
      </p:sp>
      <p:sp>
        <p:nvSpPr>
          <p:cNvPr id="13" name="Shape 11"/>
          <p:cNvSpPr/>
          <p:nvPr/>
        </p:nvSpPr>
        <p:spPr>
          <a:xfrm>
            <a:off x="777240" y="4937760"/>
            <a:ext cx="6400800" cy="0"/>
          </a:xfrm>
          <a:prstGeom prst="line">
            <a:avLst/>
          </a:prstGeom>
          <a:noFill/>
          <a:ln w="9525">
            <a:solidFill>
              <a:srgbClr val="CBD5E1"/>
            </a:solidFill>
            <a:prstDash val="solid"/>
          </a:ln>
        </p:spPr>
      </p:sp>
      <p:sp>
        <p:nvSpPr>
          <p:cNvPr id="14" name="Text 12"/>
          <p:cNvSpPr/>
          <p:nvPr/>
        </p:nvSpPr>
        <p:spPr>
          <a:xfrm>
            <a:off x="777240" y="5029200"/>
            <a:ext cx="640080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40080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ChannelController, WebSocket, 프론트엔드 연동.</a:t>
            </a:r>
            <a:endParaRPr lang="en-US" sz="1200" dirty="0"/>
          </a:p>
        </p:txBody>
      </p:sp>
      <p:sp>
        <p:nvSpPr>
          <p:cNvPr id="16" name="Shape 14"/>
          <p:cNvSpPr/>
          <p:nvPr/>
        </p:nvSpPr>
        <p:spPr>
          <a:xfrm>
            <a:off x="7635240" y="1554480"/>
            <a:ext cx="4114800" cy="2468880"/>
          </a:xfrm>
          <a:prstGeom prst="rect">
            <a:avLst/>
          </a:prstGeom>
          <a:solidFill>
            <a:srgbClr val="F1F5F9"/>
          </a:solidFill>
          <a:ln w="9525">
            <a:solidFill>
              <a:srgbClr val="E2E8F0"/>
            </a:solidFill>
            <a:prstDash val="solid"/>
          </a:ln>
        </p:spPr>
      </p:sp>
      <p:sp>
        <p:nvSpPr>
          <p:cNvPr id="17" name="Text 15"/>
          <p:cNvSpPr/>
          <p:nvPr/>
        </p:nvSpPr>
        <p:spPr>
          <a:xfrm>
            <a:off x="7772400" y="1691640"/>
            <a:ext cx="384048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 구조</a:t>
            </a:r>
            <a:endParaRPr lang="en-US" sz="1200" dirty="0"/>
          </a:p>
        </p:txBody>
      </p:sp>
      <p:sp>
        <p:nvSpPr>
          <p:cNvPr id="18" name="Text 16"/>
          <p:cNvSpPr/>
          <p:nvPr/>
        </p:nvSpPr>
        <p:spPr>
          <a:xfrm>
            <a:off x="7772400" y="2057400"/>
            <a:ext cx="384048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wwwroot/index.html</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appsettings.json</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Properties/launchSettings.json</a:t>
            </a:r>
            <a:endParaRPr lang="en-US" sz="1100" dirty="0"/>
          </a:p>
        </p:txBody>
      </p:sp>
      <p:sp>
        <p:nvSpPr>
          <p:cNvPr id="19" name="Shape 17"/>
          <p:cNvSpPr/>
          <p:nvPr/>
        </p:nvSpPr>
        <p:spPr>
          <a:xfrm>
            <a:off x="7635240" y="4160520"/>
            <a:ext cx="411480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635240" y="4160520"/>
            <a:ext cx="4114800" cy="457200"/>
          </a:xfrm>
          <a:prstGeom prst="rect">
            <a:avLst/>
          </a:prstGeom>
          <a:solidFill>
            <a:srgbClr val="0F4C81"/>
          </a:solidFill>
          <a:ln/>
        </p:spPr>
      </p:sp>
      <p:sp>
        <p:nvSpPr>
          <p:cNvPr id="21" name="Text 19"/>
          <p:cNvSpPr/>
          <p:nvPr/>
        </p:nvSpPr>
        <p:spPr>
          <a:xfrm>
            <a:off x="7772400" y="4160520"/>
            <a:ext cx="384048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772400" y="4709160"/>
            <a:ext cx="3840480" cy="1600200"/>
          </a:xfrm>
          <a:prstGeom prst="rect">
            <a:avLst/>
          </a:prstGeom>
          <a:noFill/>
          <a:ln/>
        </p:spPr>
        <p:txBody>
          <a:bodyPr wrap="square" lIns="0" tIns="0" rIns="0" bIns="0" rtlCol="0" anchor="ctr"/>
          <a:lstStyle/>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브라우저에서 http://localhost:5xxx 접속 → 채팅 UI → 실시간 LLM 응답</a:t>
            </a:r>
            <a:endParaRPr lang="en-US" sz="110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80</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SRC2 · STAGE 05</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Telegram 메신저 연동</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94944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A3B66"/>
          </a:solidFill>
          <a:ln/>
        </p:spPr>
      </p:sp>
      <p:sp>
        <p:nvSpPr>
          <p:cNvPr id="8" name="Shape 6"/>
          <p:cNvSpPr/>
          <p:nvPr/>
        </p:nvSpPr>
        <p:spPr>
          <a:xfrm>
            <a:off x="777240" y="1691640"/>
            <a:ext cx="1371600" cy="365760"/>
          </a:xfrm>
          <a:prstGeom prst="roundRect">
            <a:avLst>
              <a:gd name="adj" fmla="val 12500"/>
            </a:avLst>
          </a:prstGeom>
          <a:solidFill>
            <a:srgbClr val="0A3B66"/>
          </a:solidFill>
          <a:ln/>
        </p:spPr>
      </p:sp>
      <p:sp>
        <p:nvSpPr>
          <p:cNvPr id="9" name="Text 7"/>
          <p:cNvSpPr/>
          <p:nvPr/>
        </p:nvSpPr>
        <p:spPr>
          <a:xfrm>
            <a:off x="777240" y="1691640"/>
            <a:ext cx="13716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Stage 05</a:t>
            </a:r>
            <a:endParaRPr lang="en-US" sz="1200" dirty="0"/>
          </a:p>
        </p:txBody>
      </p:sp>
      <p:sp>
        <p:nvSpPr>
          <p:cNvPr id="10" name="Text 8"/>
          <p:cNvSpPr/>
          <p:nvPr/>
        </p:nvSpPr>
        <p:spPr>
          <a:xfrm>
            <a:off x="2240280" y="1691640"/>
            <a:ext cx="502920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Telegram</a:t>
            </a:r>
            <a:endParaRPr lang="en-US" sz="1400" dirty="0"/>
          </a:p>
        </p:txBody>
      </p:sp>
      <p:sp>
        <p:nvSpPr>
          <p:cNvPr id="11" name="Text 9"/>
          <p:cNvSpPr/>
          <p:nvPr/>
        </p:nvSpPr>
        <p:spPr>
          <a:xfrm>
            <a:off x="777240" y="2240280"/>
            <a:ext cx="6400800" cy="365760"/>
          </a:xfrm>
          <a:prstGeom prst="rect">
            <a:avLst/>
          </a:prstGeom>
          <a:noFill/>
          <a:ln/>
        </p:spPr>
        <p:txBody>
          <a:bodyPr wrap="square" lIns="0" tIns="0" rIns="0" bIns="0" rtlCol="0" anchor="ctr"/>
          <a:lstStyle/>
          <a:p>
            <a:pPr indent="0" marL="0">
              <a:buNone/>
            </a:pPr>
            <a:r>
              <a:rPr lang="en-US" sz="1400" b="1" dirty="0">
                <a:solidFill>
                  <a:srgbClr val="0A3B66"/>
                </a:solidFill>
                <a:latin typeface="Calibri" pitchFamily="34" charset="0"/>
                <a:ea typeface="Calibri" pitchFamily="34" charset="-122"/>
                <a:cs typeface="Calibri" pitchFamily="34" charset="-120"/>
              </a:rPr>
              <a:t>📌  이 단계는</a:t>
            </a:r>
            <a:endParaRPr lang="en-US" sz="1400" dirty="0"/>
          </a:p>
        </p:txBody>
      </p:sp>
      <p:sp>
        <p:nvSpPr>
          <p:cNvPr id="12" name="Text 10"/>
          <p:cNvSpPr/>
          <p:nvPr/>
        </p:nvSpPr>
        <p:spPr>
          <a:xfrm>
            <a:off x="777240" y="2651760"/>
            <a:ext cx="6400800" cy="2103120"/>
          </a:xfrm>
          <a:prstGeom prst="rect">
            <a:avLst/>
          </a:prstGeom>
          <a:noFill/>
          <a:ln/>
        </p:spPr>
        <p:txBody>
          <a:bodyPr wrap="square" lIns="0" tIns="0" rIns="0" bIns="0" rtlCol="0" anchor="ctr"/>
          <a:lstStyle/>
          <a:p>
            <a:pPr indent="0" marL="0">
              <a:spcAft>
                <a:spcPts val="500"/>
              </a:spcAft>
              <a:buNone/>
            </a:pPr>
            <a:r>
              <a:rPr lang="en-US" sz="1250" dirty="0">
                <a:solidFill>
                  <a:srgbClr val="1F2937"/>
                </a:solidFill>
                <a:latin typeface="Calibri" pitchFamily="34" charset="0"/>
                <a:ea typeface="Calibri" pitchFamily="34" charset="-122"/>
                <a:cs typeface="Calibri" pitchFamily="34" charset="-120"/>
              </a:rPr>
              <a:t>실제 메신저 플랫폼(Telegram)에 봇 토큰으로 인증하고 Webhook 으로 메시지를 송수신한다. 서드파티 API 연동, Webhook 처리, 이벤트 기반 아키텍처를 익힌다.</a:t>
            </a:r>
            <a:endParaRPr lang="en-US" sz="1250" dirty="0"/>
          </a:p>
        </p:txBody>
      </p:sp>
      <p:sp>
        <p:nvSpPr>
          <p:cNvPr id="13" name="Shape 11"/>
          <p:cNvSpPr/>
          <p:nvPr/>
        </p:nvSpPr>
        <p:spPr>
          <a:xfrm>
            <a:off x="777240" y="4937760"/>
            <a:ext cx="6400800" cy="0"/>
          </a:xfrm>
          <a:prstGeom prst="line">
            <a:avLst/>
          </a:prstGeom>
          <a:noFill/>
          <a:ln w="9525">
            <a:solidFill>
              <a:srgbClr val="CBD5E1"/>
            </a:solidFill>
            <a:prstDash val="solid"/>
          </a:ln>
        </p:spPr>
      </p:sp>
      <p:sp>
        <p:nvSpPr>
          <p:cNvPr id="14" name="Text 12"/>
          <p:cNvSpPr/>
          <p:nvPr/>
        </p:nvSpPr>
        <p:spPr>
          <a:xfrm>
            <a:off x="777240" y="5029200"/>
            <a:ext cx="6400800" cy="320040"/>
          </a:xfrm>
          <a:prstGeom prst="rect">
            <a:avLst/>
          </a:prstGeom>
          <a:noFill/>
          <a:ln/>
        </p:spPr>
        <p:txBody>
          <a:bodyPr wrap="square" lIns="0" tIns="0" rIns="0" bIns="0" rtlCol="0" anchor="ctr"/>
          <a:lstStyle/>
          <a:p>
            <a:pPr indent="0" marL="0">
              <a:buNone/>
            </a:pPr>
            <a:r>
              <a:rPr lang="en-US" sz="1300" b="1" dirty="0">
                <a:solidFill>
                  <a:srgbClr val="0A3B66"/>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40080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Bot Token 관리, Webhook 처리, 이벤트 기반.</a:t>
            </a:r>
            <a:endParaRPr lang="en-US" sz="1200" dirty="0"/>
          </a:p>
        </p:txBody>
      </p:sp>
      <p:sp>
        <p:nvSpPr>
          <p:cNvPr id="16" name="Shape 14"/>
          <p:cNvSpPr/>
          <p:nvPr/>
        </p:nvSpPr>
        <p:spPr>
          <a:xfrm>
            <a:off x="7635240" y="1554480"/>
            <a:ext cx="4114800" cy="2468880"/>
          </a:xfrm>
          <a:prstGeom prst="rect">
            <a:avLst/>
          </a:prstGeom>
          <a:solidFill>
            <a:srgbClr val="F1F5F9"/>
          </a:solidFill>
          <a:ln w="9525">
            <a:solidFill>
              <a:srgbClr val="E2E8F0"/>
            </a:solidFill>
            <a:prstDash val="solid"/>
          </a:ln>
        </p:spPr>
      </p:sp>
      <p:sp>
        <p:nvSpPr>
          <p:cNvPr id="17" name="Text 15"/>
          <p:cNvSpPr/>
          <p:nvPr/>
        </p:nvSpPr>
        <p:spPr>
          <a:xfrm>
            <a:off x="7772400" y="1691640"/>
            <a:ext cx="384048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 구조</a:t>
            </a:r>
            <a:endParaRPr lang="en-US" sz="1200" dirty="0"/>
          </a:p>
        </p:txBody>
      </p:sp>
      <p:sp>
        <p:nvSpPr>
          <p:cNvPr id="18" name="Text 16"/>
          <p:cNvSpPr/>
          <p:nvPr/>
        </p:nvSpPr>
        <p:spPr>
          <a:xfrm>
            <a:off x="7772400" y="2057400"/>
            <a:ext cx="384048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appsettings.json</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Properties/launchSettings.json</a:t>
            </a:r>
            <a:endParaRPr lang="en-US" sz="1100" dirty="0"/>
          </a:p>
        </p:txBody>
      </p:sp>
      <p:sp>
        <p:nvSpPr>
          <p:cNvPr id="19" name="Shape 17"/>
          <p:cNvSpPr/>
          <p:nvPr/>
        </p:nvSpPr>
        <p:spPr>
          <a:xfrm>
            <a:off x="7635240" y="4160520"/>
            <a:ext cx="411480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635240" y="4160520"/>
            <a:ext cx="4114800" cy="457200"/>
          </a:xfrm>
          <a:prstGeom prst="rect">
            <a:avLst/>
          </a:prstGeom>
          <a:solidFill>
            <a:srgbClr val="0F4C81"/>
          </a:solidFill>
          <a:ln/>
        </p:spPr>
      </p:sp>
      <p:sp>
        <p:nvSpPr>
          <p:cNvPr id="21" name="Text 19"/>
          <p:cNvSpPr/>
          <p:nvPr/>
        </p:nvSpPr>
        <p:spPr>
          <a:xfrm>
            <a:off x="7772400" y="4160520"/>
            <a:ext cx="384048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772400" y="4709160"/>
            <a:ext cx="3840480" cy="1600200"/>
          </a:xfrm>
          <a:prstGeom prst="rect">
            <a:avLst/>
          </a:prstGeom>
          <a:noFill/>
          <a:ln/>
        </p:spPr>
        <p:txBody>
          <a:bodyPr wrap="square" lIns="0" tIns="0" rIns="0" bIns="0" rtlCol="0" anchor="ctr"/>
          <a:lstStyle/>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Telegram 채팅방 → 메시지 → 봇 응답 (Webhook 으로 전달)</a:t>
            </a:r>
            <a:endParaRPr lang="en-US" sz="110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81</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SRC2 · STAGE 06</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메모리 및 컨텍스트 관리</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94944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59669"/>
          </a:solidFill>
          <a:ln/>
        </p:spPr>
      </p:sp>
      <p:sp>
        <p:nvSpPr>
          <p:cNvPr id="8" name="Shape 6"/>
          <p:cNvSpPr/>
          <p:nvPr/>
        </p:nvSpPr>
        <p:spPr>
          <a:xfrm>
            <a:off x="777240" y="1691640"/>
            <a:ext cx="1371600" cy="365760"/>
          </a:xfrm>
          <a:prstGeom prst="roundRect">
            <a:avLst>
              <a:gd name="adj" fmla="val 12500"/>
            </a:avLst>
          </a:prstGeom>
          <a:solidFill>
            <a:srgbClr val="059669"/>
          </a:solidFill>
          <a:ln/>
        </p:spPr>
      </p:sp>
      <p:sp>
        <p:nvSpPr>
          <p:cNvPr id="9" name="Text 7"/>
          <p:cNvSpPr/>
          <p:nvPr/>
        </p:nvSpPr>
        <p:spPr>
          <a:xfrm>
            <a:off x="777240" y="1691640"/>
            <a:ext cx="13716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Stage 06</a:t>
            </a:r>
            <a:endParaRPr lang="en-US" sz="1200" dirty="0"/>
          </a:p>
        </p:txBody>
      </p:sp>
      <p:sp>
        <p:nvSpPr>
          <p:cNvPr id="10" name="Text 8"/>
          <p:cNvSpPr/>
          <p:nvPr/>
        </p:nvSpPr>
        <p:spPr>
          <a:xfrm>
            <a:off x="2240280" y="1691640"/>
            <a:ext cx="502920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Memory</a:t>
            </a:r>
            <a:endParaRPr lang="en-US" sz="1400" dirty="0"/>
          </a:p>
        </p:txBody>
      </p:sp>
      <p:sp>
        <p:nvSpPr>
          <p:cNvPr id="11" name="Text 9"/>
          <p:cNvSpPr/>
          <p:nvPr/>
        </p:nvSpPr>
        <p:spPr>
          <a:xfrm>
            <a:off x="777240" y="2240280"/>
            <a:ext cx="6400800" cy="365760"/>
          </a:xfrm>
          <a:prstGeom prst="rect">
            <a:avLst/>
          </a:prstGeom>
          <a:noFill/>
          <a:ln/>
        </p:spPr>
        <p:txBody>
          <a:bodyPr wrap="square" lIns="0" tIns="0" rIns="0" bIns="0" rtlCol="0" anchor="ctr"/>
          <a:lstStyle/>
          <a:p>
            <a:pPr indent="0" marL="0">
              <a:buNone/>
            </a:pPr>
            <a:r>
              <a:rPr lang="en-US" sz="1400" b="1" dirty="0">
                <a:solidFill>
                  <a:srgbClr val="059669"/>
                </a:solidFill>
                <a:latin typeface="Calibri" pitchFamily="34" charset="0"/>
                <a:ea typeface="Calibri" pitchFamily="34" charset="-122"/>
                <a:cs typeface="Calibri" pitchFamily="34" charset="-120"/>
              </a:rPr>
              <a:t>📌  이 단계는</a:t>
            </a:r>
            <a:endParaRPr lang="en-US" sz="1400" dirty="0"/>
          </a:p>
        </p:txBody>
      </p:sp>
      <p:sp>
        <p:nvSpPr>
          <p:cNvPr id="12" name="Text 10"/>
          <p:cNvSpPr/>
          <p:nvPr/>
        </p:nvSpPr>
        <p:spPr>
          <a:xfrm>
            <a:off x="777240" y="2651760"/>
            <a:ext cx="6400800" cy="2103120"/>
          </a:xfrm>
          <a:prstGeom prst="rect">
            <a:avLst/>
          </a:prstGeom>
          <a:noFill/>
          <a:ln/>
        </p:spPr>
        <p:txBody>
          <a:bodyPr wrap="square" lIns="0" tIns="0" rIns="0" bIns="0" rtlCol="0" anchor="ctr"/>
          <a:lstStyle/>
          <a:p>
            <a:pPr indent="0" marL="0">
              <a:spcAft>
                <a:spcPts val="500"/>
              </a:spcAft>
              <a:buNone/>
            </a:pPr>
            <a:r>
              <a:rPr lang="en-US" sz="1250" dirty="0">
                <a:solidFill>
                  <a:srgbClr val="1F2937"/>
                </a:solidFill>
                <a:latin typeface="Calibri" pitchFamily="34" charset="0"/>
                <a:ea typeface="Calibri" pitchFamily="34" charset="-122"/>
                <a:cs typeface="Calibri" pitchFamily="34" charset="-120"/>
              </a:rPr>
              <a:t>대화 히스토리를 세션별로 저장하고, 컨텍스트 윈도우를 초과하지 않도록 메모리 프루닝(요약 압축)을 적용한다. ITurnState 와 Memory 서비스가 등장한다.</a:t>
            </a:r>
            <a:endParaRPr lang="en-US" sz="1250" dirty="0"/>
          </a:p>
        </p:txBody>
      </p:sp>
      <p:sp>
        <p:nvSpPr>
          <p:cNvPr id="13" name="Shape 11"/>
          <p:cNvSpPr/>
          <p:nvPr/>
        </p:nvSpPr>
        <p:spPr>
          <a:xfrm>
            <a:off x="777240" y="4937760"/>
            <a:ext cx="6400800" cy="0"/>
          </a:xfrm>
          <a:prstGeom prst="line">
            <a:avLst/>
          </a:prstGeom>
          <a:noFill/>
          <a:ln w="9525">
            <a:solidFill>
              <a:srgbClr val="CBD5E1"/>
            </a:solidFill>
            <a:prstDash val="solid"/>
          </a:ln>
        </p:spPr>
      </p:sp>
      <p:sp>
        <p:nvSpPr>
          <p:cNvPr id="14" name="Text 12"/>
          <p:cNvSpPr/>
          <p:nvPr/>
        </p:nvSpPr>
        <p:spPr>
          <a:xfrm>
            <a:off x="777240" y="5029200"/>
            <a:ext cx="640080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40080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ITurnState, 세션 분리, 메모리 프루닝 전략.</a:t>
            </a:r>
            <a:endParaRPr lang="en-US" sz="1200" dirty="0"/>
          </a:p>
        </p:txBody>
      </p:sp>
      <p:sp>
        <p:nvSpPr>
          <p:cNvPr id="16" name="Shape 14"/>
          <p:cNvSpPr/>
          <p:nvPr/>
        </p:nvSpPr>
        <p:spPr>
          <a:xfrm>
            <a:off x="7635240" y="1554480"/>
            <a:ext cx="4114800" cy="2468880"/>
          </a:xfrm>
          <a:prstGeom prst="rect">
            <a:avLst/>
          </a:prstGeom>
          <a:solidFill>
            <a:srgbClr val="F1F5F9"/>
          </a:solidFill>
          <a:ln w="9525">
            <a:solidFill>
              <a:srgbClr val="E2E8F0"/>
            </a:solidFill>
            <a:prstDash val="solid"/>
          </a:ln>
        </p:spPr>
      </p:sp>
      <p:sp>
        <p:nvSpPr>
          <p:cNvPr id="17" name="Text 15"/>
          <p:cNvSpPr/>
          <p:nvPr/>
        </p:nvSpPr>
        <p:spPr>
          <a:xfrm>
            <a:off x="7772400" y="1691640"/>
            <a:ext cx="384048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 구조</a:t>
            </a:r>
            <a:endParaRPr lang="en-US" sz="1200" dirty="0"/>
          </a:p>
        </p:txBody>
      </p:sp>
      <p:sp>
        <p:nvSpPr>
          <p:cNvPr id="18" name="Text 16"/>
          <p:cNvSpPr/>
          <p:nvPr/>
        </p:nvSpPr>
        <p:spPr>
          <a:xfrm>
            <a:off x="7772400" y="2057400"/>
            <a:ext cx="384048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Stage06_Memory.csproj</a:t>
            </a:r>
            <a:endParaRPr lang="en-US" sz="1100" dirty="0"/>
          </a:p>
        </p:txBody>
      </p:sp>
      <p:sp>
        <p:nvSpPr>
          <p:cNvPr id="19" name="Shape 17"/>
          <p:cNvSpPr/>
          <p:nvPr/>
        </p:nvSpPr>
        <p:spPr>
          <a:xfrm>
            <a:off x="7635240" y="4160520"/>
            <a:ext cx="411480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635240" y="4160520"/>
            <a:ext cx="4114800" cy="457200"/>
          </a:xfrm>
          <a:prstGeom prst="rect">
            <a:avLst/>
          </a:prstGeom>
          <a:solidFill>
            <a:srgbClr val="0F4C81"/>
          </a:solidFill>
          <a:ln/>
        </p:spPr>
      </p:sp>
      <p:sp>
        <p:nvSpPr>
          <p:cNvPr id="21" name="Text 19"/>
          <p:cNvSpPr/>
          <p:nvPr/>
        </p:nvSpPr>
        <p:spPr>
          <a:xfrm>
            <a:off x="7772400" y="4160520"/>
            <a:ext cx="384048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772400" y="4709160"/>
            <a:ext cx="3840480" cy="1600200"/>
          </a:xfrm>
          <a:prstGeom prst="rect">
            <a:avLst/>
          </a:prstGeom>
          <a:noFill/>
          <a:ln/>
        </p:spPr>
        <p:txBody>
          <a:bodyPr wrap="square" lIns="0" tIns="0" rIns="0" bIns="0" rtlCol="0" anchor="ctr"/>
          <a:lstStyle/>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100 턴 누적 → 자동 요약 압축 → 컨텍스트 윈도우 한계 회피</a:t>
            </a:r>
            <a:endParaRPr lang="en-US" sz="110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82</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SRC2 · STAGE 07</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멀티 에이전트 라우팅</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94944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078D4"/>
          </a:solidFill>
          <a:ln/>
        </p:spPr>
      </p:sp>
      <p:sp>
        <p:nvSpPr>
          <p:cNvPr id="8" name="Shape 6"/>
          <p:cNvSpPr/>
          <p:nvPr/>
        </p:nvSpPr>
        <p:spPr>
          <a:xfrm>
            <a:off x="777240" y="1691640"/>
            <a:ext cx="1371600" cy="365760"/>
          </a:xfrm>
          <a:prstGeom prst="roundRect">
            <a:avLst>
              <a:gd name="adj" fmla="val 12500"/>
            </a:avLst>
          </a:prstGeom>
          <a:solidFill>
            <a:srgbClr val="0078D4"/>
          </a:solidFill>
          <a:ln/>
        </p:spPr>
      </p:sp>
      <p:sp>
        <p:nvSpPr>
          <p:cNvPr id="9" name="Text 7"/>
          <p:cNvSpPr/>
          <p:nvPr/>
        </p:nvSpPr>
        <p:spPr>
          <a:xfrm>
            <a:off x="777240" y="1691640"/>
            <a:ext cx="13716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Stage 07</a:t>
            </a:r>
            <a:endParaRPr lang="en-US" sz="1200" dirty="0"/>
          </a:p>
        </p:txBody>
      </p:sp>
      <p:sp>
        <p:nvSpPr>
          <p:cNvPr id="10" name="Text 8"/>
          <p:cNvSpPr/>
          <p:nvPr/>
        </p:nvSpPr>
        <p:spPr>
          <a:xfrm>
            <a:off x="2240280" y="1691640"/>
            <a:ext cx="502920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MultiAgent</a:t>
            </a:r>
            <a:endParaRPr lang="en-US" sz="1400" dirty="0"/>
          </a:p>
        </p:txBody>
      </p:sp>
      <p:sp>
        <p:nvSpPr>
          <p:cNvPr id="11" name="Text 9"/>
          <p:cNvSpPr/>
          <p:nvPr/>
        </p:nvSpPr>
        <p:spPr>
          <a:xfrm>
            <a:off x="777240" y="2240280"/>
            <a:ext cx="6400800" cy="365760"/>
          </a:xfrm>
          <a:prstGeom prst="rect">
            <a:avLst/>
          </a:prstGeom>
          <a:noFill/>
          <a:ln/>
        </p:spPr>
        <p:txBody>
          <a:bodyPr wrap="square" lIns="0" tIns="0" rIns="0" bIns="0" rtlCol="0" anchor="ctr"/>
          <a:lstStyle/>
          <a:p>
            <a:pPr indent="0" marL="0">
              <a:buNone/>
            </a:pPr>
            <a:r>
              <a:rPr lang="en-US" sz="1400" b="1" dirty="0">
                <a:solidFill>
                  <a:srgbClr val="0078D4"/>
                </a:solidFill>
                <a:latin typeface="Calibri" pitchFamily="34" charset="0"/>
                <a:ea typeface="Calibri" pitchFamily="34" charset="-122"/>
                <a:cs typeface="Calibri" pitchFamily="34" charset="-120"/>
              </a:rPr>
              <a:t>📌  이 단계는</a:t>
            </a:r>
            <a:endParaRPr lang="en-US" sz="1400" dirty="0"/>
          </a:p>
        </p:txBody>
      </p:sp>
      <p:sp>
        <p:nvSpPr>
          <p:cNvPr id="12" name="Text 10"/>
          <p:cNvSpPr/>
          <p:nvPr/>
        </p:nvSpPr>
        <p:spPr>
          <a:xfrm>
            <a:off x="777240" y="2651760"/>
            <a:ext cx="6400800" cy="2103120"/>
          </a:xfrm>
          <a:prstGeom prst="rect">
            <a:avLst/>
          </a:prstGeom>
          <a:noFill/>
          <a:ln/>
        </p:spPr>
        <p:txBody>
          <a:bodyPr wrap="square" lIns="0" tIns="0" rIns="0" bIns="0" rtlCol="0" anchor="ctr"/>
          <a:lstStyle/>
          <a:p>
            <a:pPr indent="0" marL="0">
              <a:spcAft>
                <a:spcPts val="500"/>
              </a:spcAft>
              <a:buNone/>
            </a:pPr>
            <a:r>
              <a:rPr lang="en-US" sz="1250" dirty="0">
                <a:solidFill>
                  <a:srgbClr val="1F2937"/>
                </a:solidFill>
                <a:latin typeface="Calibri" pitchFamily="34" charset="0"/>
                <a:ea typeface="Calibri" pitchFamily="34" charset="-122"/>
                <a:cs typeface="Calibri" pitchFamily="34" charset="-120"/>
              </a:rPr>
              <a:t>Orchestrator 가 메시지를 분석해 CodingSpecialist / WritingSpecialist / MathSpecialist 중 적절한 워커에 라우팅한다. 각 워커는 ISpecialistAgent 인터페이스를 구현한다.</a:t>
            </a:r>
            <a:endParaRPr lang="en-US" sz="1250" dirty="0"/>
          </a:p>
        </p:txBody>
      </p:sp>
      <p:sp>
        <p:nvSpPr>
          <p:cNvPr id="13" name="Shape 11"/>
          <p:cNvSpPr/>
          <p:nvPr/>
        </p:nvSpPr>
        <p:spPr>
          <a:xfrm>
            <a:off x="777240" y="4937760"/>
            <a:ext cx="6400800" cy="0"/>
          </a:xfrm>
          <a:prstGeom prst="line">
            <a:avLst/>
          </a:prstGeom>
          <a:noFill/>
          <a:ln w="9525">
            <a:solidFill>
              <a:srgbClr val="CBD5E1"/>
            </a:solidFill>
            <a:prstDash val="solid"/>
          </a:ln>
        </p:spPr>
      </p:sp>
      <p:sp>
        <p:nvSpPr>
          <p:cNvPr id="14" name="Text 12"/>
          <p:cNvSpPr/>
          <p:nvPr/>
        </p:nvSpPr>
        <p:spPr>
          <a:xfrm>
            <a:off x="777240" y="5029200"/>
            <a:ext cx="6400800" cy="320040"/>
          </a:xfrm>
          <a:prstGeom prst="rect">
            <a:avLst/>
          </a:prstGeom>
          <a:noFill/>
          <a:ln/>
        </p:spPr>
        <p:txBody>
          <a:bodyPr wrap="square" lIns="0" tIns="0" rIns="0" bIns="0" rtlCol="0" anchor="ctr"/>
          <a:lstStyle/>
          <a:p>
            <a:pPr indent="0" marL="0">
              <a:buNone/>
            </a:pPr>
            <a:r>
              <a:rPr lang="en-US" sz="1300" b="1" dirty="0">
                <a:solidFill>
                  <a:srgbClr val="0078D4"/>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40080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Orchestrator + Worker 패턴, 라우팅 로직.</a:t>
            </a:r>
            <a:endParaRPr lang="en-US" sz="1200" dirty="0"/>
          </a:p>
        </p:txBody>
      </p:sp>
      <p:sp>
        <p:nvSpPr>
          <p:cNvPr id="16" name="Shape 14"/>
          <p:cNvSpPr/>
          <p:nvPr/>
        </p:nvSpPr>
        <p:spPr>
          <a:xfrm>
            <a:off x="7635240" y="1554480"/>
            <a:ext cx="4114800" cy="2468880"/>
          </a:xfrm>
          <a:prstGeom prst="rect">
            <a:avLst/>
          </a:prstGeom>
          <a:solidFill>
            <a:srgbClr val="F1F5F9"/>
          </a:solidFill>
          <a:ln w="9525">
            <a:solidFill>
              <a:srgbClr val="E2E8F0"/>
            </a:solidFill>
            <a:prstDash val="solid"/>
          </a:ln>
        </p:spPr>
      </p:sp>
      <p:sp>
        <p:nvSpPr>
          <p:cNvPr id="17" name="Text 15"/>
          <p:cNvSpPr/>
          <p:nvPr/>
        </p:nvSpPr>
        <p:spPr>
          <a:xfrm>
            <a:off x="7772400" y="1691640"/>
            <a:ext cx="384048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 구조</a:t>
            </a:r>
            <a:endParaRPr lang="en-US" sz="1200" dirty="0"/>
          </a:p>
        </p:txBody>
      </p:sp>
      <p:sp>
        <p:nvSpPr>
          <p:cNvPr id="18" name="Text 16"/>
          <p:cNvSpPr/>
          <p:nvPr/>
        </p:nvSpPr>
        <p:spPr>
          <a:xfrm>
            <a:off x="7772400" y="2057400"/>
            <a:ext cx="384048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Stage07_MultiAgent.csproj</a:t>
            </a:r>
            <a:endParaRPr lang="en-US" sz="1100" dirty="0"/>
          </a:p>
        </p:txBody>
      </p:sp>
      <p:sp>
        <p:nvSpPr>
          <p:cNvPr id="19" name="Shape 17"/>
          <p:cNvSpPr/>
          <p:nvPr/>
        </p:nvSpPr>
        <p:spPr>
          <a:xfrm>
            <a:off x="7635240" y="4160520"/>
            <a:ext cx="411480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635240" y="4160520"/>
            <a:ext cx="4114800" cy="457200"/>
          </a:xfrm>
          <a:prstGeom prst="rect">
            <a:avLst/>
          </a:prstGeom>
          <a:solidFill>
            <a:srgbClr val="0F4C81"/>
          </a:solidFill>
          <a:ln/>
        </p:spPr>
      </p:sp>
      <p:sp>
        <p:nvSpPr>
          <p:cNvPr id="21" name="Text 19"/>
          <p:cNvSpPr/>
          <p:nvPr/>
        </p:nvSpPr>
        <p:spPr>
          <a:xfrm>
            <a:off x="7772400" y="4160520"/>
            <a:ext cx="384048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772400" y="4709160"/>
            <a:ext cx="3840480" cy="1600200"/>
          </a:xfrm>
          <a:prstGeom prst="rect">
            <a:avLst/>
          </a:prstGeom>
          <a:noFill/>
          <a:ln/>
        </p:spPr>
        <p:txBody>
          <a:bodyPr wrap="square" lIns="0" tIns="0" rIns="0" bIns="0" rtlCol="0" anchor="ctr"/>
          <a:lstStyle/>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You: "이 코드 리뷰해줘"</a:t>
            </a:r>
            <a:endParaRPr lang="en-US" sz="1100" dirty="0"/>
          </a:p>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 Orchestrator → CodingSpecialist 라우팅</a:t>
            </a:r>
            <a:endParaRPr lang="en-US" sz="110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83</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SRC2 · STAGE 08</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브라우저 자동화</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94944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F97316"/>
          </a:solidFill>
          <a:ln/>
        </p:spPr>
      </p:sp>
      <p:sp>
        <p:nvSpPr>
          <p:cNvPr id="8" name="Shape 6"/>
          <p:cNvSpPr/>
          <p:nvPr/>
        </p:nvSpPr>
        <p:spPr>
          <a:xfrm>
            <a:off x="777240" y="1691640"/>
            <a:ext cx="1371600" cy="365760"/>
          </a:xfrm>
          <a:prstGeom prst="roundRect">
            <a:avLst>
              <a:gd name="adj" fmla="val 12500"/>
            </a:avLst>
          </a:prstGeom>
          <a:solidFill>
            <a:srgbClr val="F97316"/>
          </a:solidFill>
          <a:ln/>
        </p:spPr>
      </p:sp>
      <p:sp>
        <p:nvSpPr>
          <p:cNvPr id="9" name="Text 7"/>
          <p:cNvSpPr/>
          <p:nvPr/>
        </p:nvSpPr>
        <p:spPr>
          <a:xfrm>
            <a:off x="777240" y="1691640"/>
            <a:ext cx="13716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Stage 08</a:t>
            </a:r>
            <a:endParaRPr lang="en-US" sz="1200" dirty="0"/>
          </a:p>
        </p:txBody>
      </p:sp>
      <p:sp>
        <p:nvSpPr>
          <p:cNvPr id="10" name="Text 8"/>
          <p:cNvSpPr/>
          <p:nvPr/>
        </p:nvSpPr>
        <p:spPr>
          <a:xfrm>
            <a:off x="2240280" y="1691640"/>
            <a:ext cx="502920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Browser</a:t>
            </a:r>
            <a:endParaRPr lang="en-US" sz="1400" dirty="0"/>
          </a:p>
        </p:txBody>
      </p:sp>
      <p:sp>
        <p:nvSpPr>
          <p:cNvPr id="11" name="Text 9"/>
          <p:cNvSpPr/>
          <p:nvPr/>
        </p:nvSpPr>
        <p:spPr>
          <a:xfrm>
            <a:off x="777240" y="2240280"/>
            <a:ext cx="6400800" cy="365760"/>
          </a:xfrm>
          <a:prstGeom prst="rect">
            <a:avLst/>
          </a:prstGeom>
          <a:noFill/>
          <a:ln/>
        </p:spPr>
        <p:txBody>
          <a:bodyPr wrap="square" lIns="0" tIns="0" rIns="0" bIns="0"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  이 단계는</a:t>
            </a:r>
            <a:endParaRPr lang="en-US" sz="1400" dirty="0"/>
          </a:p>
        </p:txBody>
      </p:sp>
      <p:sp>
        <p:nvSpPr>
          <p:cNvPr id="12" name="Text 10"/>
          <p:cNvSpPr/>
          <p:nvPr/>
        </p:nvSpPr>
        <p:spPr>
          <a:xfrm>
            <a:off x="777240" y="2651760"/>
            <a:ext cx="6400800" cy="2103120"/>
          </a:xfrm>
          <a:prstGeom prst="rect">
            <a:avLst/>
          </a:prstGeom>
          <a:noFill/>
          <a:ln/>
        </p:spPr>
        <p:txBody>
          <a:bodyPr wrap="square" lIns="0" tIns="0" rIns="0" bIns="0" rtlCol="0" anchor="ctr"/>
          <a:lstStyle/>
          <a:p>
            <a:pPr indent="0" marL="0">
              <a:spcAft>
                <a:spcPts val="500"/>
              </a:spcAft>
              <a:buNone/>
            </a:pPr>
            <a:r>
              <a:rPr lang="en-US" sz="1250" dirty="0">
                <a:solidFill>
                  <a:srgbClr val="1F2937"/>
                </a:solidFill>
                <a:latin typeface="Calibri" pitchFamily="34" charset="0"/>
                <a:ea typeface="Calibri" pitchFamily="34" charset="-122"/>
                <a:cs typeface="Calibri" pitchFamily="34" charset="-120"/>
              </a:rPr>
              <a:t>Selenium 또는 Playwright 를 Tool 로 래핑해 웹페이지 스크래핑, 폼 입력, 스크린샷 캡처 같은 브라우저 조작을 자연어로 지시할 수 있게 만든다.</a:t>
            </a:r>
            <a:endParaRPr lang="en-US" sz="1250" dirty="0"/>
          </a:p>
        </p:txBody>
      </p:sp>
      <p:sp>
        <p:nvSpPr>
          <p:cNvPr id="13" name="Shape 11"/>
          <p:cNvSpPr/>
          <p:nvPr/>
        </p:nvSpPr>
        <p:spPr>
          <a:xfrm>
            <a:off x="777240" y="4937760"/>
            <a:ext cx="6400800" cy="0"/>
          </a:xfrm>
          <a:prstGeom prst="line">
            <a:avLst/>
          </a:prstGeom>
          <a:noFill/>
          <a:ln w="9525">
            <a:solidFill>
              <a:srgbClr val="CBD5E1"/>
            </a:solidFill>
            <a:prstDash val="solid"/>
          </a:ln>
        </p:spPr>
      </p:sp>
      <p:sp>
        <p:nvSpPr>
          <p:cNvPr id="14" name="Text 12"/>
          <p:cNvSpPr/>
          <p:nvPr/>
        </p:nvSpPr>
        <p:spPr>
          <a:xfrm>
            <a:off x="777240" y="5029200"/>
            <a:ext cx="6400800" cy="320040"/>
          </a:xfrm>
          <a:prstGeom prst="rect">
            <a:avLst/>
          </a:prstGeom>
          <a:noFill/>
          <a:ln/>
        </p:spPr>
        <p:txBody>
          <a:bodyPr wrap="square" lIns="0" tIns="0" rIns="0" bIns="0" rtlCol="0" anchor="ctr"/>
          <a:lstStyle/>
          <a:p>
            <a:pPr indent="0" marL="0">
              <a:buNone/>
            </a:pPr>
            <a:r>
              <a:rPr lang="en-US" sz="1300" b="1" dirty="0">
                <a:solidFill>
                  <a:srgbClr val="F97316"/>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40080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외부 프로세스 제어, 비동기 작업, 스크린샷 처리.</a:t>
            </a:r>
            <a:endParaRPr lang="en-US" sz="1200" dirty="0"/>
          </a:p>
        </p:txBody>
      </p:sp>
      <p:sp>
        <p:nvSpPr>
          <p:cNvPr id="16" name="Shape 14"/>
          <p:cNvSpPr/>
          <p:nvPr/>
        </p:nvSpPr>
        <p:spPr>
          <a:xfrm>
            <a:off x="7635240" y="1554480"/>
            <a:ext cx="4114800" cy="2468880"/>
          </a:xfrm>
          <a:prstGeom prst="rect">
            <a:avLst/>
          </a:prstGeom>
          <a:solidFill>
            <a:srgbClr val="F1F5F9"/>
          </a:solidFill>
          <a:ln w="9525">
            <a:solidFill>
              <a:srgbClr val="E2E8F0"/>
            </a:solidFill>
            <a:prstDash val="solid"/>
          </a:ln>
        </p:spPr>
      </p:sp>
      <p:sp>
        <p:nvSpPr>
          <p:cNvPr id="17" name="Text 15"/>
          <p:cNvSpPr/>
          <p:nvPr/>
        </p:nvSpPr>
        <p:spPr>
          <a:xfrm>
            <a:off x="7772400" y="1691640"/>
            <a:ext cx="384048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 구조</a:t>
            </a:r>
            <a:endParaRPr lang="en-US" sz="1200" dirty="0"/>
          </a:p>
        </p:txBody>
      </p:sp>
      <p:sp>
        <p:nvSpPr>
          <p:cNvPr id="18" name="Text 16"/>
          <p:cNvSpPr/>
          <p:nvPr/>
        </p:nvSpPr>
        <p:spPr>
          <a:xfrm>
            <a:off x="7772400" y="2057400"/>
            <a:ext cx="384048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Stage08_Browser.csproj</a:t>
            </a:r>
            <a:endParaRPr lang="en-US" sz="1100" dirty="0"/>
          </a:p>
        </p:txBody>
      </p:sp>
      <p:sp>
        <p:nvSpPr>
          <p:cNvPr id="19" name="Shape 17"/>
          <p:cNvSpPr/>
          <p:nvPr/>
        </p:nvSpPr>
        <p:spPr>
          <a:xfrm>
            <a:off x="7635240" y="4160520"/>
            <a:ext cx="411480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635240" y="4160520"/>
            <a:ext cx="4114800" cy="457200"/>
          </a:xfrm>
          <a:prstGeom prst="rect">
            <a:avLst/>
          </a:prstGeom>
          <a:solidFill>
            <a:srgbClr val="0F4C81"/>
          </a:solidFill>
          <a:ln/>
        </p:spPr>
      </p:sp>
      <p:sp>
        <p:nvSpPr>
          <p:cNvPr id="21" name="Text 19"/>
          <p:cNvSpPr/>
          <p:nvPr/>
        </p:nvSpPr>
        <p:spPr>
          <a:xfrm>
            <a:off x="7772400" y="4160520"/>
            <a:ext cx="384048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772400" y="4709160"/>
            <a:ext cx="3840480" cy="1600200"/>
          </a:xfrm>
          <a:prstGeom prst="rect">
            <a:avLst/>
          </a:prstGeom>
          <a:noFill/>
          <a:ln/>
        </p:spPr>
        <p:txBody>
          <a:bodyPr wrap="square" lIns="0" tIns="0" rIns="0" bIns="0" rtlCol="0" anchor="ctr"/>
          <a:lstStyle/>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You: "google.com 에서 'C# tutorial' 검색하고 첫 결과 가져와줘"</a:t>
            </a:r>
            <a:endParaRPr lang="en-US" sz="110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84</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SRC2 · STAGE 09</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Canvas UI 연동</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94944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F4C81"/>
          </a:solidFill>
          <a:ln/>
        </p:spPr>
      </p:sp>
      <p:sp>
        <p:nvSpPr>
          <p:cNvPr id="8" name="Shape 6"/>
          <p:cNvSpPr/>
          <p:nvPr/>
        </p:nvSpPr>
        <p:spPr>
          <a:xfrm>
            <a:off x="777240" y="1691640"/>
            <a:ext cx="1371600" cy="365760"/>
          </a:xfrm>
          <a:prstGeom prst="roundRect">
            <a:avLst>
              <a:gd name="adj" fmla="val 12500"/>
            </a:avLst>
          </a:prstGeom>
          <a:solidFill>
            <a:srgbClr val="0F4C81"/>
          </a:solidFill>
          <a:ln/>
        </p:spPr>
      </p:sp>
      <p:sp>
        <p:nvSpPr>
          <p:cNvPr id="9" name="Text 7"/>
          <p:cNvSpPr/>
          <p:nvPr/>
        </p:nvSpPr>
        <p:spPr>
          <a:xfrm>
            <a:off x="777240" y="1691640"/>
            <a:ext cx="13716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Stage 09</a:t>
            </a:r>
            <a:endParaRPr lang="en-US" sz="1200" dirty="0"/>
          </a:p>
        </p:txBody>
      </p:sp>
      <p:sp>
        <p:nvSpPr>
          <p:cNvPr id="10" name="Text 8"/>
          <p:cNvSpPr/>
          <p:nvPr/>
        </p:nvSpPr>
        <p:spPr>
          <a:xfrm>
            <a:off x="2240280" y="1691640"/>
            <a:ext cx="502920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Canvas</a:t>
            </a:r>
            <a:endParaRPr lang="en-US" sz="1400" dirty="0"/>
          </a:p>
        </p:txBody>
      </p:sp>
      <p:sp>
        <p:nvSpPr>
          <p:cNvPr id="11" name="Text 9"/>
          <p:cNvSpPr/>
          <p:nvPr/>
        </p:nvSpPr>
        <p:spPr>
          <a:xfrm>
            <a:off x="777240" y="2240280"/>
            <a:ext cx="6400800" cy="365760"/>
          </a:xfrm>
          <a:prstGeom prst="rect">
            <a:avLst/>
          </a:prstGeom>
          <a:noFill/>
          <a:ln/>
        </p:spPr>
        <p:txBody>
          <a:bodyPr wrap="square" lIns="0" tIns="0" rIns="0" bIns="0" rtlCol="0" anchor="ctr"/>
          <a:lstStyle/>
          <a:p>
            <a:pPr indent="0" marL="0">
              <a:buNone/>
            </a:pPr>
            <a:r>
              <a:rPr lang="en-US" sz="1400" b="1" dirty="0">
                <a:solidFill>
                  <a:srgbClr val="0F4C81"/>
                </a:solidFill>
                <a:latin typeface="Calibri" pitchFamily="34" charset="0"/>
                <a:ea typeface="Calibri" pitchFamily="34" charset="-122"/>
                <a:cs typeface="Calibri" pitchFamily="34" charset="-120"/>
              </a:rPr>
              <a:t>📌  이 단계는</a:t>
            </a:r>
            <a:endParaRPr lang="en-US" sz="1400" dirty="0"/>
          </a:p>
        </p:txBody>
      </p:sp>
      <p:sp>
        <p:nvSpPr>
          <p:cNvPr id="12" name="Text 10"/>
          <p:cNvSpPr/>
          <p:nvPr/>
        </p:nvSpPr>
        <p:spPr>
          <a:xfrm>
            <a:off x="777240" y="2651760"/>
            <a:ext cx="6400800" cy="2103120"/>
          </a:xfrm>
          <a:prstGeom prst="rect">
            <a:avLst/>
          </a:prstGeom>
          <a:noFill/>
          <a:ln/>
        </p:spPr>
        <p:txBody>
          <a:bodyPr wrap="square" lIns="0" tIns="0" rIns="0" bIns="0" rtlCol="0" anchor="ctr"/>
          <a:lstStyle/>
          <a:p>
            <a:pPr indent="0" marL="0">
              <a:spcAft>
                <a:spcPts val="500"/>
              </a:spcAft>
              <a:buNone/>
            </a:pPr>
            <a:r>
              <a:rPr lang="en-US" sz="1250" dirty="0">
                <a:solidFill>
                  <a:srgbClr val="1F2937"/>
                </a:solidFill>
                <a:latin typeface="Calibri" pitchFamily="34" charset="0"/>
                <a:ea typeface="Calibri" pitchFamily="34" charset="-122"/>
                <a:cs typeface="Calibri" pitchFamily="34" charset="-120"/>
              </a:rPr>
              <a:t>실시간으로 갱신되는 시각적 작업 공간(Canvas)을 구현한다. 사용자 입력에 따라 캔버스 컴포넌트가 스트리밍 업데이트되며 A2UI(Agent-to-UI) 개념을 처음 만난다.</a:t>
            </a:r>
            <a:endParaRPr lang="en-US" sz="1250" dirty="0"/>
          </a:p>
        </p:txBody>
      </p:sp>
      <p:sp>
        <p:nvSpPr>
          <p:cNvPr id="13" name="Shape 11"/>
          <p:cNvSpPr/>
          <p:nvPr/>
        </p:nvSpPr>
        <p:spPr>
          <a:xfrm>
            <a:off x="777240" y="4937760"/>
            <a:ext cx="6400800" cy="0"/>
          </a:xfrm>
          <a:prstGeom prst="line">
            <a:avLst/>
          </a:prstGeom>
          <a:noFill/>
          <a:ln w="9525">
            <a:solidFill>
              <a:srgbClr val="CBD5E1"/>
            </a:solidFill>
            <a:prstDash val="solid"/>
          </a:ln>
        </p:spPr>
      </p:sp>
      <p:sp>
        <p:nvSpPr>
          <p:cNvPr id="14" name="Text 12"/>
          <p:cNvSpPr/>
          <p:nvPr/>
        </p:nvSpPr>
        <p:spPr>
          <a:xfrm>
            <a:off x="777240" y="5029200"/>
            <a:ext cx="6400800" cy="320040"/>
          </a:xfrm>
          <a:prstGeom prst="rect">
            <a:avLst/>
          </a:prstGeom>
          <a:noFill/>
          <a:ln/>
        </p:spPr>
        <p:txBody>
          <a:bodyPr wrap="square" lIns="0" tIns="0" rIns="0" bIns="0" rtlCol="0" anchor="ctr"/>
          <a:lstStyle/>
          <a:p>
            <a:pPr indent="0" marL="0">
              <a:buNone/>
            </a:pPr>
            <a:r>
              <a:rPr lang="en-US" sz="1300" b="1" dirty="0">
                <a:solidFill>
                  <a:srgbClr val="0F4C81"/>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40080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UI 상태 관리, 실시간 스트리밍, A2UI 개념.</a:t>
            </a:r>
            <a:endParaRPr lang="en-US" sz="1200" dirty="0"/>
          </a:p>
        </p:txBody>
      </p:sp>
      <p:sp>
        <p:nvSpPr>
          <p:cNvPr id="16" name="Shape 14"/>
          <p:cNvSpPr/>
          <p:nvPr/>
        </p:nvSpPr>
        <p:spPr>
          <a:xfrm>
            <a:off x="7635240" y="1554480"/>
            <a:ext cx="4114800" cy="2468880"/>
          </a:xfrm>
          <a:prstGeom prst="rect">
            <a:avLst/>
          </a:prstGeom>
          <a:solidFill>
            <a:srgbClr val="F1F5F9"/>
          </a:solidFill>
          <a:ln w="9525">
            <a:solidFill>
              <a:srgbClr val="E2E8F0"/>
            </a:solidFill>
            <a:prstDash val="solid"/>
          </a:ln>
        </p:spPr>
      </p:sp>
      <p:sp>
        <p:nvSpPr>
          <p:cNvPr id="17" name="Text 15"/>
          <p:cNvSpPr/>
          <p:nvPr/>
        </p:nvSpPr>
        <p:spPr>
          <a:xfrm>
            <a:off x="7772400" y="1691640"/>
            <a:ext cx="384048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 구조</a:t>
            </a:r>
            <a:endParaRPr lang="en-US" sz="1200" dirty="0"/>
          </a:p>
        </p:txBody>
      </p:sp>
      <p:sp>
        <p:nvSpPr>
          <p:cNvPr id="18" name="Text 16"/>
          <p:cNvSpPr/>
          <p:nvPr/>
        </p:nvSpPr>
        <p:spPr>
          <a:xfrm>
            <a:off x="7772400" y="2057400"/>
            <a:ext cx="384048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wwwroot/index.html</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appsettings.json</a:t>
            </a:r>
            <a:endParaRPr lang="en-US" sz="1100" dirty="0"/>
          </a:p>
        </p:txBody>
      </p:sp>
      <p:sp>
        <p:nvSpPr>
          <p:cNvPr id="19" name="Shape 17"/>
          <p:cNvSpPr/>
          <p:nvPr/>
        </p:nvSpPr>
        <p:spPr>
          <a:xfrm>
            <a:off x="7635240" y="4160520"/>
            <a:ext cx="411480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635240" y="4160520"/>
            <a:ext cx="4114800" cy="457200"/>
          </a:xfrm>
          <a:prstGeom prst="rect">
            <a:avLst/>
          </a:prstGeom>
          <a:solidFill>
            <a:srgbClr val="0F4C81"/>
          </a:solidFill>
          <a:ln/>
        </p:spPr>
      </p:sp>
      <p:sp>
        <p:nvSpPr>
          <p:cNvPr id="21" name="Text 19"/>
          <p:cNvSpPr/>
          <p:nvPr/>
        </p:nvSpPr>
        <p:spPr>
          <a:xfrm>
            <a:off x="7772400" y="4160520"/>
            <a:ext cx="384048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772400" y="4709160"/>
            <a:ext cx="3840480" cy="1600200"/>
          </a:xfrm>
          <a:prstGeom prst="rect">
            <a:avLst/>
          </a:prstGeom>
          <a:noFill/>
          <a:ln/>
        </p:spPr>
        <p:txBody>
          <a:bodyPr wrap="square" lIns="0" tIns="0" rIns="0" bIns="0" rtlCol="0" anchor="ctr"/>
          <a:lstStyle/>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You: "막대그래프 그려줘" → Canvas 에 실시간 차트 렌더링</a:t>
            </a:r>
            <a:endParaRPr lang="en-US" sz="110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85</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SRC2 · STAGE 10</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음성 및 멀티모달</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94944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A3B66"/>
          </a:solidFill>
          <a:ln/>
        </p:spPr>
      </p:sp>
      <p:sp>
        <p:nvSpPr>
          <p:cNvPr id="8" name="Shape 6"/>
          <p:cNvSpPr/>
          <p:nvPr/>
        </p:nvSpPr>
        <p:spPr>
          <a:xfrm>
            <a:off x="777240" y="1691640"/>
            <a:ext cx="1371600" cy="365760"/>
          </a:xfrm>
          <a:prstGeom prst="roundRect">
            <a:avLst>
              <a:gd name="adj" fmla="val 12500"/>
            </a:avLst>
          </a:prstGeom>
          <a:solidFill>
            <a:srgbClr val="0A3B66"/>
          </a:solidFill>
          <a:ln/>
        </p:spPr>
      </p:sp>
      <p:sp>
        <p:nvSpPr>
          <p:cNvPr id="9" name="Text 7"/>
          <p:cNvSpPr/>
          <p:nvPr/>
        </p:nvSpPr>
        <p:spPr>
          <a:xfrm>
            <a:off x="777240" y="1691640"/>
            <a:ext cx="13716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Stage 10</a:t>
            </a:r>
            <a:endParaRPr lang="en-US" sz="1200" dirty="0"/>
          </a:p>
        </p:txBody>
      </p:sp>
      <p:sp>
        <p:nvSpPr>
          <p:cNvPr id="10" name="Text 8"/>
          <p:cNvSpPr/>
          <p:nvPr/>
        </p:nvSpPr>
        <p:spPr>
          <a:xfrm>
            <a:off x="2240280" y="1691640"/>
            <a:ext cx="502920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Voice</a:t>
            </a:r>
            <a:endParaRPr lang="en-US" sz="1400" dirty="0"/>
          </a:p>
        </p:txBody>
      </p:sp>
      <p:sp>
        <p:nvSpPr>
          <p:cNvPr id="11" name="Text 9"/>
          <p:cNvSpPr/>
          <p:nvPr/>
        </p:nvSpPr>
        <p:spPr>
          <a:xfrm>
            <a:off x="777240" y="2240280"/>
            <a:ext cx="6400800" cy="365760"/>
          </a:xfrm>
          <a:prstGeom prst="rect">
            <a:avLst/>
          </a:prstGeom>
          <a:noFill/>
          <a:ln/>
        </p:spPr>
        <p:txBody>
          <a:bodyPr wrap="square" lIns="0" tIns="0" rIns="0" bIns="0" rtlCol="0" anchor="ctr"/>
          <a:lstStyle/>
          <a:p>
            <a:pPr indent="0" marL="0">
              <a:buNone/>
            </a:pPr>
            <a:r>
              <a:rPr lang="en-US" sz="1400" b="1" dirty="0">
                <a:solidFill>
                  <a:srgbClr val="0A3B66"/>
                </a:solidFill>
                <a:latin typeface="Calibri" pitchFamily="34" charset="0"/>
                <a:ea typeface="Calibri" pitchFamily="34" charset="-122"/>
                <a:cs typeface="Calibri" pitchFamily="34" charset="-120"/>
              </a:rPr>
              <a:t>📌  이 단계는</a:t>
            </a:r>
            <a:endParaRPr lang="en-US" sz="1400" dirty="0"/>
          </a:p>
        </p:txBody>
      </p:sp>
      <p:sp>
        <p:nvSpPr>
          <p:cNvPr id="12" name="Text 10"/>
          <p:cNvSpPr/>
          <p:nvPr/>
        </p:nvSpPr>
        <p:spPr>
          <a:xfrm>
            <a:off x="777240" y="2651760"/>
            <a:ext cx="6400800" cy="2103120"/>
          </a:xfrm>
          <a:prstGeom prst="rect">
            <a:avLst/>
          </a:prstGeom>
          <a:noFill/>
          <a:ln/>
        </p:spPr>
        <p:txBody>
          <a:bodyPr wrap="square" lIns="0" tIns="0" rIns="0" bIns="0" rtlCol="0" anchor="ctr"/>
          <a:lstStyle/>
          <a:p>
            <a:pPr indent="0" marL="0">
              <a:spcAft>
                <a:spcPts val="500"/>
              </a:spcAft>
              <a:buNone/>
            </a:pPr>
            <a:r>
              <a:rPr lang="en-US" sz="1250" dirty="0">
                <a:solidFill>
                  <a:srgbClr val="1F2937"/>
                </a:solidFill>
                <a:latin typeface="Calibri" pitchFamily="34" charset="0"/>
                <a:ea typeface="Calibri" pitchFamily="34" charset="-122"/>
                <a:cs typeface="Calibri" pitchFamily="34" charset="-120"/>
              </a:rPr>
              <a:t>Whisper 로 음성을 텍스트로(STT), TTS 로 답변을 음성으로 변환한다. 오디오·이미지 같은 비텍스트 입력을 다루는 멀티모달 파이프라인을 구축한다.</a:t>
            </a:r>
            <a:endParaRPr lang="en-US" sz="1250" dirty="0"/>
          </a:p>
        </p:txBody>
      </p:sp>
      <p:sp>
        <p:nvSpPr>
          <p:cNvPr id="13" name="Shape 11"/>
          <p:cNvSpPr/>
          <p:nvPr/>
        </p:nvSpPr>
        <p:spPr>
          <a:xfrm>
            <a:off x="777240" y="4937760"/>
            <a:ext cx="6400800" cy="0"/>
          </a:xfrm>
          <a:prstGeom prst="line">
            <a:avLst/>
          </a:prstGeom>
          <a:noFill/>
          <a:ln w="9525">
            <a:solidFill>
              <a:srgbClr val="CBD5E1"/>
            </a:solidFill>
            <a:prstDash val="solid"/>
          </a:ln>
        </p:spPr>
      </p:sp>
      <p:sp>
        <p:nvSpPr>
          <p:cNvPr id="14" name="Text 12"/>
          <p:cNvSpPr/>
          <p:nvPr/>
        </p:nvSpPr>
        <p:spPr>
          <a:xfrm>
            <a:off x="777240" y="5029200"/>
            <a:ext cx="6400800" cy="320040"/>
          </a:xfrm>
          <a:prstGeom prst="rect">
            <a:avLst/>
          </a:prstGeom>
          <a:noFill/>
          <a:ln/>
        </p:spPr>
        <p:txBody>
          <a:bodyPr wrap="square" lIns="0" tIns="0" rIns="0" bIns="0" rtlCol="0" anchor="ctr"/>
          <a:lstStyle/>
          <a:p>
            <a:pPr indent="0" marL="0">
              <a:buNone/>
            </a:pPr>
            <a:r>
              <a:rPr lang="en-US" sz="1300" b="1" dirty="0">
                <a:solidFill>
                  <a:srgbClr val="0A3B66"/>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40080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STT, TTS, 멀티모달 파이프라인, Whisper / ElevenLabs.</a:t>
            </a:r>
            <a:endParaRPr lang="en-US" sz="1200" dirty="0"/>
          </a:p>
        </p:txBody>
      </p:sp>
      <p:sp>
        <p:nvSpPr>
          <p:cNvPr id="16" name="Shape 14"/>
          <p:cNvSpPr/>
          <p:nvPr/>
        </p:nvSpPr>
        <p:spPr>
          <a:xfrm>
            <a:off x="7635240" y="1554480"/>
            <a:ext cx="4114800" cy="2468880"/>
          </a:xfrm>
          <a:prstGeom prst="rect">
            <a:avLst/>
          </a:prstGeom>
          <a:solidFill>
            <a:srgbClr val="F1F5F9"/>
          </a:solidFill>
          <a:ln w="9525">
            <a:solidFill>
              <a:srgbClr val="E2E8F0"/>
            </a:solidFill>
            <a:prstDash val="solid"/>
          </a:ln>
        </p:spPr>
      </p:sp>
      <p:sp>
        <p:nvSpPr>
          <p:cNvPr id="17" name="Text 15"/>
          <p:cNvSpPr/>
          <p:nvPr/>
        </p:nvSpPr>
        <p:spPr>
          <a:xfrm>
            <a:off x="7772400" y="1691640"/>
            <a:ext cx="384048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 구조</a:t>
            </a:r>
            <a:endParaRPr lang="en-US" sz="1200" dirty="0"/>
          </a:p>
        </p:txBody>
      </p:sp>
      <p:sp>
        <p:nvSpPr>
          <p:cNvPr id="18" name="Text 16"/>
          <p:cNvSpPr/>
          <p:nvPr/>
        </p:nvSpPr>
        <p:spPr>
          <a:xfrm>
            <a:off x="7772400" y="2057400"/>
            <a:ext cx="384048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Stage10_Voice.csproj</a:t>
            </a:r>
            <a:endParaRPr lang="en-US" sz="1100" dirty="0"/>
          </a:p>
        </p:txBody>
      </p:sp>
      <p:sp>
        <p:nvSpPr>
          <p:cNvPr id="19" name="Shape 17"/>
          <p:cNvSpPr/>
          <p:nvPr/>
        </p:nvSpPr>
        <p:spPr>
          <a:xfrm>
            <a:off x="7635240" y="4160520"/>
            <a:ext cx="411480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635240" y="4160520"/>
            <a:ext cx="4114800" cy="457200"/>
          </a:xfrm>
          <a:prstGeom prst="rect">
            <a:avLst/>
          </a:prstGeom>
          <a:solidFill>
            <a:srgbClr val="0F4C81"/>
          </a:solidFill>
          <a:ln/>
        </p:spPr>
      </p:sp>
      <p:sp>
        <p:nvSpPr>
          <p:cNvPr id="21" name="Text 19"/>
          <p:cNvSpPr/>
          <p:nvPr/>
        </p:nvSpPr>
        <p:spPr>
          <a:xfrm>
            <a:off x="7772400" y="4160520"/>
            <a:ext cx="384048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772400" y="4709160"/>
            <a:ext cx="3840480" cy="1600200"/>
          </a:xfrm>
          <a:prstGeom prst="rect">
            <a:avLst/>
          </a:prstGeom>
          <a:noFill/>
          <a:ln/>
        </p:spPr>
        <p:txBody>
          <a:bodyPr wrap="square" lIns="0" tIns="0" rIns="0" bIns="0" rtlCol="0" anchor="ctr"/>
          <a:lstStyle/>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마이크 입력 → Whisper → LLM → TTS → 스피커 출력</a:t>
            </a:r>
            <a:endParaRPr lang="en-US" sz="110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86</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SRC2 · STAGE 11</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게이트웨이 및 배포</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02920" y="1554480"/>
            <a:ext cx="6949440" cy="48463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02920" y="1554480"/>
            <a:ext cx="109728" cy="4846320"/>
          </a:xfrm>
          <a:prstGeom prst="rect">
            <a:avLst/>
          </a:prstGeom>
          <a:solidFill>
            <a:srgbClr val="059669"/>
          </a:solidFill>
          <a:ln/>
        </p:spPr>
      </p:sp>
      <p:sp>
        <p:nvSpPr>
          <p:cNvPr id="8" name="Shape 6"/>
          <p:cNvSpPr/>
          <p:nvPr/>
        </p:nvSpPr>
        <p:spPr>
          <a:xfrm>
            <a:off x="777240" y="1691640"/>
            <a:ext cx="1371600" cy="365760"/>
          </a:xfrm>
          <a:prstGeom prst="roundRect">
            <a:avLst>
              <a:gd name="adj" fmla="val 12500"/>
            </a:avLst>
          </a:prstGeom>
          <a:solidFill>
            <a:srgbClr val="059669"/>
          </a:solidFill>
          <a:ln/>
        </p:spPr>
      </p:sp>
      <p:sp>
        <p:nvSpPr>
          <p:cNvPr id="9" name="Text 7"/>
          <p:cNvSpPr/>
          <p:nvPr/>
        </p:nvSpPr>
        <p:spPr>
          <a:xfrm>
            <a:off x="777240" y="1691640"/>
            <a:ext cx="13716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Stage 11</a:t>
            </a:r>
            <a:endParaRPr lang="en-US" sz="1200" dirty="0"/>
          </a:p>
        </p:txBody>
      </p:sp>
      <p:sp>
        <p:nvSpPr>
          <p:cNvPr id="10" name="Text 8"/>
          <p:cNvSpPr/>
          <p:nvPr/>
        </p:nvSpPr>
        <p:spPr>
          <a:xfrm>
            <a:off x="2240280" y="1691640"/>
            <a:ext cx="5029200" cy="365760"/>
          </a:xfrm>
          <a:prstGeom prst="rect">
            <a:avLst/>
          </a:prstGeom>
          <a:noFill/>
          <a:ln/>
        </p:spPr>
        <p:txBody>
          <a:bodyPr wrap="square" lIns="0" tIns="0" rIns="0" bIns="0" rtlCol="0" anchor="ctr"/>
          <a:lstStyle/>
          <a:p>
            <a:pPr indent="0" marL="0">
              <a:buNone/>
            </a:pPr>
            <a:r>
              <a:rPr lang="en-US" sz="1400" b="1" dirty="0">
                <a:solidFill>
                  <a:srgbClr val="0F4C81"/>
                </a:solidFill>
                <a:latin typeface="Consolas" pitchFamily="34" charset="0"/>
                <a:ea typeface="Consolas" pitchFamily="34" charset="-122"/>
                <a:cs typeface="Consolas" pitchFamily="34" charset="-120"/>
              </a:rPr>
              <a:t>Gateway</a:t>
            </a:r>
            <a:endParaRPr lang="en-US" sz="1400" dirty="0"/>
          </a:p>
        </p:txBody>
      </p:sp>
      <p:sp>
        <p:nvSpPr>
          <p:cNvPr id="11" name="Text 9"/>
          <p:cNvSpPr/>
          <p:nvPr/>
        </p:nvSpPr>
        <p:spPr>
          <a:xfrm>
            <a:off x="777240" y="2240280"/>
            <a:ext cx="6400800" cy="365760"/>
          </a:xfrm>
          <a:prstGeom prst="rect">
            <a:avLst/>
          </a:prstGeom>
          <a:noFill/>
          <a:ln/>
        </p:spPr>
        <p:txBody>
          <a:bodyPr wrap="square" lIns="0" tIns="0" rIns="0" bIns="0" rtlCol="0" anchor="ctr"/>
          <a:lstStyle/>
          <a:p>
            <a:pPr indent="0" marL="0">
              <a:buNone/>
            </a:pPr>
            <a:r>
              <a:rPr lang="en-US" sz="1400" b="1" dirty="0">
                <a:solidFill>
                  <a:srgbClr val="059669"/>
                </a:solidFill>
                <a:latin typeface="Calibri" pitchFamily="34" charset="0"/>
                <a:ea typeface="Calibri" pitchFamily="34" charset="-122"/>
                <a:cs typeface="Calibri" pitchFamily="34" charset="-120"/>
              </a:rPr>
              <a:t>📌  이 단계는</a:t>
            </a:r>
            <a:endParaRPr lang="en-US" sz="1400" dirty="0"/>
          </a:p>
        </p:txBody>
      </p:sp>
      <p:sp>
        <p:nvSpPr>
          <p:cNvPr id="12" name="Text 10"/>
          <p:cNvSpPr/>
          <p:nvPr/>
        </p:nvSpPr>
        <p:spPr>
          <a:xfrm>
            <a:off x="777240" y="2651760"/>
            <a:ext cx="6400800" cy="2103120"/>
          </a:xfrm>
          <a:prstGeom prst="rect">
            <a:avLst/>
          </a:prstGeom>
          <a:noFill/>
          <a:ln/>
        </p:spPr>
        <p:txBody>
          <a:bodyPr wrap="square" lIns="0" tIns="0" rIns="0" bIns="0" rtlCol="0" anchor="ctr"/>
          <a:lstStyle/>
          <a:p>
            <a:pPr indent="0" marL="0">
              <a:spcAft>
                <a:spcPts val="500"/>
              </a:spcAft>
              <a:buNone/>
            </a:pPr>
            <a:r>
              <a:rPr lang="en-US" sz="1250" dirty="0">
                <a:solidFill>
                  <a:srgbClr val="1F2937"/>
                </a:solidFill>
                <a:latin typeface="Calibri" pitchFamily="34" charset="0"/>
                <a:ea typeface="Calibri" pitchFamily="34" charset="-122"/>
                <a:cs typeface="Calibri" pitchFamily="34" charset="-120"/>
              </a:rPr>
              <a:t>Health Checks, Serilog 구조적 로그, REST API + 스트리밍, Docker 컨테이너화, K8s 배포까지. 학습 결과물을 그대로 프로덕션에 가져갈 수 있는 골격이다.</a:t>
            </a:r>
            <a:endParaRPr lang="en-US" sz="1250" dirty="0"/>
          </a:p>
        </p:txBody>
      </p:sp>
      <p:sp>
        <p:nvSpPr>
          <p:cNvPr id="13" name="Shape 11"/>
          <p:cNvSpPr/>
          <p:nvPr/>
        </p:nvSpPr>
        <p:spPr>
          <a:xfrm>
            <a:off x="777240" y="4937760"/>
            <a:ext cx="6400800" cy="0"/>
          </a:xfrm>
          <a:prstGeom prst="line">
            <a:avLst/>
          </a:prstGeom>
          <a:noFill/>
          <a:ln w="9525">
            <a:solidFill>
              <a:srgbClr val="CBD5E1"/>
            </a:solidFill>
            <a:prstDash val="solid"/>
          </a:ln>
        </p:spPr>
      </p:sp>
      <p:sp>
        <p:nvSpPr>
          <p:cNvPr id="14" name="Text 12"/>
          <p:cNvSpPr/>
          <p:nvPr/>
        </p:nvSpPr>
        <p:spPr>
          <a:xfrm>
            <a:off x="777240" y="5029200"/>
            <a:ext cx="6400800" cy="32004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  학습 목표</a:t>
            </a:r>
            <a:endParaRPr lang="en-US" sz="1300" dirty="0"/>
          </a:p>
        </p:txBody>
      </p:sp>
      <p:sp>
        <p:nvSpPr>
          <p:cNvPr id="15" name="Text 13"/>
          <p:cNvSpPr/>
          <p:nvPr/>
        </p:nvSpPr>
        <p:spPr>
          <a:xfrm>
            <a:off x="777240" y="5349240"/>
            <a:ext cx="6400800" cy="9601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프로덕션 운영, Docker, K8s, 헬스체크, Observability.</a:t>
            </a:r>
            <a:endParaRPr lang="en-US" sz="1200" dirty="0"/>
          </a:p>
        </p:txBody>
      </p:sp>
      <p:sp>
        <p:nvSpPr>
          <p:cNvPr id="16" name="Shape 14"/>
          <p:cNvSpPr/>
          <p:nvPr/>
        </p:nvSpPr>
        <p:spPr>
          <a:xfrm>
            <a:off x="7635240" y="1554480"/>
            <a:ext cx="4114800" cy="2468880"/>
          </a:xfrm>
          <a:prstGeom prst="rect">
            <a:avLst/>
          </a:prstGeom>
          <a:solidFill>
            <a:srgbClr val="F1F5F9"/>
          </a:solidFill>
          <a:ln w="9525">
            <a:solidFill>
              <a:srgbClr val="E2E8F0"/>
            </a:solidFill>
            <a:prstDash val="solid"/>
          </a:ln>
        </p:spPr>
      </p:sp>
      <p:sp>
        <p:nvSpPr>
          <p:cNvPr id="17" name="Text 15"/>
          <p:cNvSpPr/>
          <p:nvPr/>
        </p:nvSpPr>
        <p:spPr>
          <a:xfrm>
            <a:off x="7772400" y="1691640"/>
            <a:ext cx="3840480" cy="32004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주요 파일 / 구조</a:t>
            </a:r>
            <a:endParaRPr lang="en-US" sz="1200" dirty="0"/>
          </a:p>
        </p:txBody>
      </p:sp>
      <p:sp>
        <p:nvSpPr>
          <p:cNvPr id="18" name="Text 16"/>
          <p:cNvSpPr/>
          <p:nvPr/>
        </p:nvSpPr>
        <p:spPr>
          <a:xfrm>
            <a:off x="7772400" y="2057400"/>
            <a:ext cx="3840480" cy="1920240"/>
          </a:xfrm>
          <a:prstGeom prst="rect">
            <a:avLst/>
          </a:prstGeom>
          <a:noFill/>
          <a:ln/>
        </p:spPr>
        <p:txBody>
          <a:bodyPr wrap="square" lIns="0" tIns="0" rIns="0" bIns="0" rtlCol="0" anchor="ctr"/>
          <a:lstStyle/>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Program.cs</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Dockerfile</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appsettings.json</a:t>
            </a:r>
            <a:endParaRPr lang="en-US" sz="1100" dirty="0"/>
          </a:p>
          <a:p>
            <a:pPr indent="0" marL="0">
              <a:spcAft>
                <a:spcPts val="200"/>
              </a:spcAft>
              <a:buNone/>
            </a:pPr>
            <a:r>
              <a:rPr lang="en-US" sz="1100" dirty="0">
                <a:solidFill>
                  <a:srgbClr val="0F172A"/>
                </a:solidFill>
                <a:latin typeface="Consolas" pitchFamily="34" charset="0"/>
                <a:ea typeface="Consolas" pitchFamily="34" charset="-122"/>
                <a:cs typeface="Consolas" pitchFamily="34" charset="-120"/>
              </a:rPr>
              <a:t>├─ README.md</a:t>
            </a:r>
            <a:endParaRPr lang="en-US" sz="1100" dirty="0"/>
          </a:p>
        </p:txBody>
      </p:sp>
      <p:sp>
        <p:nvSpPr>
          <p:cNvPr id="19" name="Shape 17"/>
          <p:cNvSpPr/>
          <p:nvPr/>
        </p:nvSpPr>
        <p:spPr>
          <a:xfrm>
            <a:off x="7635240" y="4160520"/>
            <a:ext cx="4114800" cy="22402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7635240" y="4160520"/>
            <a:ext cx="4114800" cy="457200"/>
          </a:xfrm>
          <a:prstGeom prst="rect">
            <a:avLst/>
          </a:prstGeom>
          <a:solidFill>
            <a:srgbClr val="0F4C81"/>
          </a:solidFill>
          <a:ln/>
        </p:spPr>
      </p:sp>
      <p:sp>
        <p:nvSpPr>
          <p:cNvPr id="21" name="Text 19"/>
          <p:cNvSpPr/>
          <p:nvPr/>
        </p:nvSpPr>
        <p:spPr>
          <a:xfrm>
            <a:off x="7772400" y="4160520"/>
            <a:ext cx="384048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사용 시나리오</a:t>
            </a:r>
            <a:endParaRPr lang="en-US" sz="1200" dirty="0"/>
          </a:p>
        </p:txBody>
      </p:sp>
      <p:sp>
        <p:nvSpPr>
          <p:cNvPr id="22" name="Text 20"/>
          <p:cNvSpPr/>
          <p:nvPr/>
        </p:nvSpPr>
        <p:spPr>
          <a:xfrm>
            <a:off x="7772400" y="4709160"/>
            <a:ext cx="3840480" cy="1600200"/>
          </a:xfrm>
          <a:prstGeom prst="rect">
            <a:avLst/>
          </a:prstGeom>
          <a:noFill/>
          <a:ln/>
        </p:spPr>
        <p:txBody>
          <a:bodyPr wrap="square" lIns="0" tIns="0" rIns="0" bIns="0" rtlCol="0" anchor="ctr"/>
          <a:lstStyle/>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docker run -p 8080:8080 stage11-gateway → REST API + /health</a:t>
            </a:r>
            <a:endParaRPr lang="en-US" sz="110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87</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SECTION · COMPARE</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src 와 src2 ─ 어떤 차이가 있을까</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Text 4"/>
          <p:cNvSpPr/>
          <p:nvPr/>
        </p:nvSpPr>
        <p:spPr>
          <a:xfrm>
            <a:off x="548640" y="1554480"/>
            <a:ext cx="11064240" cy="45720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두 트랙은 같은 MAF 를 다루지만 강조점이 다릅니다. "무엇을 더 학습하고 싶은가" 에 따라 진입 순서를 정하면 좋습니다.</a:t>
            </a:r>
            <a:endParaRPr lang="en-US" sz="1300" dirty="0"/>
          </a:p>
        </p:txBody>
      </p:sp>
      <p:graphicFrame>
        <p:nvGraphicFramePr>
          <p:cNvPr id="89"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11155680" cy="4206240"/>
        </p:xfrm>
        <a:graphic>
          <a:graphicData uri="http://schemas.openxmlformats.org/drawingml/2006/table">
            <a:tbl>
              <a:tblPr/>
              <a:tblGrid>
                <a:gridCol w="1371600"/>
                <a:gridCol w="4892040"/>
                <a:gridCol w="4892040"/>
              </a:tblGrid>
              <a:tr h="502920">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구분</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4C81"/>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src  (게임 도메인 트랙)</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4C81"/>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src2  (OpenClaw 트랙)</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078D4"/>
                    </a:solidFill>
                  </a:tcPr>
                </a:tc>
              </a:tr>
              <a:tr h="50292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프로그램 수</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49 개 (15 단계 × 3 + 보너스 4)</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11 개</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0292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.NET 버전</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.NET 8 (안정적)</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.NET 10 (최신)</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0292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주제 깊이</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AIContextProvider · Workflow · RAG · 멀티에이전트 (개념 깊이)</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콘솔 → 채널 → 배포 (확장의 폭)</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0292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도메인</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게임 개발 시나리오 (밸런스, 로그, QA, 리소스)</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범용 AI Assistant (OpenClaw)</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0292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테스트</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tests/ 디렉토리에 단위 테스트 포함</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교육용 집중을 위해 단위 테스트 생략</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0292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채널</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콘솔 위주 (Stage15 에서만 DevUI 등장)</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콘솔 → WebChat → Telegram → 음성 → 게이트웨이</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0292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권장 학습자</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MAF 의 깊은 추상화를 끝까지 파고 싶은 사람</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다양한 채널·배포 형태를 빠르게 훑고 싶은 사람</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8" name="Text 5"/>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9" name="Text 6"/>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88</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LEARNING PATH</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권장 학습 순서와 페이스</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Text 4"/>
          <p:cNvSpPr/>
          <p:nvPr/>
        </p:nvSpPr>
        <p:spPr>
          <a:xfrm>
            <a:off x="548640" y="1554480"/>
            <a:ext cx="11064240" cy="45720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프로그램의 양이 적지 않습니다. 각자의 목표에 맞춰 4 가지 코스를 제안합니다.</a:t>
            </a:r>
            <a:endParaRPr lang="en-US" sz="1300" dirty="0"/>
          </a:p>
        </p:txBody>
      </p:sp>
      <p:sp>
        <p:nvSpPr>
          <p:cNvPr id="7" name="Shape 5"/>
          <p:cNvSpPr/>
          <p:nvPr/>
        </p:nvSpPr>
        <p:spPr>
          <a:xfrm>
            <a:off x="548640" y="2194560"/>
            <a:ext cx="2697480" cy="30175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8" name="Shape 6"/>
          <p:cNvSpPr/>
          <p:nvPr/>
        </p:nvSpPr>
        <p:spPr>
          <a:xfrm>
            <a:off x="548640" y="2194560"/>
            <a:ext cx="2697480" cy="457200"/>
          </a:xfrm>
          <a:prstGeom prst="rect">
            <a:avLst/>
          </a:prstGeom>
          <a:solidFill>
            <a:srgbClr val="059669"/>
          </a:solidFill>
          <a:ln/>
        </p:spPr>
      </p:sp>
      <p:sp>
        <p:nvSpPr>
          <p:cNvPr id="9" name="Text 7"/>
          <p:cNvSpPr/>
          <p:nvPr/>
        </p:nvSpPr>
        <p:spPr>
          <a:xfrm>
            <a:off x="685800" y="2194560"/>
            <a:ext cx="242316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 단기 입문 (1주)</a:t>
            </a:r>
            <a:endParaRPr lang="en-US" sz="1250" dirty="0"/>
          </a:p>
        </p:txBody>
      </p:sp>
      <p:sp>
        <p:nvSpPr>
          <p:cNvPr id="10" name="Text 8"/>
          <p:cNvSpPr/>
          <p:nvPr/>
        </p:nvSpPr>
        <p:spPr>
          <a:xfrm>
            <a:off x="731520" y="2788920"/>
            <a:ext cx="2331720" cy="2240280"/>
          </a:xfrm>
          <a:prstGeom prst="rect">
            <a:avLst/>
          </a:prstGeom>
          <a:noFill/>
          <a:ln/>
        </p:spPr>
        <p:txBody>
          <a:bodyPr wrap="square" lIns="0" tIns="0" rIns="0" bIns="0" rtlCol="0" anchor="ctr"/>
          <a:lstStyle/>
          <a:p>
            <a:pPr indent="0" marL="0">
              <a:spcAft>
                <a:spcPts val="800"/>
              </a:spcAft>
              <a:buNone/>
            </a:pPr>
            <a:r>
              <a:rPr lang="en-US" sz="1100" dirty="0">
                <a:solidFill>
                  <a:srgbClr val="1F2937"/>
                </a:solidFill>
                <a:latin typeface="Calibri" pitchFamily="34" charset="0"/>
                <a:ea typeface="Calibri" pitchFamily="34" charset="-122"/>
                <a:cs typeface="Calibri" pitchFamily="34" charset="-120"/>
              </a:rPr>
              <a:t>1. src2 Stage01 → Stage02 → Stage03 (콘솔·Tool)</a:t>
            </a:r>
            <a:endParaRPr lang="en-US" sz="1100" dirty="0"/>
          </a:p>
          <a:p>
            <a:pPr indent="0" marL="0">
              <a:spcAft>
                <a:spcPts val="800"/>
              </a:spcAft>
              <a:buNone/>
            </a:pPr>
            <a:r>
              <a:rPr lang="en-US" sz="1100" dirty="0">
                <a:solidFill>
                  <a:srgbClr val="1F2937"/>
                </a:solidFill>
                <a:latin typeface="Calibri" pitchFamily="34" charset="0"/>
                <a:ea typeface="Calibri" pitchFamily="34" charset="-122"/>
                <a:cs typeface="Calibri" pitchFamily="34" charset="-120"/>
              </a:rPr>
              <a:t>2. src Stage01 의 01A_GameConfigBot 만 추가 학습</a:t>
            </a:r>
            <a:endParaRPr lang="en-US" sz="1100" dirty="0"/>
          </a:p>
          <a:p>
            <a:pPr indent="0" marL="0">
              <a:spcAft>
                <a:spcPts val="800"/>
              </a:spcAft>
              <a:buNone/>
            </a:pPr>
            <a:r>
              <a:rPr lang="en-US" sz="1100" dirty="0">
                <a:solidFill>
                  <a:srgbClr val="1F2937"/>
                </a:solidFill>
                <a:latin typeface="Calibri" pitchFamily="34" charset="0"/>
                <a:ea typeface="Calibri" pitchFamily="34" charset="-122"/>
                <a:cs typeface="Calibri" pitchFamily="34" charset="-120"/>
              </a:rPr>
              <a:t>3. AIContextProvider 개념 슬라이드 정독</a:t>
            </a:r>
            <a:endParaRPr lang="en-US" sz="1100" dirty="0"/>
          </a:p>
        </p:txBody>
      </p:sp>
      <p:sp>
        <p:nvSpPr>
          <p:cNvPr id="11" name="Shape 9"/>
          <p:cNvSpPr/>
          <p:nvPr/>
        </p:nvSpPr>
        <p:spPr>
          <a:xfrm>
            <a:off x="3410712" y="2194560"/>
            <a:ext cx="2697480" cy="30175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2" name="Shape 10"/>
          <p:cNvSpPr/>
          <p:nvPr/>
        </p:nvSpPr>
        <p:spPr>
          <a:xfrm>
            <a:off x="3410712" y="2194560"/>
            <a:ext cx="2697480" cy="457200"/>
          </a:xfrm>
          <a:prstGeom prst="rect">
            <a:avLst/>
          </a:prstGeom>
          <a:solidFill>
            <a:srgbClr val="0078D4"/>
          </a:solidFill>
          <a:ln/>
        </p:spPr>
      </p:sp>
      <p:sp>
        <p:nvSpPr>
          <p:cNvPr id="13" name="Text 11"/>
          <p:cNvSpPr/>
          <p:nvPr/>
        </p:nvSpPr>
        <p:spPr>
          <a:xfrm>
            <a:off x="3547872" y="2194560"/>
            <a:ext cx="242316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 정통 코스 (1-2개월)</a:t>
            </a:r>
            <a:endParaRPr lang="en-US" sz="1250" dirty="0"/>
          </a:p>
        </p:txBody>
      </p:sp>
      <p:sp>
        <p:nvSpPr>
          <p:cNvPr id="14" name="Text 12"/>
          <p:cNvSpPr/>
          <p:nvPr/>
        </p:nvSpPr>
        <p:spPr>
          <a:xfrm>
            <a:off x="3593592" y="2788920"/>
            <a:ext cx="2331720" cy="2240280"/>
          </a:xfrm>
          <a:prstGeom prst="rect">
            <a:avLst/>
          </a:prstGeom>
          <a:noFill/>
          <a:ln/>
        </p:spPr>
        <p:txBody>
          <a:bodyPr wrap="square" lIns="0" tIns="0" rIns="0" bIns="0" rtlCol="0" anchor="ctr"/>
          <a:lstStyle/>
          <a:p>
            <a:pPr indent="0" marL="0">
              <a:spcAft>
                <a:spcPts val="800"/>
              </a:spcAft>
              <a:buNone/>
            </a:pPr>
            <a:r>
              <a:rPr lang="en-US" sz="1100" dirty="0">
                <a:solidFill>
                  <a:srgbClr val="1F2937"/>
                </a:solidFill>
                <a:latin typeface="Calibri" pitchFamily="34" charset="0"/>
                <a:ea typeface="Calibri" pitchFamily="34" charset="-122"/>
                <a:cs typeface="Calibri" pitchFamily="34" charset="-120"/>
              </a:rPr>
              <a:t>1. src Stage01 ~ Stage07 (초급+중급) 순서대로</a:t>
            </a:r>
            <a:endParaRPr lang="en-US" sz="1100" dirty="0"/>
          </a:p>
          <a:p>
            <a:pPr indent="0" marL="0">
              <a:spcAft>
                <a:spcPts val="800"/>
              </a:spcAft>
              <a:buNone/>
            </a:pPr>
            <a:r>
              <a:rPr lang="en-US" sz="1100" dirty="0">
                <a:solidFill>
                  <a:srgbClr val="1F2937"/>
                </a:solidFill>
                <a:latin typeface="Calibri" pitchFamily="34" charset="0"/>
                <a:ea typeface="Calibri" pitchFamily="34" charset="-122"/>
                <a:cs typeface="Calibri" pitchFamily="34" charset="-120"/>
              </a:rPr>
              <a:t>2. AIContextProvider · 동적 도구 패턴 깊이 학습</a:t>
            </a:r>
            <a:endParaRPr lang="en-US" sz="1100" dirty="0"/>
          </a:p>
          <a:p>
            <a:pPr indent="0" marL="0">
              <a:spcAft>
                <a:spcPts val="800"/>
              </a:spcAft>
              <a:buNone/>
            </a:pPr>
            <a:r>
              <a:rPr lang="en-US" sz="1100" dirty="0">
                <a:solidFill>
                  <a:srgbClr val="1F2937"/>
                </a:solidFill>
                <a:latin typeface="Calibri" pitchFamily="34" charset="0"/>
                <a:ea typeface="Calibri" pitchFamily="34" charset="-122"/>
                <a:cs typeface="Calibri" pitchFamily="34" charset="-120"/>
              </a:rPr>
              <a:t>3. src Stage08 ~ Stage12 (고급 워크플로우)</a:t>
            </a:r>
            <a:endParaRPr lang="en-US" sz="1100" dirty="0"/>
          </a:p>
          <a:p>
            <a:pPr indent="0" marL="0">
              <a:spcAft>
                <a:spcPts val="800"/>
              </a:spcAft>
              <a:buNone/>
            </a:pPr>
            <a:r>
              <a:rPr lang="en-US" sz="1100" dirty="0">
                <a:solidFill>
                  <a:srgbClr val="1F2937"/>
                </a:solidFill>
                <a:latin typeface="Calibri" pitchFamily="34" charset="0"/>
                <a:ea typeface="Calibri" pitchFamily="34" charset="-122"/>
                <a:cs typeface="Calibri" pitchFamily="34" charset="-120"/>
              </a:rPr>
              <a:t>4. src 보너스 모듈 4 종으로 마무리</a:t>
            </a:r>
            <a:endParaRPr lang="en-US" sz="1100" dirty="0"/>
          </a:p>
        </p:txBody>
      </p:sp>
      <p:sp>
        <p:nvSpPr>
          <p:cNvPr id="15" name="Shape 13"/>
          <p:cNvSpPr/>
          <p:nvPr/>
        </p:nvSpPr>
        <p:spPr>
          <a:xfrm>
            <a:off x="6272784" y="2194560"/>
            <a:ext cx="2697480" cy="30175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6" name="Shape 14"/>
          <p:cNvSpPr/>
          <p:nvPr/>
        </p:nvSpPr>
        <p:spPr>
          <a:xfrm>
            <a:off x="6272784" y="2194560"/>
            <a:ext cx="2697480" cy="457200"/>
          </a:xfrm>
          <a:prstGeom prst="rect">
            <a:avLst/>
          </a:prstGeom>
          <a:solidFill>
            <a:srgbClr val="F97316"/>
          </a:solidFill>
          <a:ln/>
        </p:spPr>
      </p:sp>
      <p:sp>
        <p:nvSpPr>
          <p:cNvPr id="17" name="Text 15"/>
          <p:cNvSpPr/>
          <p:nvPr/>
        </p:nvSpPr>
        <p:spPr>
          <a:xfrm>
            <a:off x="6409944" y="2194560"/>
            <a:ext cx="242316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 채널·배포 코스 (2-3주)</a:t>
            </a:r>
            <a:endParaRPr lang="en-US" sz="1250" dirty="0"/>
          </a:p>
        </p:txBody>
      </p:sp>
      <p:sp>
        <p:nvSpPr>
          <p:cNvPr id="18" name="Text 16"/>
          <p:cNvSpPr/>
          <p:nvPr/>
        </p:nvSpPr>
        <p:spPr>
          <a:xfrm>
            <a:off x="6455664" y="2788920"/>
            <a:ext cx="2331720" cy="2240280"/>
          </a:xfrm>
          <a:prstGeom prst="rect">
            <a:avLst/>
          </a:prstGeom>
          <a:noFill/>
          <a:ln/>
        </p:spPr>
        <p:txBody>
          <a:bodyPr wrap="square" lIns="0" tIns="0" rIns="0" bIns="0" rtlCol="0" anchor="ctr"/>
          <a:lstStyle/>
          <a:p>
            <a:pPr indent="0" marL="0">
              <a:spcAft>
                <a:spcPts val="800"/>
              </a:spcAft>
              <a:buNone/>
            </a:pPr>
            <a:r>
              <a:rPr lang="en-US" sz="1100" dirty="0">
                <a:solidFill>
                  <a:srgbClr val="1F2937"/>
                </a:solidFill>
                <a:latin typeface="Calibri" pitchFamily="34" charset="0"/>
                <a:ea typeface="Calibri" pitchFamily="34" charset="-122"/>
                <a:cs typeface="Calibri" pitchFamily="34" charset="-120"/>
              </a:rPr>
              <a:t>1. src2 Stage01 ~ Stage06 (콘솔→웹→메신저→메모리)</a:t>
            </a:r>
            <a:endParaRPr lang="en-US" sz="1100" dirty="0"/>
          </a:p>
          <a:p>
            <a:pPr indent="0" marL="0">
              <a:spcAft>
                <a:spcPts val="800"/>
              </a:spcAft>
              <a:buNone/>
            </a:pPr>
            <a:r>
              <a:rPr lang="en-US" sz="1100" dirty="0">
                <a:solidFill>
                  <a:srgbClr val="1F2937"/>
                </a:solidFill>
                <a:latin typeface="Calibri" pitchFamily="34" charset="0"/>
                <a:ea typeface="Calibri" pitchFamily="34" charset="-122"/>
                <a:cs typeface="Calibri" pitchFamily="34" charset="-120"/>
              </a:rPr>
              <a:t>2. src2 Stage07 ~ Stage10 (멀티에이전트→음성)</a:t>
            </a:r>
            <a:endParaRPr lang="en-US" sz="1100" dirty="0"/>
          </a:p>
          <a:p>
            <a:pPr indent="0" marL="0">
              <a:spcAft>
                <a:spcPts val="800"/>
              </a:spcAft>
              <a:buNone/>
            </a:pPr>
            <a:r>
              <a:rPr lang="en-US" sz="1100" dirty="0">
                <a:solidFill>
                  <a:srgbClr val="1F2937"/>
                </a:solidFill>
                <a:latin typeface="Calibri" pitchFamily="34" charset="0"/>
                <a:ea typeface="Calibri" pitchFamily="34" charset="-122"/>
                <a:cs typeface="Calibri" pitchFamily="34" charset="-120"/>
              </a:rPr>
              <a:t>3. src2 Stage11 (Gateway + Docker 배포)</a:t>
            </a:r>
            <a:endParaRPr lang="en-US" sz="1100" dirty="0"/>
          </a:p>
        </p:txBody>
      </p:sp>
      <p:sp>
        <p:nvSpPr>
          <p:cNvPr id="19" name="Shape 17"/>
          <p:cNvSpPr/>
          <p:nvPr/>
        </p:nvSpPr>
        <p:spPr>
          <a:xfrm>
            <a:off x="9134856" y="2194560"/>
            <a:ext cx="2697480" cy="3017520"/>
          </a:xfrm>
          <a:prstGeom prst="rect">
            <a:avLst/>
          </a:prstGeom>
          <a:solidFill>
            <a:srgbClr val="F8FAFC"/>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9134856" y="2194560"/>
            <a:ext cx="2697480" cy="457200"/>
          </a:xfrm>
          <a:prstGeom prst="rect">
            <a:avLst/>
          </a:prstGeom>
          <a:solidFill>
            <a:srgbClr val="0F4C81"/>
          </a:solidFill>
          <a:ln/>
        </p:spPr>
      </p:sp>
      <p:sp>
        <p:nvSpPr>
          <p:cNvPr id="21" name="Text 19"/>
          <p:cNvSpPr/>
          <p:nvPr/>
        </p:nvSpPr>
        <p:spPr>
          <a:xfrm>
            <a:off x="9272016" y="2194560"/>
            <a:ext cx="242316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 전문가 풀코스 (3-4개월)</a:t>
            </a:r>
            <a:endParaRPr lang="en-US" sz="1250" dirty="0"/>
          </a:p>
        </p:txBody>
      </p:sp>
      <p:sp>
        <p:nvSpPr>
          <p:cNvPr id="22" name="Text 20"/>
          <p:cNvSpPr/>
          <p:nvPr/>
        </p:nvSpPr>
        <p:spPr>
          <a:xfrm>
            <a:off x="9317736" y="2788920"/>
            <a:ext cx="2331720" cy="2240280"/>
          </a:xfrm>
          <a:prstGeom prst="rect">
            <a:avLst/>
          </a:prstGeom>
          <a:noFill/>
          <a:ln/>
        </p:spPr>
        <p:txBody>
          <a:bodyPr wrap="square" lIns="0" tIns="0" rIns="0" bIns="0" rtlCol="0" anchor="ctr"/>
          <a:lstStyle/>
          <a:p>
            <a:pPr indent="0" marL="0">
              <a:spcAft>
                <a:spcPts val="800"/>
              </a:spcAft>
              <a:buNone/>
            </a:pPr>
            <a:r>
              <a:rPr lang="en-US" sz="1100" dirty="0">
                <a:solidFill>
                  <a:srgbClr val="1F2937"/>
                </a:solidFill>
                <a:latin typeface="Calibri" pitchFamily="34" charset="0"/>
                <a:ea typeface="Calibri" pitchFamily="34" charset="-122"/>
                <a:cs typeface="Calibri" pitchFamily="34" charset="-120"/>
              </a:rPr>
              <a:t>1. src 정통 코스 (Stage01 ~ Stage15) 완주</a:t>
            </a:r>
            <a:endParaRPr lang="en-US" sz="1100" dirty="0"/>
          </a:p>
          <a:p>
            <a:pPr indent="0" marL="0">
              <a:spcAft>
                <a:spcPts val="800"/>
              </a:spcAft>
              <a:buNone/>
            </a:pPr>
            <a:r>
              <a:rPr lang="en-US" sz="1100" dirty="0">
                <a:solidFill>
                  <a:srgbClr val="1F2937"/>
                </a:solidFill>
                <a:latin typeface="Calibri" pitchFamily="34" charset="0"/>
                <a:ea typeface="Calibri" pitchFamily="34" charset="-122"/>
                <a:cs typeface="Calibri" pitchFamily="34" charset="-120"/>
              </a:rPr>
              <a:t>2. src2 채널·배포 코스 병행</a:t>
            </a:r>
            <a:endParaRPr lang="en-US" sz="1100" dirty="0"/>
          </a:p>
          <a:p>
            <a:pPr indent="0" marL="0">
              <a:spcAft>
                <a:spcPts val="800"/>
              </a:spcAft>
              <a:buNone/>
            </a:pPr>
            <a:r>
              <a:rPr lang="en-US" sz="1100" dirty="0">
                <a:solidFill>
                  <a:srgbClr val="1F2937"/>
                </a:solidFill>
                <a:latin typeface="Calibri" pitchFamily="34" charset="0"/>
                <a:ea typeface="Calibri" pitchFamily="34" charset="-122"/>
                <a:cs typeface="Calibri" pitchFamily="34" charset="-120"/>
              </a:rPr>
              <a:t>3. Stage15 Copilot + Stage11 Gateway 통합</a:t>
            </a:r>
            <a:endParaRPr lang="en-US" sz="1100" dirty="0"/>
          </a:p>
          <a:p>
            <a:pPr indent="0" marL="0">
              <a:spcAft>
                <a:spcPts val="800"/>
              </a:spcAft>
              <a:buNone/>
            </a:pPr>
            <a:r>
              <a:rPr lang="en-US" sz="1100" dirty="0">
                <a:solidFill>
                  <a:srgbClr val="1F2937"/>
                </a:solidFill>
                <a:latin typeface="Calibri" pitchFamily="34" charset="0"/>
                <a:ea typeface="Calibri" pitchFamily="34" charset="-122"/>
                <a:cs typeface="Calibri" pitchFamily="34" charset="-120"/>
              </a:rPr>
              <a:t>4. OpenTelemetry · 보안 · 스케일링 심화</a:t>
            </a:r>
            <a:endParaRPr lang="en-US" sz="110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24" name="Text 2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89</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GETTING STARTED</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환경 설정과 첫 실행</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Text 4"/>
          <p:cNvSpPr/>
          <p:nvPr/>
        </p:nvSpPr>
        <p:spPr>
          <a:xfrm>
            <a:off x="548640" y="1600200"/>
            <a:ext cx="5486400" cy="365760"/>
          </a:xfrm>
          <a:prstGeom prst="rect">
            <a:avLst/>
          </a:prstGeom>
          <a:noFill/>
          <a:ln/>
        </p:spPr>
        <p:txBody>
          <a:bodyPr wrap="square" lIns="0" tIns="0" rIns="0" bIns="0" rtlCol="0" anchor="ctr"/>
          <a:lstStyle/>
          <a:p>
            <a:pPr indent="0" marL="0">
              <a:buNone/>
            </a:pPr>
            <a:r>
              <a:rPr lang="en-US" sz="1600" b="1" dirty="0">
                <a:solidFill>
                  <a:srgbClr val="0F4C81"/>
                </a:solidFill>
                <a:latin typeface="Calibri" pitchFamily="34" charset="0"/>
                <a:ea typeface="Calibri" pitchFamily="34" charset="-122"/>
                <a:cs typeface="Calibri" pitchFamily="34" charset="-120"/>
              </a:rPr>
              <a:t>사전 요구사항</a:t>
            </a:r>
            <a:endParaRPr lang="en-US" sz="1600" dirty="0"/>
          </a:p>
        </p:txBody>
      </p:sp>
      <p:sp>
        <p:nvSpPr>
          <p:cNvPr id="7" name="Text 5"/>
          <p:cNvSpPr/>
          <p:nvPr/>
        </p:nvSpPr>
        <p:spPr>
          <a:xfrm>
            <a:off x="548640" y="2011680"/>
            <a:ext cx="5486400" cy="237744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.NET 10 SDK (src2 트랙용) 또는 .NET 8 SDK (src 트랙용)</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Visual Studio 2022 또는 VS Code + C# Dev Kit</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OpenAI 호환 API 키 (OpenAI · Azure OpenAI · 로컬 LM Studio)</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Docker (Stage 11 Gateway 단계용 / 선택)</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PostgreSQL 또는 SQLite (Stage 06 Database 단계용)</a:t>
            </a:r>
            <a:endParaRPr lang="en-US" sz="1200" dirty="0"/>
          </a:p>
        </p:txBody>
      </p:sp>
      <p:sp>
        <p:nvSpPr>
          <p:cNvPr id="8" name="Text 6"/>
          <p:cNvSpPr/>
          <p:nvPr/>
        </p:nvSpPr>
        <p:spPr>
          <a:xfrm>
            <a:off x="548640" y="4434840"/>
            <a:ext cx="5486400" cy="365760"/>
          </a:xfrm>
          <a:prstGeom prst="rect">
            <a:avLst/>
          </a:prstGeom>
          <a:noFill/>
          <a:ln/>
        </p:spPr>
        <p:txBody>
          <a:bodyPr wrap="square" lIns="0" tIns="0" rIns="0" bIns="0" rtlCol="0" anchor="ctr"/>
          <a:lstStyle/>
          <a:p>
            <a:pPr indent="0" marL="0">
              <a:buNone/>
            </a:pPr>
            <a:r>
              <a:rPr lang="en-US" sz="1400" b="1" dirty="0">
                <a:solidFill>
                  <a:srgbClr val="0F4C81"/>
                </a:solidFill>
                <a:latin typeface="Calibri" pitchFamily="34" charset="0"/>
                <a:ea typeface="Calibri" pitchFamily="34" charset="-122"/>
                <a:cs typeface="Calibri" pitchFamily="34" charset="-120"/>
              </a:rPr>
              <a:t>appsettings.json (공통)</a:t>
            </a:r>
            <a:endParaRPr lang="en-US" sz="1400" dirty="0"/>
          </a:p>
        </p:txBody>
      </p:sp>
      <p:sp>
        <p:nvSpPr>
          <p:cNvPr id="9" name="Shape 7"/>
          <p:cNvSpPr/>
          <p:nvPr/>
        </p:nvSpPr>
        <p:spPr>
          <a:xfrm>
            <a:off x="548640" y="4846320"/>
            <a:ext cx="5486400" cy="1554480"/>
          </a:xfrm>
          <a:prstGeom prst="rect">
            <a:avLst/>
          </a:prstGeom>
          <a:solidFill>
            <a:srgbClr val="F1F5F9"/>
          </a:solidFill>
          <a:ln w="9525">
            <a:solidFill>
              <a:srgbClr val="E2E8F0"/>
            </a:solidFill>
            <a:prstDash val="solid"/>
          </a:ln>
        </p:spPr>
      </p:sp>
      <p:sp>
        <p:nvSpPr>
          <p:cNvPr id="10" name="Text 8"/>
          <p:cNvSpPr/>
          <p:nvPr/>
        </p:nvSpPr>
        <p:spPr>
          <a:xfrm>
            <a:off x="685800" y="4937760"/>
            <a:ext cx="5212080" cy="1417320"/>
          </a:xfrm>
          <a:prstGeom prst="rect">
            <a:avLst/>
          </a:prstGeom>
          <a:noFill/>
          <a:ln/>
        </p:spPr>
        <p:txBody>
          <a:bodyPr wrap="square" lIns="0" tIns="0" rIns="0" bIns="0" rtlCol="0" anchor="ctr"/>
          <a:lstStyle/>
          <a:p>
            <a:pPr indent="0" marL="0">
              <a:buNone/>
            </a:pPr>
            <a:r>
              <a:rPr lang="en-US" sz="950" dirty="0">
                <a:solidFill>
                  <a:srgbClr val="0F172A"/>
                </a:solidFill>
                <a:latin typeface="Consolas" pitchFamily="34" charset="0"/>
                <a:ea typeface="Consolas" pitchFamily="34" charset="-122"/>
                <a:cs typeface="Consolas" pitchFamily="34" charset="-120"/>
              </a:rPr>
              <a:t>{</a:t>
            </a:r>
            <a:endParaRPr lang="en-US" sz="950" dirty="0"/>
          </a:p>
          <a:p>
            <a:pPr indent="0" marL="0">
              <a:buNone/>
            </a:pPr>
            <a:r>
              <a:rPr lang="en-US" sz="950" dirty="0">
                <a:solidFill>
                  <a:srgbClr val="0F172A"/>
                </a:solidFill>
                <a:latin typeface="Consolas" pitchFamily="34" charset="0"/>
                <a:ea typeface="Consolas" pitchFamily="34" charset="-122"/>
                <a:cs typeface="Consolas" pitchFamily="34" charset="-120"/>
              </a:rPr>
              <a:t>  "LLM": {</a:t>
            </a:r>
            <a:endParaRPr lang="en-US" sz="950" dirty="0"/>
          </a:p>
          <a:p>
            <a:pPr indent="0" marL="0">
              <a:buNone/>
            </a:pPr>
            <a:r>
              <a:rPr lang="en-US" sz="950" dirty="0">
                <a:solidFill>
                  <a:srgbClr val="0F172A"/>
                </a:solidFill>
                <a:latin typeface="Consolas" pitchFamily="34" charset="0"/>
                <a:ea typeface="Consolas" pitchFamily="34" charset="-122"/>
                <a:cs typeface="Consolas" pitchFamily="34" charset="-120"/>
              </a:rPr>
              <a:t>    "Provider": "AzureOpenAI",</a:t>
            </a:r>
            <a:endParaRPr lang="en-US" sz="950" dirty="0"/>
          </a:p>
          <a:p>
            <a:pPr indent="0" marL="0">
              <a:buNone/>
            </a:pPr>
            <a:r>
              <a:rPr lang="en-US" sz="950" dirty="0">
                <a:solidFill>
                  <a:srgbClr val="0F172A"/>
                </a:solidFill>
                <a:latin typeface="Consolas" pitchFamily="34" charset="0"/>
                <a:ea typeface="Consolas" pitchFamily="34" charset="-122"/>
                <a:cs typeface="Consolas" pitchFamily="34" charset="-120"/>
              </a:rPr>
              <a:t>    "Endpoint": "your-endpoint",</a:t>
            </a:r>
            <a:endParaRPr lang="en-US" sz="950" dirty="0"/>
          </a:p>
          <a:p>
            <a:pPr indent="0" marL="0">
              <a:buNone/>
            </a:pPr>
            <a:r>
              <a:rPr lang="en-US" sz="950" dirty="0">
                <a:solidFill>
                  <a:srgbClr val="0F172A"/>
                </a:solidFill>
                <a:latin typeface="Consolas" pitchFamily="34" charset="0"/>
                <a:ea typeface="Consolas" pitchFamily="34" charset="-122"/>
                <a:cs typeface="Consolas" pitchFamily="34" charset="-120"/>
              </a:rPr>
              <a:t>    "ApiKey": "your-key",</a:t>
            </a:r>
            <a:endParaRPr lang="en-US" sz="950" dirty="0"/>
          </a:p>
          <a:p>
            <a:pPr indent="0" marL="0">
              <a:buNone/>
            </a:pPr>
            <a:r>
              <a:rPr lang="en-US" sz="950" dirty="0">
                <a:solidFill>
                  <a:srgbClr val="0F172A"/>
                </a:solidFill>
                <a:latin typeface="Consolas" pitchFamily="34" charset="0"/>
                <a:ea typeface="Consolas" pitchFamily="34" charset="-122"/>
                <a:cs typeface="Consolas" pitchFamily="34" charset="-120"/>
              </a:rPr>
              <a:t>    "Deployment": "gpt-4",</a:t>
            </a:r>
            <a:endParaRPr lang="en-US" sz="950" dirty="0"/>
          </a:p>
          <a:p>
            <a:pPr indent="0" marL="0">
              <a:buNone/>
            </a:pPr>
            <a:r>
              <a:rPr lang="en-US" sz="950" dirty="0">
                <a:solidFill>
                  <a:srgbClr val="0F172A"/>
                </a:solidFill>
                <a:latin typeface="Consolas" pitchFamily="34" charset="0"/>
                <a:ea typeface="Consolas" pitchFamily="34" charset="-122"/>
                <a:cs typeface="Consolas" pitchFamily="34" charset="-120"/>
              </a:rPr>
              <a:t>    "Model": "gpt-5.4"</a:t>
            </a:r>
            <a:endParaRPr lang="en-US" sz="950" dirty="0"/>
          </a:p>
          <a:p>
            <a:pPr indent="0" marL="0">
              <a:buNone/>
            </a:pPr>
            <a:r>
              <a:rPr lang="en-US" sz="950" dirty="0">
                <a:solidFill>
                  <a:srgbClr val="0F172A"/>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0F172A"/>
                </a:solidFill>
                <a:latin typeface="Consolas" pitchFamily="34" charset="0"/>
                <a:ea typeface="Consolas" pitchFamily="34" charset="-122"/>
                <a:cs typeface="Consolas" pitchFamily="34" charset="-120"/>
              </a:rPr>
              <a:t>}</a:t>
            </a:r>
            <a:endParaRPr lang="en-US" sz="950" dirty="0"/>
          </a:p>
        </p:txBody>
      </p:sp>
      <p:sp>
        <p:nvSpPr>
          <p:cNvPr id="11" name="Text 9"/>
          <p:cNvSpPr/>
          <p:nvPr/>
        </p:nvSpPr>
        <p:spPr>
          <a:xfrm>
            <a:off x="6263640" y="1600200"/>
            <a:ext cx="5486400" cy="365760"/>
          </a:xfrm>
          <a:prstGeom prst="rect">
            <a:avLst/>
          </a:prstGeom>
          <a:noFill/>
          <a:ln/>
        </p:spPr>
        <p:txBody>
          <a:bodyPr wrap="square" lIns="0" tIns="0" rIns="0" bIns="0" rtlCol="0" anchor="ctr"/>
          <a:lstStyle/>
          <a:p>
            <a:pPr indent="0" marL="0">
              <a:buNone/>
            </a:pPr>
            <a:r>
              <a:rPr lang="en-US" sz="1600" b="1" dirty="0">
                <a:solidFill>
                  <a:srgbClr val="0F4C81"/>
                </a:solidFill>
                <a:latin typeface="Calibri" pitchFamily="34" charset="0"/>
                <a:ea typeface="Calibri" pitchFamily="34" charset="-122"/>
                <a:cs typeface="Calibri" pitchFamily="34" charset="-120"/>
              </a:rPr>
              <a:t>첫 실행 명령</a:t>
            </a:r>
            <a:endParaRPr lang="en-US" sz="1600" dirty="0"/>
          </a:p>
        </p:txBody>
      </p:sp>
      <p:sp>
        <p:nvSpPr>
          <p:cNvPr id="12" name="Shape 10"/>
          <p:cNvSpPr/>
          <p:nvPr/>
        </p:nvSpPr>
        <p:spPr>
          <a:xfrm>
            <a:off x="6263640" y="2011680"/>
            <a:ext cx="5440680" cy="4389120"/>
          </a:xfrm>
          <a:prstGeom prst="rect">
            <a:avLst/>
          </a:prstGeom>
          <a:solidFill>
            <a:srgbClr val="F1F5F9"/>
          </a:solidFill>
          <a:ln w="9525">
            <a:solidFill>
              <a:srgbClr val="E2E8F0"/>
            </a:solidFill>
            <a:prstDash val="solid"/>
          </a:ln>
        </p:spPr>
      </p:sp>
      <p:sp>
        <p:nvSpPr>
          <p:cNvPr id="13" name="Text 11"/>
          <p:cNvSpPr/>
          <p:nvPr/>
        </p:nvSpPr>
        <p:spPr>
          <a:xfrm>
            <a:off x="6400800" y="2103120"/>
            <a:ext cx="5212080" cy="4251960"/>
          </a:xfrm>
          <a:prstGeom prst="rect">
            <a:avLst/>
          </a:prstGeom>
          <a:noFill/>
          <a:ln/>
        </p:spPr>
        <p:txBody>
          <a:bodyPr wrap="square" lIns="0" tIns="0" rIns="0" bIns="0" rtlCol="0" anchor="ctr"/>
          <a:lstStyle/>
          <a:p>
            <a:pPr indent="0" marL="0">
              <a:buNone/>
            </a:pPr>
            <a:r>
              <a:rPr lang="en-US" sz="1000" dirty="0">
                <a:solidFill>
                  <a:srgbClr val="0F172A"/>
                </a:solidFill>
                <a:latin typeface="Consolas" pitchFamily="34" charset="0"/>
                <a:ea typeface="Consolas" pitchFamily="34" charset="-122"/>
                <a:cs typeface="Consolas" pitchFamily="34" charset="-120"/>
              </a:rPr>
              <a:t># 1) 환경 변수 설정 (PowerShell)</a:t>
            </a:r>
            <a:endParaRPr lang="en-US" sz="1000" dirty="0"/>
          </a:p>
          <a:p>
            <a:pPr indent="0" marL="0">
              <a:buNone/>
            </a:pPr>
            <a:r>
              <a:rPr lang="en-US" sz="1000" dirty="0">
                <a:solidFill>
                  <a:srgbClr val="0F172A"/>
                </a:solidFill>
                <a:latin typeface="Consolas" pitchFamily="34" charset="0"/>
                <a:ea typeface="Consolas" pitchFamily="34" charset="-122"/>
                <a:cs typeface="Consolas" pitchFamily="34" charset="-120"/>
              </a:rPr>
              <a:t>$env:OPENAI_API_KEY="sk-..."</a:t>
            </a:r>
            <a:endParaRPr lang="en-US" sz="1000" dirty="0"/>
          </a:p>
          <a:p>
            <a:pPr indent="0" marL="0">
              <a:buNone/>
            </a:pPr>
            <a:r>
              <a:rPr lang="en-US" sz="1000" dirty="0">
                <a:solidFill>
                  <a:srgbClr val="0F172A"/>
                </a:solidFill>
                <a:latin typeface="Consolas" pitchFamily="34" charset="0"/>
                <a:ea typeface="Consolas" pitchFamily="34" charset="-122"/>
                <a:cs typeface="Consolas" pitchFamily="34" charset="-120"/>
              </a:rPr>
              <a:t>$env:OPENAI_BASE_URL="https://api.openai.com/v1"</a:t>
            </a:r>
            <a:endParaRPr lang="en-US" sz="1000" dirty="0"/>
          </a:p>
          <a:p>
            <a:pPr indent="0" marL="0">
              <a:buNone/>
            </a:pPr>
            <a:endParaRPr lang="en-US" sz="1000" dirty="0"/>
          </a:p>
          <a:p>
            <a:pPr indent="0" marL="0">
              <a:buNone/>
            </a:pPr>
            <a:r>
              <a:rPr lang="en-US" sz="1000" dirty="0">
                <a:solidFill>
                  <a:srgbClr val="0F172A"/>
                </a:solidFill>
                <a:latin typeface="Consolas" pitchFamily="34" charset="0"/>
                <a:ea typeface="Consolas" pitchFamily="34" charset="-122"/>
                <a:cs typeface="Consolas" pitchFamily="34" charset="-120"/>
              </a:rPr>
              <a:t># 2) src 트랙 ─ Stage 01 실행</a:t>
            </a:r>
            <a:endParaRPr lang="en-US" sz="1000" dirty="0"/>
          </a:p>
          <a:p>
            <a:pPr indent="0" marL="0">
              <a:buNone/>
            </a:pPr>
            <a:r>
              <a:rPr lang="en-US" sz="1000" dirty="0">
                <a:solidFill>
                  <a:srgbClr val="0F172A"/>
                </a:solidFill>
                <a:latin typeface="Consolas" pitchFamily="34" charset="0"/>
                <a:ea typeface="Consolas" pitchFamily="34" charset="-122"/>
                <a:cs typeface="Consolas" pitchFamily="34" charset="-120"/>
              </a:rPr>
              <a:t>cd src/Stage01_TextAgent</a:t>
            </a:r>
            <a:endParaRPr lang="en-US" sz="1000" dirty="0"/>
          </a:p>
          <a:p>
            <a:pPr indent="0" marL="0">
              <a:buNone/>
            </a:pPr>
            <a:r>
              <a:rPr lang="en-US" sz="1000" dirty="0">
                <a:solidFill>
                  <a:srgbClr val="0F172A"/>
                </a:solidFill>
                <a:latin typeface="Consolas" pitchFamily="34" charset="0"/>
                <a:ea typeface="Consolas" pitchFamily="34" charset="-122"/>
                <a:cs typeface="Consolas" pitchFamily="34" charset="-120"/>
              </a:rPr>
              <a:t>dotnet run --project 01A_GameConfigBot</a:t>
            </a:r>
            <a:endParaRPr lang="en-US" sz="1000" dirty="0"/>
          </a:p>
          <a:p>
            <a:pPr indent="0" marL="0">
              <a:buNone/>
            </a:pPr>
            <a:endParaRPr lang="en-US" sz="1000" dirty="0"/>
          </a:p>
          <a:p>
            <a:pPr indent="0" marL="0">
              <a:buNone/>
            </a:pPr>
            <a:r>
              <a:rPr lang="en-US" sz="1000" dirty="0">
                <a:solidFill>
                  <a:srgbClr val="0F172A"/>
                </a:solidFill>
                <a:latin typeface="Consolas" pitchFamily="34" charset="0"/>
                <a:ea typeface="Consolas" pitchFamily="34" charset="-122"/>
                <a:cs typeface="Consolas" pitchFamily="34" charset="-120"/>
              </a:rPr>
              <a:t># 3) src2 트랙 ─ Hello Agent 실행</a:t>
            </a:r>
            <a:endParaRPr lang="en-US" sz="1000" dirty="0"/>
          </a:p>
          <a:p>
            <a:pPr indent="0" marL="0">
              <a:buNone/>
            </a:pPr>
            <a:r>
              <a:rPr lang="en-US" sz="1000" dirty="0">
                <a:solidFill>
                  <a:srgbClr val="0F172A"/>
                </a:solidFill>
                <a:latin typeface="Consolas" pitchFamily="34" charset="0"/>
                <a:ea typeface="Consolas" pitchFamily="34" charset="-122"/>
                <a:cs typeface="Consolas" pitchFamily="34" charset="-120"/>
              </a:rPr>
              <a:t>cd src2</a:t>
            </a:r>
            <a:endParaRPr lang="en-US" sz="1000" dirty="0"/>
          </a:p>
          <a:p>
            <a:pPr indent="0" marL="0">
              <a:buNone/>
            </a:pPr>
            <a:r>
              <a:rPr lang="en-US" sz="1000" dirty="0">
                <a:solidFill>
                  <a:srgbClr val="0F172A"/>
                </a:solidFill>
                <a:latin typeface="Consolas" pitchFamily="34" charset="0"/>
                <a:ea typeface="Consolas" pitchFamily="34" charset="-122"/>
                <a:cs typeface="Consolas" pitchFamily="34" charset="-120"/>
              </a:rPr>
              <a:t>dotnet run --project Stage01_TextAgent</a:t>
            </a:r>
            <a:endParaRPr lang="en-US" sz="1000" dirty="0"/>
          </a:p>
          <a:p>
            <a:pPr indent="0" marL="0">
              <a:buNone/>
            </a:pPr>
            <a:endParaRPr lang="en-US" sz="1000" dirty="0"/>
          </a:p>
          <a:p>
            <a:pPr indent="0" marL="0">
              <a:buNone/>
            </a:pPr>
            <a:r>
              <a:rPr lang="en-US" sz="1000" dirty="0">
                <a:solidFill>
                  <a:srgbClr val="0F172A"/>
                </a:solidFill>
                <a:latin typeface="Consolas" pitchFamily="34" charset="0"/>
                <a:ea typeface="Consolas" pitchFamily="34" charset="-122"/>
                <a:cs typeface="Consolas" pitchFamily="34" charset="-120"/>
              </a:rPr>
              <a:t># 4) src2 ─ WebChat 실행 후 브라우저 접속</a:t>
            </a:r>
            <a:endParaRPr lang="en-US" sz="1000" dirty="0"/>
          </a:p>
          <a:p>
            <a:pPr indent="0" marL="0">
              <a:buNone/>
            </a:pPr>
            <a:r>
              <a:rPr lang="en-US" sz="1000" dirty="0">
                <a:solidFill>
                  <a:srgbClr val="0F172A"/>
                </a:solidFill>
                <a:latin typeface="Consolas" pitchFamily="34" charset="0"/>
                <a:ea typeface="Consolas" pitchFamily="34" charset="-122"/>
                <a:cs typeface="Consolas" pitchFamily="34" charset="-120"/>
              </a:rPr>
              <a:t>cd src2</a:t>
            </a:r>
            <a:endParaRPr lang="en-US" sz="1000" dirty="0"/>
          </a:p>
          <a:p>
            <a:pPr indent="0" marL="0">
              <a:buNone/>
            </a:pPr>
            <a:r>
              <a:rPr lang="en-US" sz="1000" dirty="0">
                <a:solidFill>
                  <a:srgbClr val="0F172A"/>
                </a:solidFill>
                <a:latin typeface="Consolas" pitchFamily="34" charset="0"/>
                <a:ea typeface="Consolas" pitchFamily="34" charset="-122"/>
                <a:cs typeface="Consolas" pitchFamily="34" charset="-120"/>
              </a:rPr>
              <a:t>dotnet run --project Stage04_WebChat</a:t>
            </a:r>
            <a:endParaRPr lang="en-US" sz="1000" dirty="0"/>
          </a:p>
          <a:p>
            <a:pPr indent="0" marL="0">
              <a:buNone/>
            </a:pPr>
            <a:r>
              <a:rPr lang="en-US" sz="1000" dirty="0">
                <a:solidFill>
                  <a:srgbClr val="0F172A"/>
                </a:solidFill>
                <a:latin typeface="Consolas" pitchFamily="34" charset="0"/>
                <a:ea typeface="Consolas" pitchFamily="34" charset="-122"/>
                <a:cs typeface="Consolas" pitchFamily="34" charset="-120"/>
              </a:rPr>
              <a:t># → http://localhost:5xxx 로 접속</a:t>
            </a:r>
            <a:endParaRPr lang="en-US" sz="1000" dirty="0"/>
          </a:p>
          <a:p>
            <a:pPr indent="0" marL="0">
              <a:buNone/>
            </a:pPr>
            <a:endParaRPr lang="en-US" sz="1000" dirty="0"/>
          </a:p>
          <a:p>
            <a:pPr indent="0" marL="0">
              <a:buNone/>
            </a:pPr>
            <a:r>
              <a:rPr lang="en-US" sz="1000" dirty="0">
                <a:solidFill>
                  <a:srgbClr val="0F172A"/>
                </a:solidFill>
                <a:latin typeface="Consolas" pitchFamily="34" charset="0"/>
                <a:ea typeface="Consolas" pitchFamily="34" charset="-122"/>
                <a:cs typeface="Consolas" pitchFamily="34" charset="-120"/>
              </a:rPr>
              <a:t># 5) src2 ─ Gateway 도커로 띄우기</a:t>
            </a:r>
            <a:endParaRPr lang="en-US" sz="1000" dirty="0"/>
          </a:p>
          <a:p>
            <a:pPr indent="0" marL="0">
              <a:buNone/>
            </a:pPr>
            <a:r>
              <a:rPr lang="en-US" sz="1000" dirty="0">
                <a:solidFill>
                  <a:srgbClr val="0F172A"/>
                </a:solidFill>
                <a:latin typeface="Consolas" pitchFamily="34" charset="0"/>
                <a:ea typeface="Consolas" pitchFamily="34" charset="-122"/>
                <a:cs typeface="Consolas" pitchFamily="34" charset="-120"/>
              </a:rPr>
              <a:t>docker build -t stage11-gateway \</a:t>
            </a:r>
            <a:endParaRPr lang="en-US" sz="1000" dirty="0"/>
          </a:p>
          <a:p>
            <a:pPr indent="0" marL="0">
              <a:buNone/>
            </a:pPr>
            <a:r>
              <a:rPr lang="en-US" sz="1000" dirty="0">
                <a:solidFill>
                  <a:srgbClr val="0F172A"/>
                </a:solidFill>
                <a:latin typeface="Consolas" pitchFamily="34" charset="0"/>
                <a:ea typeface="Consolas" pitchFamily="34" charset="-122"/>
                <a:cs typeface="Consolas" pitchFamily="34" charset="-120"/>
              </a:rPr>
              <a:t>  ./src2/Stage11_Gateway</a:t>
            </a:r>
            <a:endParaRPr lang="en-US" sz="1000" dirty="0"/>
          </a:p>
          <a:p>
            <a:pPr indent="0" marL="0">
              <a:buNone/>
            </a:pPr>
            <a:r>
              <a:rPr lang="en-US" sz="1000" dirty="0">
                <a:solidFill>
                  <a:srgbClr val="0F172A"/>
                </a:solidFill>
                <a:latin typeface="Consolas" pitchFamily="34" charset="0"/>
                <a:ea typeface="Consolas" pitchFamily="34" charset="-122"/>
                <a:cs typeface="Consolas" pitchFamily="34" charset="-120"/>
              </a:rPr>
              <a:t>docker run -d -p 8080:8080 \</a:t>
            </a:r>
            <a:endParaRPr lang="en-US" sz="1000" dirty="0"/>
          </a:p>
          <a:p>
            <a:pPr indent="0" marL="0">
              <a:buNone/>
            </a:pPr>
            <a:r>
              <a:rPr lang="en-US" sz="1000" dirty="0">
                <a:solidFill>
                  <a:srgbClr val="0F172A"/>
                </a:solidFill>
                <a:latin typeface="Consolas" pitchFamily="34" charset="0"/>
                <a:ea typeface="Consolas" pitchFamily="34" charset="-122"/>
                <a:cs typeface="Consolas" pitchFamily="34" charset="-120"/>
              </a:rPr>
              <a:t>  -e OPENAI_API_KEY=sk-... stage11-gateway</a:t>
            </a:r>
            <a:endParaRPr lang="en-US" sz="1000" dirty="0"/>
          </a:p>
        </p:txBody>
      </p:sp>
      <p:sp>
        <p:nvSpPr>
          <p:cNvPr id="14" name="Text 12"/>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15" name="Text 13"/>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90</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822960"/>
          </a:xfrm>
          <a:prstGeom prst="rect">
            <a:avLst/>
          </a:prstGeom>
          <a:solidFill>
            <a:srgbClr val="F97316"/>
          </a:solidFill>
          <a:ln/>
        </p:spPr>
      </p:sp>
      <p:sp>
        <p:nvSpPr>
          <p:cNvPr id="3" name="Text 1"/>
          <p:cNvSpPr/>
          <p:nvPr/>
        </p:nvSpPr>
        <p:spPr>
          <a:xfrm>
            <a:off x="685800" y="384048"/>
            <a:ext cx="10972800" cy="274320"/>
          </a:xfrm>
          <a:prstGeom prst="rect">
            <a:avLst/>
          </a:prstGeom>
          <a:noFill/>
          <a:ln/>
        </p:spPr>
        <p:txBody>
          <a:bodyPr wrap="square" lIns="0" tIns="0" rIns="0" bIns="0" rtlCol="0" anchor="ctr"/>
          <a:lstStyle/>
          <a:p>
            <a:pPr indent="0" marL="0">
              <a:buNone/>
            </a:pPr>
            <a:r>
              <a:rPr lang="en-US" sz="1100" b="1" spc="400" kern="0" dirty="0">
                <a:solidFill>
                  <a:srgbClr val="F97316"/>
                </a:solidFill>
                <a:latin typeface="Calibri" pitchFamily="34" charset="0"/>
                <a:ea typeface="Calibri" pitchFamily="34" charset="-122"/>
                <a:cs typeface="Calibri" pitchFamily="34" charset="-120"/>
              </a:rPr>
              <a:t>KEY TAKEAWAYS</a:t>
            </a:r>
            <a:endParaRPr lang="en-US" sz="1100" dirty="0"/>
          </a:p>
        </p:txBody>
      </p:sp>
      <p:sp>
        <p:nvSpPr>
          <p:cNvPr id="4" name="Text 2"/>
          <p:cNvSpPr/>
          <p:nvPr/>
        </p:nvSpPr>
        <p:spPr>
          <a:xfrm>
            <a:off x="685800" y="640080"/>
            <a:ext cx="10972800" cy="640080"/>
          </a:xfrm>
          <a:prstGeom prst="rect">
            <a:avLst/>
          </a:prstGeom>
          <a:noFill/>
          <a:ln/>
        </p:spPr>
        <p:txBody>
          <a:bodyPr wrap="square" lIns="0" tIns="0" rIns="0" bIns="0" rtlCol="0" anchor="ctr"/>
          <a:lstStyle/>
          <a:p>
            <a:pPr indent="0" marL="0">
              <a:buNone/>
            </a:pPr>
            <a:r>
              <a:rPr lang="en-US" sz="2600" b="1" dirty="0">
                <a:solidFill>
                  <a:srgbClr val="0F4C81"/>
                </a:solidFill>
                <a:latin typeface="Calibri" pitchFamily="34" charset="0"/>
                <a:ea typeface="Calibri" pitchFamily="34" charset="-122"/>
                <a:cs typeface="Calibri" pitchFamily="34" charset="-120"/>
              </a:rPr>
              <a:t>5 가지 핵심 정리</a:t>
            </a:r>
            <a:endParaRPr lang="en-US" sz="2600" dirty="0"/>
          </a:p>
        </p:txBody>
      </p:sp>
      <p:sp>
        <p:nvSpPr>
          <p:cNvPr id="5" name="Shape 3"/>
          <p:cNvSpPr/>
          <p:nvPr/>
        </p:nvSpPr>
        <p:spPr>
          <a:xfrm>
            <a:off x="457200" y="1325880"/>
            <a:ext cx="11247120" cy="0"/>
          </a:xfrm>
          <a:prstGeom prst="line">
            <a:avLst/>
          </a:prstGeom>
          <a:noFill/>
          <a:ln w="9525">
            <a:solidFill>
              <a:srgbClr val="CBD5E1"/>
            </a:solidFill>
            <a:prstDash val="solid"/>
          </a:ln>
        </p:spPr>
      </p:sp>
      <p:sp>
        <p:nvSpPr>
          <p:cNvPr id="6" name="Shape 4"/>
          <p:cNvSpPr/>
          <p:nvPr/>
        </p:nvSpPr>
        <p:spPr>
          <a:xfrm>
            <a:off x="548640" y="1691640"/>
            <a:ext cx="11064240" cy="868680"/>
          </a:xfrm>
          <a:prstGeom prst="rect">
            <a:avLst/>
          </a:prstGeom>
          <a:solidFill>
            <a:srgbClr val="F8FAFC"/>
          </a:solidFill>
          <a:ln w="9525">
            <a:solidFill>
              <a:srgbClr val="E2E8F0"/>
            </a:solidFill>
            <a:prstDash val="solid"/>
          </a:ln>
        </p:spPr>
      </p:sp>
      <p:sp>
        <p:nvSpPr>
          <p:cNvPr id="7" name="Text 5"/>
          <p:cNvSpPr/>
          <p:nvPr/>
        </p:nvSpPr>
        <p:spPr>
          <a:xfrm>
            <a:off x="640080" y="1691640"/>
            <a:ext cx="914400" cy="868680"/>
          </a:xfrm>
          <a:prstGeom prst="rect">
            <a:avLst/>
          </a:prstGeom>
          <a:noFill/>
          <a:ln/>
        </p:spPr>
        <p:txBody>
          <a:bodyPr wrap="square" lIns="0" tIns="0" rIns="0" bIns="0" rtlCol="0" anchor="ctr"/>
          <a:lstStyle/>
          <a:p>
            <a:pPr algn="l" indent="0" marL="0">
              <a:buNone/>
            </a:pPr>
            <a:r>
              <a:rPr lang="en-US" sz="3200" b="1" dirty="0">
                <a:solidFill>
                  <a:srgbClr val="059669"/>
                </a:solidFill>
                <a:latin typeface="Calibri" pitchFamily="34" charset="0"/>
                <a:ea typeface="Calibri" pitchFamily="34" charset="-122"/>
                <a:cs typeface="Calibri" pitchFamily="34" charset="-120"/>
              </a:rPr>
              <a:t>01</a:t>
            </a:r>
            <a:endParaRPr lang="en-US" sz="3200" dirty="0"/>
          </a:p>
        </p:txBody>
      </p:sp>
      <p:sp>
        <p:nvSpPr>
          <p:cNvPr id="8" name="Shape 6"/>
          <p:cNvSpPr/>
          <p:nvPr/>
        </p:nvSpPr>
        <p:spPr>
          <a:xfrm>
            <a:off x="1508760" y="1828800"/>
            <a:ext cx="0" cy="594360"/>
          </a:xfrm>
          <a:prstGeom prst="line">
            <a:avLst/>
          </a:prstGeom>
          <a:noFill/>
          <a:ln w="31750">
            <a:solidFill>
              <a:srgbClr val="059669"/>
            </a:solidFill>
            <a:prstDash val="solid"/>
          </a:ln>
        </p:spPr>
      </p:sp>
      <p:sp>
        <p:nvSpPr>
          <p:cNvPr id="9" name="Text 7"/>
          <p:cNvSpPr/>
          <p:nvPr/>
        </p:nvSpPr>
        <p:spPr>
          <a:xfrm>
            <a:off x="1691640" y="1783080"/>
            <a:ext cx="9784080" cy="365760"/>
          </a:xfrm>
          <a:prstGeom prst="rect">
            <a:avLst/>
          </a:prstGeom>
          <a:noFill/>
          <a:ln/>
        </p:spPr>
        <p:txBody>
          <a:bodyPr wrap="square" lIns="0" tIns="0" rIns="0" bIns="0" rtlCol="0" anchor="ctr"/>
          <a:lstStyle/>
          <a:p>
            <a:pPr indent="0" marL="0">
              <a:buNone/>
            </a:pPr>
            <a:r>
              <a:rPr lang="en-US" sz="1500" b="1" dirty="0">
                <a:solidFill>
                  <a:srgbClr val="0F4C81"/>
                </a:solidFill>
                <a:latin typeface="Calibri" pitchFamily="34" charset="0"/>
                <a:ea typeface="Calibri" pitchFamily="34" charset="-122"/>
                <a:cs typeface="Calibri" pitchFamily="34" charset="-120"/>
              </a:rPr>
              <a:t>두 트랙이 상호 보완</a:t>
            </a:r>
            <a:endParaRPr lang="en-US" sz="1500" dirty="0"/>
          </a:p>
        </p:txBody>
      </p:sp>
      <p:sp>
        <p:nvSpPr>
          <p:cNvPr id="10" name="Text 8"/>
          <p:cNvSpPr/>
          <p:nvPr/>
        </p:nvSpPr>
        <p:spPr>
          <a:xfrm>
            <a:off x="1691640" y="2103120"/>
            <a:ext cx="9784080" cy="41148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src 는 "개념의 깊이" (15 단계 × 3 + 보너스 4 = 49 개), src2 는 "확장의 폭" (콘솔→음성→게이트웨이 11 개). 같은 MAF 를 두 시각으로 익힙니다.</a:t>
            </a:r>
            <a:endParaRPr lang="en-US" sz="1100" dirty="0"/>
          </a:p>
        </p:txBody>
      </p:sp>
      <p:sp>
        <p:nvSpPr>
          <p:cNvPr id="11" name="Shape 9"/>
          <p:cNvSpPr/>
          <p:nvPr/>
        </p:nvSpPr>
        <p:spPr>
          <a:xfrm>
            <a:off x="548640" y="2633472"/>
            <a:ext cx="11064240" cy="868680"/>
          </a:xfrm>
          <a:prstGeom prst="rect">
            <a:avLst/>
          </a:prstGeom>
          <a:solidFill>
            <a:srgbClr val="F8FAFC"/>
          </a:solidFill>
          <a:ln w="9525">
            <a:solidFill>
              <a:srgbClr val="E2E8F0"/>
            </a:solidFill>
            <a:prstDash val="solid"/>
          </a:ln>
        </p:spPr>
      </p:sp>
      <p:sp>
        <p:nvSpPr>
          <p:cNvPr id="12" name="Text 10"/>
          <p:cNvSpPr/>
          <p:nvPr/>
        </p:nvSpPr>
        <p:spPr>
          <a:xfrm>
            <a:off x="640080" y="2633472"/>
            <a:ext cx="914400" cy="868680"/>
          </a:xfrm>
          <a:prstGeom prst="rect">
            <a:avLst/>
          </a:prstGeom>
          <a:noFill/>
          <a:ln/>
        </p:spPr>
        <p:txBody>
          <a:bodyPr wrap="square" lIns="0" tIns="0" rIns="0" bIns="0" rtlCol="0" anchor="ctr"/>
          <a:lstStyle/>
          <a:p>
            <a:pPr algn="l" indent="0" marL="0">
              <a:buNone/>
            </a:pPr>
            <a:r>
              <a:rPr lang="en-US" sz="3200" b="1" dirty="0">
                <a:solidFill>
                  <a:srgbClr val="0078D4"/>
                </a:solidFill>
                <a:latin typeface="Calibri" pitchFamily="34" charset="0"/>
                <a:ea typeface="Calibri" pitchFamily="34" charset="-122"/>
                <a:cs typeface="Calibri" pitchFamily="34" charset="-120"/>
              </a:rPr>
              <a:t>02</a:t>
            </a:r>
            <a:endParaRPr lang="en-US" sz="3200" dirty="0"/>
          </a:p>
        </p:txBody>
      </p:sp>
      <p:sp>
        <p:nvSpPr>
          <p:cNvPr id="13" name="Shape 11"/>
          <p:cNvSpPr/>
          <p:nvPr/>
        </p:nvSpPr>
        <p:spPr>
          <a:xfrm>
            <a:off x="1508760" y="2770632"/>
            <a:ext cx="0" cy="594360"/>
          </a:xfrm>
          <a:prstGeom prst="line">
            <a:avLst/>
          </a:prstGeom>
          <a:noFill/>
          <a:ln w="31750">
            <a:solidFill>
              <a:srgbClr val="0078D4"/>
            </a:solidFill>
            <a:prstDash val="solid"/>
          </a:ln>
        </p:spPr>
      </p:sp>
      <p:sp>
        <p:nvSpPr>
          <p:cNvPr id="14" name="Text 12"/>
          <p:cNvSpPr/>
          <p:nvPr/>
        </p:nvSpPr>
        <p:spPr>
          <a:xfrm>
            <a:off x="1691640" y="2724912"/>
            <a:ext cx="9784080" cy="365760"/>
          </a:xfrm>
          <a:prstGeom prst="rect">
            <a:avLst/>
          </a:prstGeom>
          <a:noFill/>
          <a:ln/>
        </p:spPr>
        <p:txBody>
          <a:bodyPr wrap="square" lIns="0" tIns="0" rIns="0" bIns="0" rtlCol="0" anchor="ctr"/>
          <a:lstStyle/>
          <a:p>
            <a:pPr indent="0" marL="0">
              <a:buNone/>
            </a:pPr>
            <a:r>
              <a:rPr lang="en-US" sz="1500" b="1" dirty="0">
                <a:solidFill>
                  <a:srgbClr val="0F4C81"/>
                </a:solidFill>
                <a:latin typeface="Calibri" pitchFamily="34" charset="0"/>
                <a:ea typeface="Calibri" pitchFamily="34" charset="-122"/>
                <a:cs typeface="Calibri" pitchFamily="34" charset="-120"/>
              </a:rPr>
              <a:t>AIContextProvider 가 중심</a:t>
            </a:r>
            <a:endParaRPr lang="en-US" sz="1500" dirty="0"/>
          </a:p>
        </p:txBody>
      </p:sp>
      <p:sp>
        <p:nvSpPr>
          <p:cNvPr id="15" name="Text 13"/>
          <p:cNvSpPr/>
          <p:nvPr/>
        </p:nvSpPr>
        <p:spPr>
          <a:xfrm>
            <a:off x="1691640" y="3044952"/>
            <a:ext cx="9784080" cy="41148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READ → MODEL → WRITE 의 2단계 생명주기. 이 추상화를 손에 익히는 것이 곧 MAF 를 손에 익히는 것입니다.</a:t>
            </a:r>
            <a:endParaRPr lang="en-US" sz="1100" dirty="0"/>
          </a:p>
        </p:txBody>
      </p:sp>
      <p:sp>
        <p:nvSpPr>
          <p:cNvPr id="16" name="Shape 14"/>
          <p:cNvSpPr/>
          <p:nvPr/>
        </p:nvSpPr>
        <p:spPr>
          <a:xfrm>
            <a:off x="548640" y="3575304"/>
            <a:ext cx="11064240" cy="868680"/>
          </a:xfrm>
          <a:prstGeom prst="rect">
            <a:avLst/>
          </a:prstGeom>
          <a:solidFill>
            <a:srgbClr val="F8FAFC"/>
          </a:solidFill>
          <a:ln w="9525">
            <a:solidFill>
              <a:srgbClr val="E2E8F0"/>
            </a:solidFill>
            <a:prstDash val="solid"/>
          </a:ln>
        </p:spPr>
      </p:sp>
      <p:sp>
        <p:nvSpPr>
          <p:cNvPr id="17" name="Text 15"/>
          <p:cNvSpPr/>
          <p:nvPr/>
        </p:nvSpPr>
        <p:spPr>
          <a:xfrm>
            <a:off x="640080" y="3575304"/>
            <a:ext cx="914400" cy="868680"/>
          </a:xfrm>
          <a:prstGeom prst="rect">
            <a:avLst/>
          </a:prstGeom>
          <a:noFill/>
          <a:ln/>
        </p:spPr>
        <p:txBody>
          <a:bodyPr wrap="square" lIns="0" tIns="0" rIns="0" bIns="0" rtlCol="0" anchor="ctr"/>
          <a:lstStyle/>
          <a:p>
            <a:pPr algn="l" indent="0" marL="0">
              <a:buNone/>
            </a:pPr>
            <a:r>
              <a:rPr lang="en-US" sz="3200" b="1" dirty="0">
                <a:solidFill>
                  <a:srgbClr val="F97316"/>
                </a:solidFill>
                <a:latin typeface="Calibri" pitchFamily="34" charset="0"/>
                <a:ea typeface="Calibri" pitchFamily="34" charset="-122"/>
                <a:cs typeface="Calibri" pitchFamily="34" charset="-120"/>
              </a:rPr>
              <a:t>03</a:t>
            </a:r>
            <a:endParaRPr lang="en-US" sz="3200" dirty="0"/>
          </a:p>
        </p:txBody>
      </p:sp>
      <p:sp>
        <p:nvSpPr>
          <p:cNvPr id="18" name="Shape 16"/>
          <p:cNvSpPr/>
          <p:nvPr/>
        </p:nvSpPr>
        <p:spPr>
          <a:xfrm>
            <a:off x="1508760" y="3712464"/>
            <a:ext cx="0" cy="594360"/>
          </a:xfrm>
          <a:prstGeom prst="line">
            <a:avLst/>
          </a:prstGeom>
          <a:noFill/>
          <a:ln w="31750">
            <a:solidFill>
              <a:srgbClr val="F97316"/>
            </a:solidFill>
            <a:prstDash val="solid"/>
          </a:ln>
        </p:spPr>
      </p:sp>
      <p:sp>
        <p:nvSpPr>
          <p:cNvPr id="19" name="Text 17"/>
          <p:cNvSpPr/>
          <p:nvPr/>
        </p:nvSpPr>
        <p:spPr>
          <a:xfrm>
            <a:off x="1691640" y="3666744"/>
            <a:ext cx="9784080" cy="365760"/>
          </a:xfrm>
          <a:prstGeom prst="rect">
            <a:avLst/>
          </a:prstGeom>
          <a:noFill/>
          <a:ln/>
        </p:spPr>
        <p:txBody>
          <a:bodyPr wrap="square" lIns="0" tIns="0" rIns="0" bIns="0" rtlCol="0" anchor="ctr"/>
          <a:lstStyle/>
          <a:p>
            <a:pPr indent="0" marL="0">
              <a:buNone/>
            </a:pPr>
            <a:r>
              <a:rPr lang="en-US" sz="1500" b="1" dirty="0">
                <a:solidFill>
                  <a:srgbClr val="0F4C81"/>
                </a:solidFill>
                <a:latin typeface="Calibri" pitchFamily="34" charset="0"/>
                <a:ea typeface="Calibri" pitchFamily="34" charset="-122"/>
                <a:cs typeface="Calibri" pitchFamily="34" charset="-120"/>
              </a:rPr>
              <a:t>동적 Function Tool</a:t>
            </a:r>
            <a:endParaRPr lang="en-US" sz="1500" dirty="0"/>
          </a:p>
        </p:txBody>
      </p:sp>
      <p:sp>
        <p:nvSpPr>
          <p:cNvPr id="20" name="Text 18"/>
          <p:cNvSpPr/>
          <p:nvPr/>
        </p:nvSpPr>
        <p:spPr>
          <a:xfrm>
            <a:off x="1691640" y="3986784"/>
            <a:ext cx="9784080" cy="41148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사용자 역할·대화 단계·RAG 결과에 따라 매 턴마다 다른 도구 셋을 LLM 에 공급. 토큰 효율과 보안을 동시에 잡는 핵심 패턴.</a:t>
            </a:r>
            <a:endParaRPr lang="en-US" sz="1100" dirty="0"/>
          </a:p>
        </p:txBody>
      </p:sp>
      <p:sp>
        <p:nvSpPr>
          <p:cNvPr id="21" name="Shape 19"/>
          <p:cNvSpPr/>
          <p:nvPr/>
        </p:nvSpPr>
        <p:spPr>
          <a:xfrm>
            <a:off x="548640" y="4517136"/>
            <a:ext cx="11064240" cy="868680"/>
          </a:xfrm>
          <a:prstGeom prst="rect">
            <a:avLst/>
          </a:prstGeom>
          <a:solidFill>
            <a:srgbClr val="F8FAFC"/>
          </a:solidFill>
          <a:ln w="9525">
            <a:solidFill>
              <a:srgbClr val="E2E8F0"/>
            </a:solidFill>
            <a:prstDash val="solid"/>
          </a:ln>
        </p:spPr>
      </p:sp>
      <p:sp>
        <p:nvSpPr>
          <p:cNvPr id="22" name="Text 20"/>
          <p:cNvSpPr/>
          <p:nvPr/>
        </p:nvSpPr>
        <p:spPr>
          <a:xfrm>
            <a:off x="640080" y="4517136"/>
            <a:ext cx="914400" cy="868680"/>
          </a:xfrm>
          <a:prstGeom prst="rect">
            <a:avLst/>
          </a:prstGeom>
          <a:noFill/>
          <a:ln/>
        </p:spPr>
        <p:txBody>
          <a:bodyPr wrap="square" lIns="0" tIns="0" rIns="0" bIns="0" rtlCol="0" anchor="ctr"/>
          <a:lstStyle/>
          <a:p>
            <a:pPr algn="l" indent="0" marL="0">
              <a:buNone/>
            </a:pPr>
            <a:r>
              <a:rPr lang="en-US" sz="3200" b="1" dirty="0">
                <a:solidFill>
                  <a:srgbClr val="0F4C81"/>
                </a:solidFill>
                <a:latin typeface="Calibri" pitchFamily="34" charset="0"/>
                <a:ea typeface="Calibri" pitchFamily="34" charset="-122"/>
                <a:cs typeface="Calibri" pitchFamily="34" charset="-120"/>
              </a:rPr>
              <a:t>04</a:t>
            </a:r>
            <a:endParaRPr lang="en-US" sz="3200" dirty="0"/>
          </a:p>
        </p:txBody>
      </p:sp>
      <p:sp>
        <p:nvSpPr>
          <p:cNvPr id="23" name="Shape 21"/>
          <p:cNvSpPr/>
          <p:nvPr/>
        </p:nvSpPr>
        <p:spPr>
          <a:xfrm>
            <a:off x="1508760" y="4654296"/>
            <a:ext cx="0" cy="594360"/>
          </a:xfrm>
          <a:prstGeom prst="line">
            <a:avLst/>
          </a:prstGeom>
          <a:noFill/>
          <a:ln w="31750">
            <a:solidFill>
              <a:srgbClr val="0F4C81"/>
            </a:solidFill>
            <a:prstDash val="solid"/>
          </a:ln>
        </p:spPr>
      </p:sp>
      <p:sp>
        <p:nvSpPr>
          <p:cNvPr id="24" name="Text 22"/>
          <p:cNvSpPr/>
          <p:nvPr/>
        </p:nvSpPr>
        <p:spPr>
          <a:xfrm>
            <a:off x="1691640" y="4608576"/>
            <a:ext cx="9784080" cy="365760"/>
          </a:xfrm>
          <a:prstGeom prst="rect">
            <a:avLst/>
          </a:prstGeom>
          <a:noFill/>
          <a:ln/>
        </p:spPr>
        <p:txBody>
          <a:bodyPr wrap="square" lIns="0" tIns="0" rIns="0" bIns="0" rtlCol="0" anchor="ctr"/>
          <a:lstStyle/>
          <a:p>
            <a:pPr indent="0" marL="0">
              <a:buNone/>
            </a:pPr>
            <a:r>
              <a:rPr lang="en-US" sz="1500" b="1" dirty="0">
                <a:solidFill>
                  <a:srgbClr val="0F4C81"/>
                </a:solidFill>
                <a:latin typeface="Calibri" pitchFamily="34" charset="0"/>
                <a:ea typeface="Calibri" pitchFamily="34" charset="-122"/>
                <a:cs typeface="Calibri" pitchFamily="34" charset="-120"/>
              </a:rPr>
              <a:t>마크다운 = 새 기능</a:t>
            </a:r>
            <a:endParaRPr lang="en-US" sz="1500" dirty="0"/>
          </a:p>
        </p:txBody>
      </p:sp>
      <p:sp>
        <p:nvSpPr>
          <p:cNvPr id="25" name="Text 23"/>
          <p:cNvSpPr/>
          <p:nvPr/>
        </p:nvSpPr>
        <p:spPr>
          <a:xfrm>
            <a:off x="1691640" y="4928616"/>
            <a:ext cx="9784080" cy="41148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SkillSystem 의 skill.md 한 장으로 새 도구 추가, MemoryAgent 의 .md 파일 한 줄로 영속 메모리. 마크다운이 곧 1급 시민.</a:t>
            </a:r>
            <a:endParaRPr lang="en-US" sz="1100" dirty="0"/>
          </a:p>
        </p:txBody>
      </p:sp>
      <p:sp>
        <p:nvSpPr>
          <p:cNvPr id="26" name="Shape 24"/>
          <p:cNvSpPr/>
          <p:nvPr/>
        </p:nvSpPr>
        <p:spPr>
          <a:xfrm>
            <a:off x="548640" y="5458968"/>
            <a:ext cx="11064240" cy="868680"/>
          </a:xfrm>
          <a:prstGeom prst="rect">
            <a:avLst/>
          </a:prstGeom>
          <a:solidFill>
            <a:srgbClr val="F8FAFC"/>
          </a:solidFill>
          <a:ln w="9525">
            <a:solidFill>
              <a:srgbClr val="E2E8F0"/>
            </a:solidFill>
            <a:prstDash val="solid"/>
          </a:ln>
        </p:spPr>
      </p:sp>
      <p:sp>
        <p:nvSpPr>
          <p:cNvPr id="27" name="Text 25"/>
          <p:cNvSpPr/>
          <p:nvPr/>
        </p:nvSpPr>
        <p:spPr>
          <a:xfrm>
            <a:off x="640080" y="5458968"/>
            <a:ext cx="914400" cy="868680"/>
          </a:xfrm>
          <a:prstGeom prst="rect">
            <a:avLst/>
          </a:prstGeom>
          <a:noFill/>
          <a:ln/>
        </p:spPr>
        <p:txBody>
          <a:bodyPr wrap="square" lIns="0" tIns="0" rIns="0" bIns="0" rtlCol="0" anchor="ctr"/>
          <a:lstStyle/>
          <a:p>
            <a:pPr algn="l" indent="0" marL="0">
              <a:buNone/>
            </a:pPr>
            <a:r>
              <a:rPr lang="en-US" sz="3200" b="1" dirty="0">
                <a:solidFill>
                  <a:srgbClr val="0A3B66"/>
                </a:solidFill>
                <a:latin typeface="Calibri" pitchFamily="34" charset="0"/>
                <a:ea typeface="Calibri" pitchFamily="34" charset="-122"/>
                <a:cs typeface="Calibri" pitchFamily="34" charset="-120"/>
              </a:rPr>
              <a:t>05</a:t>
            </a:r>
            <a:endParaRPr lang="en-US" sz="3200" dirty="0"/>
          </a:p>
        </p:txBody>
      </p:sp>
      <p:sp>
        <p:nvSpPr>
          <p:cNvPr id="28" name="Shape 26"/>
          <p:cNvSpPr/>
          <p:nvPr/>
        </p:nvSpPr>
        <p:spPr>
          <a:xfrm>
            <a:off x="1508760" y="5596128"/>
            <a:ext cx="0" cy="594360"/>
          </a:xfrm>
          <a:prstGeom prst="line">
            <a:avLst/>
          </a:prstGeom>
          <a:noFill/>
          <a:ln w="31750">
            <a:solidFill>
              <a:srgbClr val="0A3B66"/>
            </a:solidFill>
            <a:prstDash val="solid"/>
          </a:ln>
        </p:spPr>
      </p:sp>
      <p:sp>
        <p:nvSpPr>
          <p:cNvPr id="29" name="Text 27"/>
          <p:cNvSpPr/>
          <p:nvPr/>
        </p:nvSpPr>
        <p:spPr>
          <a:xfrm>
            <a:off x="1691640" y="5550408"/>
            <a:ext cx="9784080" cy="365760"/>
          </a:xfrm>
          <a:prstGeom prst="rect">
            <a:avLst/>
          </a:prstGeom>
          <a:noFill/>
          <a:ln/>
        </p:spPr>
        <p:txBody>
          <a:bodyPr wrap="square" lIns="0" tIns="0" rIns="0" bIns="0" rtlCol="0" anchor="ctr"/>
          <a:lstStyle/>
          <a:p>
            <a:pPr indent="0" marL="0">
              <a:buNone/>
            </a:pPr>
            <a:r>
              <a:rPr lang="en-US" sz="1500" b="1" dirty="0">
                <a:solidFill>
                  <a:srgbClr val="0F4C81"/>
                </a:solidFill>
                <a:latin typeface="Calibri" pitchFamily="34" charset="0"/>
                <a:ea typeface="Calibri" pitchFamily="34" charset="-122"/>
                <a:cs typeface="Calibri" pitchFamily="34" charset="-120"/>
              </a:rPr>
              <a:t>프로덕션까지 한 줄로</a:t>
            </a:r>
            <a:endParaRPr lang="en-US" sz="1500" dirty="0"/>
          </a:p>
        </p:txBody>
      </p:sp>
      <p:sp>
        <p:nvSpPr>
          <p:cNvPr id="30" name="Text 28"/>
          <p:cNvSpPr/>
          <p:nvPr/>
        </p:nvSpPr>
        <p:spPr>
          <a:xfrm>
            <a:off x="1691640" y="5870448"/>
            <a:ext cx="9784080" cy="41148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Stage11 Gateway 와 Stage15 Copilot 으로 헬스체크·로그·도커·OpenTelemetry 까지. 학습 결과물을 그대로 운영에 가져갈 수 있습니다.</a:t>
            </a:r>
            <a:endParaRPr lang="en-US" sz="1100" dirty="0"/>
          </a:p>
        </p:txBody>
      </p:sp>
      <p:sp>
        <p:nvSpPr>
          <p:cNvPr id="31" name="Text 29"/>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Microsoft Agent Framework 학습 프로젝트</a:t>
            </a:r>
            <a:endParaRPr lang="en-US" sz="900" dirty="0"/>
          </a:p>
        </p:txBody>
      </p:sp>
      <p:sp>
        <p:nvSpPr>
          <p:cNvPr id="32" name="Text 30"/>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91</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046720" y="0"/>
            <a:ext cx="4114800" cy="6858000"/>
          </a:xfrm>
          <a:prstGeom prst="rect">
            <a:avLst/>
          </a:prstGeom>
          <a:solidFill>
            <a:srgbClr val="0F4C81"/>
          </a:solidFill>
          <a:ln/>
        </p:spPr>
      </p:sp>
      <p:sp>
        <p:nvSpPr>
          <p:cNvPr id="3" name="Shape 1"/>
          <p:cNvSpPr/>
          <p:nvPr/>
        </p:nvSpPr>
        <p:spPr>
          <a:xfrm>
            <a:off x="8046720" y="0"/>
            <a:ext cx="4114800" cy="822960"/>
          </a:xfrm>
          <a:prstGeom prst="rect">
            <a:avLst/>
          </a:prstGeom>
          <a:solidFill>
            <a:srgbClr val="0A3B66"/>
          </a:solidFill>
          <a:ln/>
        </p:spPr>
      </p:sp>
      <p:sp>
        <p:nvSpPr>
          <p:cNvPr id="4" name="Text 2"/>
          <p:cNvSpPr/>
          <p:nvPr/>
        </p:nvSpPr>
        <p:spPr>
          <a:xfrm>
            <a:off x="8046720" y="164592"/>
            <a:ext cx="4114800" cy="502920"/>
          </a:xfrm>
          <a:prstGeom prst="rect">
            <a:avLst/>
          </a:prstGeom>
          <a:noFill/>
          <a:ln/>
        </p:spPr>
        <p:txBody>
          <a:bodyPr wrap="square" lIns="0" tIns="0" rIns="0" bIns="0" rtlCol="0" anchor="ctr"/>
          <a:lstStyle/>
          <a:p>
            <a:pPr algn="ctr" indent="0" marL="0">
              <a:buNone/>
            </a:pPr>
            <a:r>
              <a:rPr lang="en-US" sz="1800" b="1" spc="600" kern="0" dirty="0">
                <a:solidFill>
                  <a:srgbClr val="FFFFFF"/>
                </a:solidFill>
                <a:latin typeface="Calibri" pitchFamily="34" charset="0"/>
                <a:ea typeface="Calibri" pitchFamily="34" charset="-122"/>
                <a:cs typeface="Calibri" pitchFamily="34" charset="-120"/>
              </a:rPr>
              <a:t>THANK YOU</a:t>
            </a:r>
            <a:endParaRPr lang="en-US" sz="1800" dirty="0"/>
          </a:p>
        </p:txBody>
      </p:sp>
      <p:sp>
        <p:nvSpPr>
          <p:cNvPr id="5" name="Text 3"/>
          <p:cNvSpPr/>
          <p:nvPr/>
        </p:nvSpPr>
        <p:spPr>
          <a:xfrm>
            <a:off x="8229600" y="1280160"/>
            <a:ext cx="1371600" cy="1371600"/>
          </a:xfrm>
          <a:prstGeom prst="rect">
            <a:avLst/>
          </a:prstGeom>
          <a:noFill/>
          <a:ln/>
        </p:spPr>
        <p:txBody>
          <a:bodyPr wrap="square" lIns="0" tIns="0" rIns="0" bIns="0" rtlCol="0" anchor="ctr"/>
          <a:lstStyle/>
          <a:p>
            <a:pPr indent="0" marL="0">
              <a:buNone/>
            </a:pPr>
            <a:r>
              <a:rPr lang="en-US" sz="10000" b="1" dirty="0">
                <a:solidFill>
                  <a:srgbClr val="FFFFFF"/>
                </a:solidFill>
                <a:latin typeface="Calibri" pitchFamily="34" charset="0"/>
                <a:ea typeface="Calibri" pitchFamily="34" charset="-122"/>
                <a:cs typeface="Calibri" pitchFamily="34" charset="-120"/>
              </a:rPr>
              <a:t>M</a:t>
            </a:r>
            <a:endParaRPr lang="en-US" sz="10000" dirty="0"/>
          </a:p>
        </p:txBody>
      </p:sp>
      <p:sp>
        <p:nvSpPr>
          <p:cNvPr id="6" name="Text 4"/>
          <p:cNvSpPr/>
          <p:nvPr/>
        </p:nvSpPr>
        <p:spPr>
          <a:xfrm>
            <a:off x="8229600" y="3200400"/>
            <a:ext cx="3657600" cy="13716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궁금한 점이 있다면</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언제든지 물어봐 주세요.</a:t>
            </a:r>
            <a:endParaRPr lang="en-US" sz="1600" dirty="0"/>
          </a:p>
        </p:txBody>
      </p:sp>
      <p:sp>
        <p:nvSpPr>
          <p:cNvPr id="7" name="Text 5"/>
          <p:cNvSpPr/>
          <p:nvPr/>
        </p:nvSpPr>
        <p:spPr>
          <a:xfrm>
            <a:off x="8229600" y="5852160"/>
            <a:ext cx="3657600" cy="365760"/>
          </a:xfrm>
          <a:prstGeom prst="rect">
            <a:avLst/>
          </a:prstGeom>
          <a:noFill/>
          <a:ln/>
        </p:spPr>
        <p:txBody>
          <a:bodyPr wrap="square" lIns="0" tIns="0" rIns="0" bIns="0" rtlCol="0" anchor="ctr"/>
          <a:lstStyle/>
          <a:p>
            <a:pPr indent="0" marL="0">
              <a:buNone/>
            </a:pPr>
            <a:r>
              <a:rPr lang="en-US" sz="1100" dirty="0">
                <a:solidFill>
                  <a:srgbClr val="DDEEFF"/>
                </a:solidFill>
                <a:latin typeface="Consolas" pitchFamily="34" charset="0"/>
                <a:ea typeface="Consolas" pitchFamily="34" charset="-122"/>
                <a:cs typeface="Consolas" pitchFamily="34" charset="-120"/>
              </a:rPr>
              <a:t>📚  edu_microsoft_agent_framework</a:t>
            </a:r>
            <a:endParaRPr lang="en-US" sz="1100" dirty="0"/>
          </a:p>
        </p:txBody>
      </p:sp>
      <p:sp>
        <p:nvSpPr>
          <p:cNvPr id="8" name="Text 6"/>
          <p:cNvSpPr/>
          <p:nvPr/>
        </p:nvSpPr>
        <p:spPr>
          <a:xfrm>
            <a:off x="8229600" y="6217920"/>
            <a:ext cx="3657600" cy="365760"/>
          </a:xfrm>
          <a:prstGeom prst="rect">
            <a:avLst/>
          </a:prstGeom>
          <a:noFill/>
          <a:ln/>
        </p:spPr>
        <p:txBody>
          <a:bodyPr wrap="square" lIns="0" tIns="0" rIns="0" bIns="0" rtlCol="0" anchor="ctr"/>
          <a:lstStyle/>
          <a:p>
            <a:pPr indent="0" marL="0">
              <a:buNone/>
            </a:pPr>
            <a:r>
              <a:rPr lang="en-US" sz="1100" dirty="0">
                <a:solidFill>
                  <a:srgbClr val="DDEEFF"/>
                </a:solidFill>
                <a:latin typeface="Consolas" pitchFamily="34" charset="0"/>
                <a:ea typeface="Consolas" pitchFamily="34" charset="-122"/>
                <a:cs typeface="Consolas" pitchFamily="34" charset="-120"/>
              </a:rPr>
              <a:t>🌐  github.com/microsoft/agent-framework</a:t>
            </a:r>
            <a:endParaRPr lang="en-US" sz="1100" dirty="0"/>
          </a:p>
        </p:txBody>
      </p:sp>
      <p:sp>
        <p:nvSpPr>
          <p:cNvPr id="9" name="Text 7"/>
          <p:cNvSpPr/>
          <p:nvPr/>
        </p:nvSpPr>
        <p:spPr>
          <a:xfrm>
            <a:off x="640080" y="914400"/>
            <a:ext cx="6858000" cy="365760"/>
          </a:xfrm>
          <a:prstGeom prst="rect">
            <a:avLst/>
          </a:prstGeom>
          <a:noFill/>
          <a:ln/>
        </p:spPr>
        <p:txBody>
          <a:bodyPr wrap="square" lIns="0" tIns="0" rIns="0" bIns="0" rtlCol="0" anchor="ctr"/>
          <a:lstStyle/>
          <a:p>
            <a:pPr indent="0" marL="0">
              <a:buNone/>
            </a:pPr>
            <a:r>
              <a:rPr lang="en-US" sz="1200" b="1" spc="600" kern="0" dirty="0">
                <a:solidFill>
                  <a:srgbClr val="F97316"/>
                </a:solidFill>
                <a:latin typeface="Calibri" pitchFamily="34" charset="0"/>
                <a:ea typeface="Calibri" pitchFamily="34" charset="-122"/>
                <a:cs typeface="Calibri" pitchFamily="34" charset="-120"/>
              </a:rPr>
              <a:t>FINALE</a:t>
            </a:r>
            <a:endParaRPr lang="en-US" sz="1200" dirty="0"/>
          </a:p>
        </p:txBody>
      </p:sp>
      <p:sp>
        <p:nvSpPr>
          <p:cNvPr id="10" name="Text 8"/>
          <p:cNvSpPr/>
          <p:nvPr/>
        </p:nvSpPr>
        <p:spPr>
          <a:xfrm>
            <a:off x="640080" y="1371600"/>
            <a:ext cx="7132320" cy="2743200"/>
          </a:xfrm>
          <a:prstGeom prst="rect">
            <a:avLst/>
          </a:prstGeom>
          <a:noFill/>
          <a:ln/>
        </p:spPr>
        <p:txBody>
          <a:bodyPr wrap="square" lIns="0" tIns="0" rIns="0" bIns="0" rtlCol="0" anchor="ctr"/>
          <a:lstStyle/>
          <a:p>
            <a:pPr indent="0" marL="0">
              <a:buNone/>
            </a:pPr>
            <a:r>
              <a:rPr lang="en-US" sz="3600" b="1" dirty="0">
                <a:solidFill>
                  <a:srgbClr val="0F4C81"/>
                </a:solidFill>
                <a:latin typeface="Calibri" pitchFamily="34" charset="0"/>
                <a:ea typeface="Calibri" pitchFamily="34" charset="-122"/>
                <a:cs typeface="Calibri" pitchFamily="34" charset="-120"/>
              </a:rPr>
              <a:t>60 개의 예제는
</a:t>
            </a:r>
            <a:endParaRPr lang="en-US" sz="3600" dirty="0"/>
          </a:p>
          <a:p>
            <a:pPr indent="0" marL="0">
              <a:buNone/>
            </a:pPr>
            <a:r>
              <a:rPr lang="en-US" sz="3600" b="1" dirty="0">
                <a:solidFill>
                  <a:srgbClr val="0F4C81"/>
                </a:solidFill>
                <a:latin typeface="Calibri" pitchFamily="34" charset="0"/>
                <a:ea typeface="Calibri" pitchFamily="34" charset="-122"/>
                <a:cs typeface="Calibri" pitchFamily="34" charset="-120"/>
              </a:rPr>
              <a:t>학습의 시작점일 뿐
</a:t>
            </a:r>
            <a:endParaRPr lang="en-US" sz="3600" dirty="0"/>
          </a:p>
          <a:p>
            <a:pPr indent="0" marL="0">
              <a:buNone/>
            </a:pPr>
            <a:r>
              <a:rPr lang="en-US" sz="3600" b="1" dirty="0">
                <a:solidFill>
                  <a:srgbClr val="F97316"/>
                </a:solidFill>
                <a:latin typeface="Calibri" pitchFamily="34" charset="0"/>
                <a:ea typeface="Calibri" pitchFamily="34" charset="-122"/>
                <a:cs typeface="Calibri" pitchFamily="34" charset="-120"/>
              </a:rPr>
              <a:t>당신의 도전이 그 다음입니다.</a:t>
            </a:r>
            <a:endParaRPr lang="en-US" sz="3600" dirty="0"/>
          </a:p>
        </p:txBody>
      </p:sp>
      <p:sp>
        <p:nvSpPr>
          <p:cNvPr id="11" name="Shape 9"/>
          <p:cNvSpPr/>
          <p:nvPr/>
        </p:nvSpPr>
        <p:spPr>
          <a:xfrm>
            <a:off x="640080" y="4297680"/>
            <a:ext cx="6858000" cy="0"/>
          </a:xfrm>
          <a:prstGeom prst="line">
            <a:avLst/>
          </a:prstGeom>
          <a:noFill/>
          <a:ln w="25400">
            <a:solidFill>
              <a:srgbClr val="F97316"/>
            </a:solidFill>
            <a:prstDash val="solid"/>
          </a:ln>
        </p:spPr>
      </p:sp>
      <p:sp>
        <p:nvSpPr>
          <p:cNvPr id="12" name="Text 10"/>
          <p:cNvSpPr/>
          <p:nvPr/>
        </p:nvSpPr>
        <p:spPr>
          <a:xfrm>
            <a:off x="640080" y="4572000"/>
            <a:ext cx="7132320" cy="13716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이 가이드는 "어디에서 무엇을 배울 수 있는가" 를 안내하는 지도입니다. 실제 학습은 코드를 직접 실행하고 자신의 도메인에 맞춰 변형해 볼 때 시작됩니다. Stage 01 의 가장 작은 콘솔 봇부터 ─ 막막하다면 거기서부터 한 번 시작해 보세요.</a:t>
            </a:r>
            <a:endParaRPr lang="en-US" sz="1300" dirty="0"/>
          </a:p>
        </p:txBody>
      </p:sp>
      <p:sp>
        <p:nvSpPr>
          <p:cNvPr id="13" name="Text 11"/>
          <p:cNvSpPr/>
          <p:nvPr/>
        </p:nvSpPr>
        <p:spPr>
          <a:xfrm>
            <a:off x="640080" y="6263640"/>
            <a:ext cx="68580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최흥배   |   2026-05-07   |   확장판 (Edition 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92</Slides>
  <Notes>92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92</vt:i4>
      </vt:variant>
    </vt:vector>
  </HeadingPairs>
  <TitlesOfParts>
    <vt:vector size="9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Agent Framework 학습 프로젝트 - 확장판</dc:title>
  <dc:subject>PptxGenJS Presentation</dc:subject>
  <dc:creator>최흥배</dc:creator>
  <cp:lastModifiedBy>최흥배</cp:lastModifiedBy>
  <cp:revision>1</cp:revision>
  <dcterms:created xsi:type="dcterms:W3CDTF">2026-05-07T10:51:31Z</dcterms:created>
  <dcterms:modified xsi:type="dcterms:W3CDTF">2026-05-07T10:51:31Z</dcterms:modified>
</cp:coreProperties>
</file>